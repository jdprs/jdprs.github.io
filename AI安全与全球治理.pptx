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7"/>
  </p:handoutMasterIdLst>
  <p:sldIdLst>
    <p:sldId id="256" r:id="rId3"/>
    <p:sldId id="257" r:id="rId5"/>
    <p:sldId id="258" r:id="rId6"/>
    <p:sldId id="259" r:id="rId7"/>
    <p:sldId id="260" r:id="rId8"/>
    <p:sldId id="276" r:id="rId9"/>
    <p:sldId id="261" r:id="rId10"/>
    <p:sldId id="262" r:id="rId11"/>
    <p:sldId id="278" r:id="rId12"/>
    <p:sldId id="277" r:id="rId13"/>
    <p:sldId id="279" r:id="rId14"/>
    <p:sldId id="263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 panose="020B0604020202020204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 panose="020B0604020202020204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 panose="020B0604020202020204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 panose="020B0604020202020204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 panose="020B0604020202020204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 panose="020B0604020202020204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 panose="020B0604020202020204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 panose="020B0604020202020204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4C3C2611-4C71-4FC5-86AE-919BDF0F9419}" styleName="">
    <a:wholeTbl>
      <a:tcTxStyle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Style>
        <a:tcBdr/>
        <a:fill>
          <a:solidFill>
            <a:srgbClr val="E8EBF5"/>
          </a:solidFill>
        </a:fill>
      </a:tcStyle>
    </a:band2H>
    <a:firstCol>
      <a:tcTxStyle b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handoutMaster" Target="handoutMasters/handoutMaster1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ea typeface="宋体" panose="02010600030101010101" pitchFamily="2" charset="-122"/>
              </a:rPr>
            </a:fld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ea typeface="宋体" panose="02010600030101010101" pitchFamily="2" charset="-122"/>
              </a:rPr>
            </a:fld>
            <a:endParaRPr lang="zh-CN" altLang="en-US"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Shape 254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255" name="Shape 255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Arial" panose="020B0604020202020204"/>
      </a:defRPr>
    </a:lvl1pPr>
    <a:lvl2pPr indent="228600" latinLnBrk="0">
      <a:defRPr sz="1200">
        <a:latin typeface="+mn-lt"/>
        <a:ea typeface="+mn-ea"/>
        <a:cs typeface="+mn-cs"/>
        <a:sym typeface="Arial" panose="020B0604020202020204"/>
      </a:defRPr>
    </a:lvl2pPr>
    <a:lvl3pPr indent="457200" latinLnBrk="0">
      <a:defRPr sz="1200">
        <a:latin typeface="+mn-lt"/>
        <a:ea typeface="+mn-ea"/>
        <a:cs typeface="+mn-cs"/>
        <a:sym typeface="Arial" panose="020B0604020202020204"/>
      </a:defRPr>
    </a:lvl3pPr>
    <a:lvl4pPr indent="685800" latinLnBrk="0">
      <a:defRPr sz="1200">
        <a:latin typeface="+mn-lt"/>
        <a:ea typeface="+mn-ea"/>
        <a:cs typeface="+mn-cs"/>
        <a:sym typeface="Arial" panose="020B0604020202020204"/>
      </a:defRPr>
    </a:lvl4pPr>
    <a:lvl5pPr indent="914400" latinLnBrk="0">
      <a:defRPr sz="1200">
        <a:latin typeface="+mn-lt"/>
        <a:ea typeface="+mn-ea"/>
        <a:cs typeface="+mn-cs"/>
        <a:sym typeface="Arial" panose="020B0604020202020204"/>
      </a:defRPr>
    </a:lvl5pPr>
    <a:lvl6pPr indent="1143000" latinLnBrk="0">
      <a:defRPr sz="1200">
        <a:latin typeface="+mn-lt"/>
        <a:ea typeface="+mn-ea"/>
        <a:cs typeface="+mn-cs"/>
        <a:sym typeface="Arial" panose="020B0604020202020204"/>
      </a:defRPr>
    </a:lvl6pPr>
    <a:lvl7pPr indent="1371600" latinLnBrk="0">
      <a:defRPr sz="1200">
        <a:latin typeface="+mn-lt"/>
        <a:ea typeface="+mn-ea"/>
        <a:cs typeface="+mn-cs"/>
        <a:sym typeface="Arial" panose="020B0604020202020204"/>
      </a:defRPr>
    </a:lvl7pPr>
    <a:lvl8pPr indent="1600200" latinLnBrk="0">
      <a:defRPr sz="1200">
        <a:latin typeface="+mn-lt"/>
        <a:ea typeface="+mn-ea"/>
        <a:cs typeface="+mn-cs"/>
        <a:sym typeface="Arial" panose="020B0604020202020204"/>
      </a:defRPr>
    </a:lvl8pPr>
    <a:lvl9pPr indent="1828800" latinLnBrk="0">
      <a:defRPr sz="1200">
        <a:latin typeface="+mn-lt"/>
        <a:ea typeface="+mn-ea"/>
        <a:cs typeface="+mn-cs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Shape 26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262" name="Shape 26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400">
                <a:latin typeface="Songti SC Regular"/>
                <a:ea typeface="Songti SC Regular"/>
                <a:cs typeface="Songti SC Regular"/>
                <a:sym typeface="Songti SC Regular"/>
              </a:defRPr>
            </a:pPr>
            <a:r>
              <a:t>大家好，今天我分享的时政主题是"AI安全与全球治理"。</a:t>
            </a:r>
          </a:p>
          <a:p>
            <a:pPr>
              <a:defRPr sz="1400"/>
            </a:pPr>
            <a:r>
              <a:t>2026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年</a:t>
            </a:r>
            <a:r>
              <a:t>9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月</a:t>
            </a:r>
            <a:r>
              <a:t>23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日，联合国安理会专门召开高级别会议，讨论人工智能对国际安全的影响。这是继</a:t>
            </a:r>
            <a:r>
              <a:t>2023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年之后，安理会第二次把</a:t>
            </a:r>
            <a:r>
              <a:t>AI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列为正式议程。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>
              <a:defRPr sz="1400">
                <a:latin typeface="Songti SC Regular"/>
                <a:ea typeface="Songti SC Regular"/>
                <a:cs typeface="Songti SC Regular"/>
                <a:sym typeface="Songti SC Regular"/>
              </a:defRPr>
            </a:pPr>
            <a:r>
              <a:t>和三年前不同的是，这次会议是在几起真实的AI"失控"事件发生之后召开的。AI安全到底出了什么事？各国又给出了怎样的答案？今天我们一起梳理。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Shape 29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295" name="Shape 29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400">
                <a:latin typeface="Songti SC Regular"/>
                <a:ea typeface="Songti SC Regular"/>
                <a:cs typeface="Songti SC Regular"/>
                <a:sym typeface="Songti SC Regular"/>
              </a:defRPr>
            </a:pPr>
            <a:r>
              <a:t>大家好，今天我分享的时政主题是"AI安全与全球治理"。</a:t>
            </a:r>
          </a:p>
          <a:p>
            <a:pPr>
              <a:defRPr sz="1400"/>
            </a:pPr>
            <a:r>
              <a:t>2026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年</a:t>
            </a:r>
            <a:r>
              <a:t>9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月</a:t>
            </a:r>
            <a:r>
              <a:t>23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日，联合国安理会专门召开高级别会议，讨论人工智能对国际安全的影响。这是继</a:t>
            </a:r>
            <a:r>
              <a:t>2023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年之后，安理会第二次把</a:t>
            </a:r>
            <a:r>
              <a:t>AI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列为正式议程。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>
              <a:defRPr sz="1400">
                <a:latin typeface="Songti SC Regular"/>
                <a:ea typeface="Songti SC Regular"/>
                <a:cs typeface="Songti SC Regular"/>
                <a:sym typeface="Songti SC Regular"/>
              </a:defRPr>
            </a:pPr>
            <a:r>
              <a:t>和三年前不同的是，这次会议是在几起真实的AI"失控"事件发生之后召开的。AI安全到底出了什么事？各国又给出了怎样的答案？今天我们一起梳理。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Shape 32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22" name="Shape 32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400">
                <a:latin typeface="Songti SC Regular"/>
                <a:ea typeface="Songti SC Regular"/>
                <a:cs typeface="Songti SC Regular"/>
                <a:sym typeface="Songti SC Regular"/>
              </a:defRPr>
            </a:pPr>
            <a:r>
              <a:t>今天的分享分五个部分。</a:t>
            </a:r>
          </a:p>
          <a:p>
            <a:pPr>
              <a:defRPr sz="1400">
                <a:latin typeface="Songti SC Regular"/>
                <a:ea typeface="Songti SC Regular"/>
                <a:cs typeface="Songti SC Regular"/>
                <a:sym typeface="Songti SC Regular"/>
              </a:defRPr>
            </a:pPr>
            <a:r>
              <a:t>先了解这次安理会会议的基本情况，再看三起真实发生的AI"失控"事件。</a:t>
            </a:r>
          </a:p>
          <a:p>
            <a:pPr>
              <a:defRPr sz="1400">
                <a:latin typeface="Songti SC Regular"/>
                <a:ea typeface="Songti SC Regular"/>
                <a:cs typeface="Songti SC Regular"/>
                <a:sym typeface="Songti SC Regular"/>
              </a:defRPr>
            </a:pPr>
            <a:r>
              <a:t>然后梳理联合国、美国、中国和欧盟的立场，以及核心分歧。最后看中国国内的AI治理举措。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Shape 34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47" name="Shape 34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400">
                <a:latin typeface="Songti SC Regular"/>
                <a:ea typeface="Songti SC Regular"/>
                <a:cs typeface="Songti SC Regular"/>
                <a:sym typeface="Songti SC Regular"/>
              </a:defRPr>
            </a:pPr>
            <a:r>
              <a:t>我们先抛出一个问题：如果AI自己跑出了实验室，去入侵别的系统，谁来管？</a:t>
            </a:r>
          </a:p>
          <a:p>
            <a:pPr>
              <a:defRPr sz="1400">
                <a:latin typeface="Songti SC Regular"/>
                <a:ea typeface="Songti SC Regular"/>
                <a:cs typeface="Songti SC Regular"/>
                <a:sym typeface="Songti SC Regular"/>
              </a:defRPr>
            </a:pPr>
            <a:r>
              <a:t>联合国安理会是维护国际和平与安全最核心的机构，过去讨论的都是战争、核扩散这类问题。</a:t>
            </a:r>
          </a:p>
          <a:p>
            <a:pPr>
              <a:defRPr sz="1400">
                <a:latin typeface="Songti SC Regular"/>
                <a:ea typeface="Songti SC Regular"/>
                <a:cs typeface="Songti SC Regular"/>
                <a:sym typeface="Songti SC Regular"/>
              </a:defRPr>
            </a:pPr>
            <a:r>
              <a:t>现在AI也被放到了这个位置上。这背后到底发生了什么？我们带着这个问题往下看。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Shape 36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69" name="Shape 36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400">
                <a:latin typeface="Songti SC Regular"/>
                <a:ea typeface="Songti SC Regular"/>
                <a:cs typeface="Songti SC Regular"/>
                <a:sym typeface="Songti SC Regular"/>
              </a:defRPr>
            </a:pPr>
            <a:r>
              <a:t>这次会议9月23日在纽约联合国总部召开，由当月轮值主席国法国召集，主题就是"人工智能与国际安全"。</a:t>
            </a:r>
          </a:p>
          <a:p>
            <a:pPr>
              <a:defRPr sz="1400">
                <a:latin typeface="Songti SC Regular"/>
                <a:ea typeface="Songti SC Regular"/>
                <a:cs typeface="Songti SC Regular"/>
                <a:sym typeface="Songti SC Regular"/>
              </a:defRPr>
            </a:pPr>
            <a:r>
              <a:t>发言嘉宾阵容很特殊——不只是各国政府，还有图灵奖得主和OpenAI、Anthropic、Hugging Face三家顶级AI公司的CEO。</a:t>
            </a:r>
          </a:p>
          <a:p>
            <a:pPr>
              <a:defRPr sz="1400">
                <a:latin typeface="Songti SC Regular"/>
                <a:ea typeface="Songti SC Regular"/>
                <a:cs typeface="Songti SC Regular"/>
                <a:sym typeface="Songti SC Regular"/>
              </a:defRPr>
            </a:pPr>
            <a:r>
              <a:t>和2023年第一次讨论不同，那时候大家还在担心"会不会出事"，而这次是在几起真实事件已经发生之后，讨论的是"出事了怎么办"。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Shape 34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47" name="Shape 34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400">
                <a:latin typeface="Songti SC Regular"/>
                <a:ea typeface="Songti SC Regular"/>
                <a:cs typeface="Songti SC Regular"/>
                <a:sym typeface="Songti SC Regular"/>
              </a:defRPr>
            </a:pPr>
            <a:r>
              <a:t>我们先抛出一个问题：如果AI自己跑出了实验室，去入侵别的系统，谁来管？</a:t>
            </a:r>
          </a:p>
          <a:p>
            <a:pPr>
              <a:defRPr sz="1400">
                <a:latin typeface="Songti SC Regular"/>
                <a:ea typeface="Songti SC Regular"/>
                <a:cs typeface="Songti SC Regular"/>
                <a:sym typeface="Songti SC Regular"/>
              </a:defRPr>
            </a:pPr>
            <a:r>
              <a:t>联合国安理会是维护国际和平与安全最核心的机构，过去讨论的都是战争、核扩散这类问题。</a:t>
            </a:r>
          </a:p>
          <a:p>
            <a:pPr>
              <a:defRPr sz="1400">
                <a:latin typeface="Songti SC Regular"/>
                <a:ea typeface="Songti SC Regular"/>
                <a:cs typeface="Songti SC Regular"/>
                <a:sym typeface="Songti SC Regular"/>
              </a:defRPr>
            </a:pPr>
            <a:r>
              <a:t>现在AI也被放到了这个位置上。这背后到底发生了什么？我们带着这个问题往下看。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Shape 37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78" name="Shape 37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400">
                <a:latin typeface="Songti SC Regular"/>
                <a:ea typeface="Songti SC Regular"/>
                <a:cs typeface="Songti SC Regular"/>
                <a:sym typeface="Songti SC Regular"/>
              </a:defRPr>
            </a:pPr>
            <a:r>
              <a:t>为什么这次会议如此受重视？直接原因是2026年三起标志性的AI"失控"事件集中爆发。</a:t>
            </a:r>
          </a:p>
          <a:p>
            <a:pPr>
              <a:defRPr sz="1400"/>
            </a:pPr>
            <a:r>
              <a:t>AI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不再只是科幻电影里的设想，它已经能突破安全隔离、自主入侵真实的计算机系统，对全球网络安全构成了实实在在的挑战。</a:t>
            </a:r>
            <a:endParaRPr>
              <a:latin typeface="+mj-lt"/>
              <a:ea typeface="+mj-ea"/>
              <a:cs typeface="+mj-cs"/>
              <a:sym typeface="Helvetica"/>
            </a:endParaRPr>
          </a:p>
          <a:p>
            <a:pPr>
              <a:defRPr sz="1400">
                <a:latin typeface="Songti SC Regular"/>
                <a:ea typeface="Songti SC Regular"/>
                <a:cs typeface="Songti SC Regular"/>
                <a:sym typeface="Songti SC Regular"/>
              </a:defRPr>
            </a:pPr>
            <a:r>
              <a:t>下面我们逐个看这三起事件。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Shape 39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00" name="Shape 40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400"/>
            </a:pPr>
            <a:r>
              <a:t>2026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年，三家全球最顶尖的</a:t>
            </a:r>
            <a:r>
              <a:t>AI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公司接连出事。</a:t>
            </a:r>
            <a:r>
              <a:t>OpenAI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的模型在测试中自主突破了沙盒隔离，入侵了</a:t>
            </a:r>
            <a:r>
              <a:t>Hugging Face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的生产系统，这是史上第一起</a:t>
            </a:r>
            <a:r>
              <a:t>AI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自主入侵事件。</a:t>
            </a:r>
            <a:r>
              <a:t>Anthropic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的</a:t>
            </a:r>
            <a:r>
              <a:t>Claude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至少有三起越界访问真实系统的记录，还把恶意程序发到了公共平台。</a:t>
            </a:r>
            <a:r>
              <a:t>Google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的</a:t>
            </a:r>
            <a:r>
              <a:t>Gemini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也因为配置错误接入互联网，自主侵入了三家真实公司的受保护系统。这三起事件集中爆发，说明</a:t>
            </a:r>
            <a:r>
              <a:t>AI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安全风险已经从科幻走进了现实。</a:t>
            </a:r>
            <a:endParaRPr>
              <a:latin typeface="+mj-lt"/>
              <a:ea typeface="+mj-ea"/>
              <a:cs typeface="+mj-cs"/>
              <a:sym typeface="Helvetica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Shape 39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00" name="Shape 40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400"/>
            </a:pPr>
            <a:r>
              <a:t>2026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年，三家全球最顶尖的</a:t>
            </a:r>
            <a:r>
              <a:t>AI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公司接连出事。</a:t>
            </a:r>
            <a:r>
              <a:t>OpenAI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的模型在测试中自主突破了沙盒隔离，入侵了</a:t>
            </a:r>
            <a:r>
              <a:t>Hugging Face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的生产系统，这是史上第一起</a:t>
            </a:r>
            <a:r>
              <a:t>AI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自主入侵事件。</a:t>
            </a:r>
            <a:r>
              <a:t>Anthropic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的</a:t>
            </a:r>
            <a:r>
              <a:t>Claude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至少有三起越界访问真实系统的记录，还把恶意程序发到了公共平台。</a:t>
            </a:r>
            <a:r>
              <a:t>Google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的</a:t>
            </a:r>
            <a:r>
              <a:t>Gemini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也因为配置错误接入互联网，自主侵入了三家真实公司的受保护系统。这三起事件集中爆发，说明</a:t>
            </a:r>
            <a:r>
              <a:t>AI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安全风险已经从科幻走进了现实。</a:t>
            </a:r>
            <a:endParaRPr>
              <a:latin typeface="+mj-lt"/>
              <a:ea typeface="+mj-ea"/>
              <a:cs typeface="+mj-cs"/>
              <a:sym typeface="Helvetica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Shape 39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00" name="Shape 40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400"/>
            </a:pPr>
            <a:r>
              <a:t>2026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年，三家全球最顶尖的</a:t>
            </a:r>
            <a:r>
              <a:t>AI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公司接连出事。</a:t>
            </a:r>
            <a:r>
              <a:t>OpenAI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的模型在测试中自主突破了沙盒隔离，入侵了</a:t>
            </a:r>
            <a:r>
              <a:t>Hugging Face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的生产系统，这是史上第一起</a:t>
            </a:r>
            <a:r>
              <a:t>AI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自主入侵事件。</a:t>
            </a:r>
            <a:r>
              <a:t>Anthropic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的</a:t>
            </a:r>
            <a:r>
              <a:t>Claude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至少有三起越界访问真实系统的记录，还把恶意程序发到了公共平台。</a:t>
            </a:r>
            <a:r>
              <a:t>Google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的</a:t>
            </a:r>
            <a:r>
              <a:t>Gemini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也因为配置错误接入互联网，自主侵入了三家真实公司的受保护系统。这三起事件集中爆发，说明</a:t>
            </a:r>
            <a:r>
              <a:t>AI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安全风险已经从科幻走进了现实。</a:t>
            </a:r>
            <a:endParaRPr>
              <a:latin typeface="+mj-lt"/>
              <a:ea typeface="+mj-ea"/>
              <a:cs typeface="+mj-cs"/>
              <a:sym typeface="Helvetica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Shape 39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00" name="Shape 40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400"/>
            </a:pPr>
            <a:r>
              <a:t>2026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年，三家全球最顶尖的</a:t>
            </a:r>
            <a:r>
              <a:t>AI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公司接连出事。</a:t>
            </a:r>
            <a:r>
              <a:t>OpenAI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的模型在测试中自主突破了沙盒隔离，入侵了</a:t>
            </a:r>
            <a:r>
              <a:t>Hugging Face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的生产系统，这是史上第一起</a:t>
            </a:r>
            <a:r>
              <a:t>AI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自主入侵事件。</a:t>
            </a:r>
            <a:r>
              <a:t>Anthropic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的</a:t>
            </a:r>
            <a:r>
              <a:t>Claude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至少有三起越界访问真实系统的记录，还把恶意程序发到了公共平台。</a:t>
            </a:r>
            <a:r>
              <a:t>Google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的</a:t>
            </a:r>
            <a:r>
              <a:t>Gemini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也因为配置错误接入互联网，自主侵入了三家真实公司的受保护系统。这三起事件集中爆发，说明</a:t>
            </a:r>
            <a:r>
              <a:t>AI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安全风险已经从科幻走进了现实。</a:t>
            </a:r>
            <a:endParaRPr>
              <a:latin typeface="+mj-lt"/>
              <a:ea typeface="+mj-ea"/>
              <a:cs typeface="+mj-cs"/>
              <a:sym typeface="Helvetica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Shape 41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20" name="Shape 42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400">
                <a:latin typeface="Songti SC Regular"/>
                <a:ea typeface="Songti SC Regular"/>
                <a:cs typeface="Songti SC Regular"/>
                <a:sym typeface="Songti SC Regular"/>
              </a:defRPr>
            </a:pPr>
            <a:r>
              <a:t>最严重的是第一起。研究人员为了测试模型的真实攻击能力，特意关掉安全护栏，把它放在一个隔离的"沙盒"里。</a:t>
            </a:r>
          </a:p>
          <a:p>
            <a:pPr>
              <a:defRPr sz="1400">
                <a:latin typeface="Songti SC Regular"/>
                <a:ea typeface="Songti SC Regular"/>
                <a:cs typeface="Songti SC Regular"/>
                <a:sym typeface="Songti SC Regular"/>
              </a:defRPr>
            </a:pPr>
            <a:r>
              <a:t>结果模型自己找到一个此前没人发现的"零日漏洞"，突破隔离连上互联网，然后提权、横向移动，直接攻破了Hugging Face的生产服务器。全程没人干预，一个周末执行了超过17000次自动化操作。</a:t>
            </a:r>
          </a:p>
          <a:p>
            <a:pPr>
              <a:defRPr sz="1400">
                <a:latin typeface="Songti SC Regular"/>
                <a:ea typeface="Songti SC Regular"/>
                <a:cs typeface="Songti SC Regular"/>
                <a:sym typeface="Songti SC Regular"/>
              </a:defRPr>
            </a:pPr>
            <a:r>
              <a:t>更有意思的是，事后工程师用商业AI分析攻击，反被安全过滤器拒绝，最后靠中国开源模型GLM-5.2才完成取证。奥尔特曼说这是他第一次直接感受到AI安全风险。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Shape 43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40" name="Shape 44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400">
                <a:latin typeface="Songti SC Regular"/>
                <a:ea typeface="Songti SC Regular"/>
                <a:cs typeface="Songti SC Regular"/>
                <a:sym typeface="Songti SC Regular"/>
              </a:defRPr>
            </a:pPr>
            <a:r>
              <a:t>了解了发生了什么事，我们再来看看各国怎么看。</a:t>
            </a:r>
          </a:p>
          <a:p>
            <a:pPr>
              <a:defRPr sz="1400">
                <a:latin typeface="Songti SC Regular"/>
                <a:ea typeface="Songti SC Regular"/>
                <a:cs typeface="Songti SC Regular"/>
                <a:sym typeface="Songti SC Regular"/>
              </a:defRPr>
            </a:pPr>
            <a:r>
              <a:t>同样坐在安理会的会议厅里，联合国、美国、中国、欧盟给出的答案却截然不同。</a:t>
            </a:r>
          </a:p>
          <a:p>
            <a:pPr>
              <a:defRPr sz="1400">
                <a:latin typeface="Songti SC Regular"/>
                <a:ea typeface="Songti SC Regular"/>
                <a:cs typeface="Songti SC Regular"/>
                <a:sym typeface="Songti SC Regular"/>
              </a:defRPr>
            </a:pPr>
            <a:r>
              <a:t>这种分歧本身，就是理解全球AI治理的关键。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Shape 45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56" name="Shape 45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4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在这次会议上，联合国的态度非常明确。秘书长古特雷斯呼吁建立多边的</a:t>
            </a:r>
            <a:r>
              <a:t>AI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风险管理框架，要求技术领先国家分享安全风险信息、在测试评估上合作。图灵奖得主本乔的警告更加直接</a:t>
            </a:r>
            <a:r>
              <a:t>——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他说部分领先公司的</a:t>
            </a:r>
            <a:r>
              <a:t>AI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已经表现出违背指令、试图逃避检测的危险行为，而这种风险是全球性的，没有任何一个国家能够单独遏制。</a:t>
            </a:r>
            <a:endParaRPr>
              <a:latin typeface="+mj-lt"/>
              <a:ea typeface="+mj-ea"/>
              <a:cs typeface="+mj-cs"/>
              <a:sym typeface="Helvetica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Shape 47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72" name="Shape 47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4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美国的态度很有意思，出现了政府和企业的</a:t>
            </a:r>
            <a:r>
              <a:t>"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分裂</a:t>
            </a:r>
            <a:r>
              <a:t>"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。美国政府拒绝任何国际管控，坚持技术领先不能暂停，还想用</a:t>
            </a:r>
            <a:r>
              <a:t>"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自愿审查</a:t>
            </a:r>
            <a:r>
              <a:t>"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代替强制监管。但耐人寻味的是，</a:t>
            </a:r>
            <a:r>
              <a:t>OpenAI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和</a:t>
            </a:r>
            <a:r>
              <a:t>Anthropic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这些美国科技企业反而在会上呼吁国际协作，提出要建立</a:t>
            </a:r>
            <a:r>
              <a:t>AI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安全事件的全球通报制度。经历了真实的失控事件之后，企业其实比政府更迫切需要规则和安全底线。</a:t>
            </a:r>
            <a:endParaRPr>
              <a:latin typeface="+mj-lt"/>
              <a:ea typeface="+mj-ea"/>
              <a:cs typeface="+mj-cs"/>
              <a:sym typeface="Helvetica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Shape 48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88" name="Shape 48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4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中国的立场是本次会议的重点。中国常驻联合国代表傅聪提出了两点核心主张。第一，尊重数字主权</a:t>
            </a:r>
            <a:r>
              <a:t>——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各国有权自主选择</a:t>
            </a:r>
            <a:r>
              <a:t>AI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技术和产品，反对拼凑排他性小圈子、强迫选边站队，这实质是将科技问题政治化。第二，确保安全可控</a:t>
            </a:r>
            <a:r>
              <a:t>——AI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研发要符合联合国宪章，坚决打击恐怖组织滥用</a:t>
            </a:r>
            <a:r>
              <a:t>AI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，军事领域应用要确保人类始终掌握最终决策权。中国的立场核心就是坚持多边主义，反对霸权霸凌。</a:t>
            </a:r>
            <a:endParaRPr>
              <a:latin typeface="+mj-lt"/>
              <a:ea typeface="+mj-ea"/>
              <a:cs typeface="+mj-cs"/>
              <a:sym typeface="Helvetica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Shape 50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07" name="Shape 50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4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中国不仅有立场，更有务实行动。中国提出</a:t>
            </a:r>
            <a:r>
              <a:t>"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人工智能是全人类的共同财富，不应沦为富国和富人的游戏</a:t>
            </a:r>
            <a:r>
              <a:t>"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。具体行动包括：提出《全球人工智能治理倡议》，推动联大通过</a:t>
            </a:r>
            <a:r>
              <a:t>AI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能力建设合作决议。未来</a:t>
            </a:r>
            <a:r>
              <a:t>5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年，中国将向发展中国家提供</a:t>
            </a:r>
            <a:r>
              <a:t>5000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个人工智能专题研修培训名额。更重要的是，世界人工智能合作组织在上海成立，这是全球首个</a:t>
            </a:r>
            <a:r>
              <a:t>AI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政府间国际组织，</a:t>
            </a:r>
            <a:r>
              <a:t>29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个国家现场签署协定。</a:t>
            </a:r>
            <a:endParaRPr>
              <a:latin typeface="+mj-lt"/>
              <a:ea typeface="+mj-ea"/>
              <a:cs typeface="+mj-cs"/>
              <a:sym typeface="Helvetica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Shape 51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20" name="Shape 52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4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除了中美，欧盟和其他国家的态度同样关键。法国作为轮值主席国主持了这次会议。欧盟的《人工智能法案》在今年</a:t>
            </a:r>
            <a:r>
              <a:t>8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月已经全面执行，是全球第一部综合性的</a:t>
            </a:r>
            <a:r>
              <a:t>AI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法律。英国和俄罗斯虽然立场不同，但都强调政府监管的重要性。可以看到，除了美国政府之外，大多数国家都倾向于建立多边治理机制。</a:t>
            </a:r>
            <a:endParaRPr>
              <a:latin typeface="+mj-lt"/>
              <a:ea typeface="+mj-ea"/>
              <a:cs typeface="+mj-cs"/>
              <a:sym typeface="Helvetica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Shape 52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28" name="Shape 52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400">
                <a:latin typeface="Songti SC Regular"/>
                <a:ea typeface="Songti SC Regular"/>
                <a:cs typeface="Songti SC Regular"/>
                <a:sym typeface="Songti SC Regular"/>
              </a:defRPr>
            </a:pPr>
            <a:r>
              <a:t>各方立场的背后，其实藏着一个更深层的问题。</a:t>
            </a:r>
          </a:p>
          <a:p>
            <a:pPr>
              <a:defRPr sz="1400">
                <a:latin typeface="Songti SC Regular"/>
                <a:ea typeface="Songti SC Regular"/>
                <a:cs typeface="Songti SC Regular"/>
                <a:sym typeface="Songti SC Regular"/>
              </a:defRPr>
            </a:pPr>
            <a:r>
              <a:t>AI的全球规则，到底应该由谁说了算？</a:t>
            </a:r>
          </a:p>
          <a:p>
            <a:pPr>
              <a:defRPr sz="1400">
                <a:latin typeface="Songti SC Regular"/>
                <a:ea typeface="Songti SC Regular"/>
                <a:cs typeface="Songti SC Regular"/>
                <a:sym typeface="Songti SC Regular"/>
              </a:defRPr>
            </a:pPr>
            <a:r>
              <a:t>是由少数技术领先的国家来定，还是由世界各国平等协商？这就是核心分歧所在。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Shape 54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50" name="Shape 55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4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各方立场的背后，是全球</a:t>
            </a:r>
            <a:r>
              <a:t>AI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治理规则制定权的争夺。美国想要由自己主导，用</a:t>
            </a:r>
            <a:r>
              <a:t>"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自愿审查</a:t>
            </a:r>
            <a:r>
              <a:t>"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代替强制监管，还在打造排他性的技术小圈子。中国主张多边共治，反对技术霸权，支持联合国发挥核心作用。欧盟和中小国家则希望在联合国框架下建立统一的监管规则。三方博弈的核心，就是</a:t>
            </a:r>
            <a:r>
              <a:t>AI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规则到底由谁说了算。</a:t>
            </a:r>
            <a:endParaRPr>
              <a:latin typeface="+mj-lt"/>
              <a:ea typeface="+mj-ea"/>
              <a:cs typeface="+mj-cs"/>
              <a:sym typeface="Helvetica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Shape 55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58" name="Shape 55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400">
                <a:latin typeface="Songti SC Regular"/>
                <a:ea typeface="Songti SC Regular"/>
                <a:cs typeface="Songti SC Regular"/>
                <a:sym typeface="Songti SC Regular"/>
              </a:defRPr>
            </a:pPr>
            <a:r>
              <a:t>看完了国际层面的博弈，我们把目光收回国内。</a:t>
            </a:r>
          </a:p>
          <a:p>
            <a:pPr>
              <a:defRPr sz="1400">
                <a:latin typeface="Songti SC Regular"/>
                <a:ea typeface="Songti SC Regular"/>
                <a:cs typeface="Songti SC Regular"/>
                <a:sym typeface="Songti SC Regular"/>
              </a:defRPr>
            </a:pPr>
            <a:r>
              <a:t>中国不仅在国际上积极发声，国内也在加快为AI"立规矩"。</a:t>
            </a:r>
          </a:p>
          <a:p>
            <a:pPr>
              <a:defRPr sz="1400">
                <a:latin typeface="Songti SC Regular"/>
                <a:ea typeface="Songti SC Regular"/>
                <a:cs typeface="Songti SC Regular"/>
                <a:sym typeface="Songti SC Regular"/>
              </a:defRPr>
            </a:pPr>
            <a:r>
              <a:t>从顶层框架到具体标准，从标识管理到执法打击，一套全链条的治理体系正在形成。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Shape 57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72" name="Shape 57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400"/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在国际上积极发声的同时，中国国内也在加快建立</a:t>
            </a:r>
            <a:r>
              <a:t>AI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治理的</a:t>
            </a:r>
            <a:r>
              <a:t>"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规矩</a:t>
            </a:r>
            <a:r>
              <a:t>"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。今年</a:t>
            </a:r>
            <a:r>
              <a:t>9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月刚刚发布了《人工智能安全治理框架</a:t>
            </a:r>
            <a:r>
              <a:t>3.0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》，</a:t>
            </a:r>
            <a:r>
              <a:t>6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月实施了大模型分级技术标准。</a:t>
            </a:r>
            <a:r>
              <a:t>AI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生成内容标识办法已经在全平台强制落地，你在短视频平台看到的</a:t>
            </a:r>
            <a:r>
              <a:t>AI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生成内容都会有标注。公安部门也在严厉打击利用</a:t>
            </a:r>
            <a:r>
              <a:t>AI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进行的诈骗和造谣活动，已经破案</a:t>
            </a:r>
            <a:r>
              <a:t>79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起，单案涉案金额最高达</a:t>
            </a:r>
            <a:r>
              <a:t>1300</a:t>
            </a:r>
            <a:r>
              <a:rPr>
                <a:latin typeface="+mj-lt"/>
                <a:ea typeface="+mj-ea"/>
                <a:cs typeface="+mj-cs"/>
                <a:sym typeface="Helvetica"/>
              </a:rPr>
              <a:t>多万元。</a:t>
            </a:r>
            <a:endParaRPr>
              <a:latin typeface="+mj-lt"/>
              <a:ea typeface="+mj-ea"/>
              <a:cs typeface="+mj-cs"/>
              <a:sym typeface="Helvetica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Shape 58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84" name="Shape 58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1400">
                <a:latin typeface="Songti SC Regular"/>
                <a:ea typeface="Songti SC Regular"/>
                <a:cs typeface="Songti SC Regular"/>
                <a:sym typeface="Songti SC Regular"/>
              </a:defRPr>
            </a:pPr>
            <a:r>
              <a:t>最后总结三句话。</a:t>
            </a:r>
          </a:p>
          <a:p>
            <a:pPr>
              <a:defRPr sz="1400">
                <a:latin typeface="Songti SC Regular"/>
                <a:ea typeface="Songti SC Regular"/>
                <a:cs typeface="Songti SC Regular"/>
                <a:sym typeface="Songti SC Regular"/>
              </a:defRPr>
            </a:pPr>
            <a:r>
              <a:t>第一，AI安全已经从科幻变成真实的全球安全议题，失控事件正倒逼全球治理。第二，全球AI治理存在多方博弈，规则制定权是核心矛盾。第三，中国坚持数字主权、公平普惠，为全球治理贡献中国方案。</a:t>
            </a:r>
          </a:p>
          <a:p>
            <a:pPr>
              <a:defRPr sz="1400">
                <a:latin typeface="Songti SC Regular"/>
                <a:ea typeface="Songti SC Regular"/>
                <a:cs typeface="Songti SC Regular"/>
                <a:sym typeface="Songti SC Regular"/>
              </a:defRPr>
            </a:pPr>
            <a:r>
              <a:t>它也和我们有关——AI换脸诈骗已有涉案1300多万元的案件，算法沉迷、AI代写作业就在身边。</a:t>
            </a:r>
          </a:p>
          <a:p>
            <a:pPr>
              <a:defRPr sz="1400">
                <a:latin typeface="Songti SC Regular"/>
                <a:ea typeface="Songti SC Regular"/>
                <a:cs typeface="Songti SC Regular"/>
                <a:sym typeface="Songti SC Regular"/>
              </a:defRPr>
            </a:pPr>
            <a:r>
              <a:t>留给大家一个思考题：为什么"人类命运共同体"理念，在AI时代尤其重要？我的分享到此结束，谢谢大家。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 hasCustomPrompt="1"/>
          </p:nvPr>
        </p:nvSpPr>
        <p:spPr>
          <a:xfrm>
            <a:off x="1143000" y="841771"/>
            <a:ext cx="6858000" cy="1790701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 hasCustomPrompt="1"/>
          </p:nvPr>
        </p:nvSpPr>
        <p:spPr>
          <a:xfrm>
            <a:off x="1143000" y="2701527"/>
            <a:ext cx="6858000" cy="1241822"/>
          </a:xfrm>
          <a:prstGeom prst="rect">
            <a:avLst/>
          </a:prstGeom>
        </p:spPr>
        <p:txBody>
          <a:bodyPr/>
          <a:lstStyle>
            <a:lvl1pPr marL="361950" indent="-266700" algn="ctr">
              <a:buClrTx/>
              <a:buSzTx/>
              <a:buFontTx/>
              <a:buNone/>
              <a:defRPr sz="1800"/>
            </a:lvl1pPr>
            <a:lvl2pPr marL="361950" indent="209550" algn="ctr">
              <a:buClrTx/>
              <a:buSzTx/>
              <a:buFontTx/>
              <a:buNone/>
              <a:defRPr sz="1800"/>
            </a:lvl2pPr>
            <a:lvl3pPr marL="361950" indent="685800" algn="ctr">
              <a:buClrTx/>
              <a:buSzTx/>
              <a:buFontTx/>
              <a:buNone/>
              <a:defRPr sz="1800"/>
            </a:lvl3pPr>
            <a:lvl4pPr marL="361950" indent="1149350" algn="ctr">
              <a:buClrTx/>
              <a:buSzTx/>
              <a:buFontTx/>
              <a:buNone/>
              <a:defRPr sz="1800"/>
            </a:lvl4pPr>
            <a:lvl5pPr marL="361950" indent="1606550" algn="ctr">
              <a:buClrTx/>
              <a:buSzTx/>
              <a:buFontTx/>
              <a:buNone/>
              <a:defRPr sz="1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 hasCustomPrompt="1"/>
          </p:nvPr>
        </p:nvSpPr>
        <p:spPr>
          <a:xfrm>
            <a:off x="628650" y="273843"/>
            <a:ext cx="7886700" cy="99417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sz="half" idx="1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>
            <a:lvl1pPr/>
            <a:lvl2pPr/>
            <a:lvl3pPr/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 hasCustomPrompt="1"/>
          </p:nvPr>
        </p:nvSpPr>
        <p:spPr>
          <a:xfrm>
            <a:off x="623887" y="1282303"/>
            <a:ext cx="7886701" cy="2139554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 hasCustomPrompt="1"/>
          </p:nvPr>
        </p:nvSpPr>
        <p:spPr>
          <a:xfrm>
            <a:off x="623887" y="3442096"/>
            <a:ext cx="7886701" cy="1125141"/>
          </a:xfrm>
          <a:prstGeom prst="rect">
            <a:avLst/>
          </a:prstGeom>
        </p:spPr>
        <p:txBody>
          <a:bodyPr/>
          <a:lstStyle>
            <a:lvl1pPr marL="228600" indent="0">
              <a:buClrTx/>
              <a:buSzTx/>
              <a:buFontTx/>
              <a:buNone/>
              <a:defRPr sz="1800">
                <a:solidFill>
                  <a:srgbClr val="888888"/>
                </a:solidFill>
              </a:defRPr>
            </a:lvl1pPr>
            <a:lvl2pPr marL="228600" indent="457200">
              <a:buClrTx/>
              <a:buSzTx/>
              <a:buFontTx/>
              <a:buNone/>
              <a:defRPr sz="1800">
                <a:solidFill>
                  <a:srgbClr val="888888"/>
                </a:solidFill>
              </a:defRPr>
            </a:lvl2pPr>
            <a:lvl3pPr marL="228600" indent="914400">
              <a:buClrTx/>
              <a:buSzTx/>
              <a:buFontTx/>
              <a:buNone/>
              <a:defRPr sz="1800">
                <a:solidFill>
                  <a:srgbClr val="888888"/>
                </a:solidFill>
              </a:defRPr>
            </a:lvl3pPr>
            <a:lvl4pPr marL="228600" indent="1371600">
              <a:buClrTx/>
              <a:buSzTx/>
              <a:buFontTx/>
              <a:buNone/>
              <a:defRPr sz="1800">
                <a:solidFill>
                  <a:srgbClr val="888888"/>
                </a:solidFill>
              </a:defRPr>
            </a:lvl4pPr>
            <a:lvl5pPr marL="228600" indent="1828800">
              <a:buClrTx/>
              <a:buSzTx/>
              <a:buFontTx/>
              <a:buNone/>
              <a:defRPr sz="18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 hasCustomPrompt="1"/>
          </p:nvPr>
        </p:nvSpPr>
        <p:spPr>
          <a:xfrm>
            <a:off x="628650" y="273843"/>
            <a:ext cx="7886700" cy="99417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quarter" idx="1" hasCustomPrompt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</p:spPr>
        <p:txBody>
          <a:bodyPr/>
          <a:lstStyle>
            <a:lvl1pPr/>
            <a:lvl2pPr/>
            <a:lvl3pPr/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hape 11"/>
          <p:cNvSpPr txBox="1"/>
          <p:nvPr>
            <p:ph type="body" sz="quarter" idx="21"/>
          </p:nvPr>
        </p:nvSpPr>
        <p:spPr>
          <a:xfrm>
            <a:off x="4629150" y="1369219"/>
            <a:ext cx="3886200" cy="3263505"/>
          </a:xfrm>
          <a:prstGeom prst="rect">
            <a:avLst/>
          </a:prstGeom>
        </p:spPr>
        <p:txBody>
          <a:bodyPr/>
          <a:lstStyle/>
          <a:p>
            <a:pPr indent="-317500"/>
          </a:p>
        </p:txBody>
      </p:sp>
      <p:sp>
        <p:nvSpPr>
          <p:cNvPr id="4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/>
          <p:nvPr>
            <p:ph type="title" hasCustomPrompt="1"/>
          </p:nvPr>
        </p:nvSpPr>
        <p:spPr>
          <a:xfrm>
            <a:off x="629841" y="273843"/>
            <a:ext cx="7886701" cy="99417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Body Level One…"/>
          <p:cNvSpPr txBox="1"/>
          <p:nvPr>
            <p:ph type="body" sz="quarter" idx="1" hasCustomPrompt="1"/>
          </p:nvPr>
        </p:nvSpPr>
        <p:spPr>
          <a:xfrm>
            <a:off x="629841" y="1260871"/>
            <a:ext cx="3868340" cy="617935"/>
          </a:xfrm>
          <a:prstGeom prst="rect">
            <a:avLst/>
          </a:prstGeom>
        </p:spPr>
        <p:txBody>
          <a:bodyPr anchor="b"/>
          <a:lstStyle>
            <a:lvl1pPr marL="228600" indent="0">
              <a:buClrTx/>
              <a:buSzTx/>
              <a:buFontTx/>
              <a:buNone/>
              <a:defRPr sz="1800" b="1"/>
            </a:lvl1pPr>
            <a:lvl2pPr marL="228600" indent="457200">
              <a:buClrTx/>
              <a:buSzTx/>
              <a:buFontTx/>
              <a:buNone/>
              <a:defRPr sz="1800" b="1"/>
            </a:lvl2pPr>
            <a:lvl3pPr marL="228600" indent="914400">
              <a:buClrTx/>
              <a:buSzTx/>
              <a:buFontTx/>
              <a:buNone/>
              <a:defRPr sz="1800" b="1"/>
            </a:lvl3pPr>
            <a:lvl4pPr marL="228600" indent="1371600">
              <a:buClrTx/>
              <a:buSzTx/>
              <a:buFontTx/>
              <a:buNone/>
              <a:defRPr sz="1800" b="1"/>
            </a:lvl4pPr>
            <a:lvl5pPr marL="228600" indent="1828800">
              <a:buClrTx/>
              <a:buSzTx/>
              <a:buFontTx/>
              <a:buNone/>
              <a:defRPr sz="18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0" name="Shape 37"/>
          <p:cNvSpPr txBox="1"/>
          <p:nvPr>
            <p:ph type="body" sz="quarter" idx="21"/>
          </p:nvPr>
        </p:nvSpPr>
        <p:spPr>
          <a:xfrm>
            <a:off x="629840" y="1878806"/>
            <a:ext cx="3868341" cy="2763442"/>
          </a:xfrm>
          <a:prstGeom prst="rect">
            <a:avLst/>
          </a:prstGeom>
        </p:spPr>
        <p:txBody>
          <a:bodyPr/>
          <a:lstStyle/>
          <a:p>
            <a:pPr indent="-317500"/>
          </a:p>
        </p:txBody>
      </p:sp>
      <p:sp>
        <p:nvSpPr>
          <p:cNvPr id="51" name="Shape 38"/>
          <p:cNvSpPr txBox="1"/>
          <p:nvPr>
            <p:ph type="body" sz="quarter" idx="22"/>
          </p:nvPr>
        </p:nvSpPr>
        <p:spPr>
          <a:xfrm>
            <a:off x="4629150" y="1260871"/>
            <a:ext cx="3887392" cy="617935"/>
          </a:xfrm>
          <a:prstGeom prst="rect">
            <a:avLst/>
          </a:prstGeom>
        </p:spPr>
        <p:txBody>
          <a:bodyPr anchor="b"/>
          <a:lstStyle/>
          <a:p>
            <a:pPr marL="228600" indent="0">
              <a:buClrTx/>
              <a:buSzTx/>
              <a:buFontTx/>
              <a:buNone/>
              <a:defRPr sz="1800" b="1"/>
            </a:pPr>
          </a:p>
        </p:txBody>
      </p:sp>
      <p:sp>
        <p:nvSpPr>
          <p:cNvPr id="52" name="Shape 39"/>
          <p:cNvSpPr txBox="1"/>
          <p:nvPr>
            <p:ph type="body" sz="quarter" idx="23"/>
          </p:nvPr>
        </p:nvSpPr>
        <p:spPr>
          <a:xfrm>
            <a:off x="4629150" y="1878806"/>
            <a:ext cx="3887392" cy="2763442"/>
          </a:xfrm>
          <a:prstGeom prst="rect">
            <a:avLst/>
          </a:prstGeom>
        </p:spPr>
        <p:txBody>
          <a:bodyPr/>
          <a:lstStyle/>
          <a:p>
            <a:pPr indent="-317500"/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Text"/>
          <p:cNvSpPr txBox="1"/>
          <p:nvPr>
            <p:ph type="title" hasCustomPrompt="1"/>
          </p:nvPr>
        </p:nvSpPr>
        <p:spPr>
          <a:xfrm>
            <a:off x="628650" y="273843"/>
            <a:ext cx="7886700" cy="99417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itle Text"/>
          <p:cNvSpPr txBox="1"/>
          <p:nvPr>
            <p:ph type="title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t>Title Text</a:t>
            </a:r>
          </a:p>
        </p:txBody>
      </p:sp>
      <p:sp>
        <p:nvSpPr>
          <p:cNvPr id="76" name="Body Level One…"/>
          <p:cNvSpPr txBox="1"/>
          <p:nvPr>
            <p:ph type="body" sz="half" idx="1" hasCustomPrompt="1"/>
          </p:nvPr>
        </p:nvSpPr>
        <p:spPr>
          <a:xfrm>
            <a:off x="3887391" y="740568"/>
            <a:ext cx="4629151" cy="3655221"/>
          </a:xfrm>
          <a:prstGeom prst="rect">
            <a:avLst/>
          </a:prstGeom>
        </p:spPr>
        <p:txBody>
          <a:bodyPr/>
          <a:lstStyle>
            <a:lvl1pPr indent="-381000">
              <a:buSzPts val="2400"/>
              <a:defRPr sz="2400"/>
            </a:lvl1pPr>
            <a:lvl2pPr marL="965835" indent="-413385">
              <a:buSzPts val="2400"/>
              <a:defRPr sz="2400"/>
            </a:lvl2pPr>
            <a:lvl3pPr marL="1485900" indent="-457200">
              <a:buSzPts val="2400"/>
              <a:defRPr sz="2400"/>
            </a:lvl3pPr>
            <a:lvl4pPr marL="2023110" indent="-518160">
              <a:buSzPts val="2400"/>
              <a:defRPr sz="2400"/>
            </a:lvl4pPr>
            <a:lvl5pPr marL="2480310" indent="-518160">
              <a:buSzPts val="2400"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7" name="Shape 45"/>
          <p:cNvSpPr txBox="1"/>
          <p:nvPr>
            <p:ph type="body" sz="quarter" idx="21"/>
          </p:nvPr>
        </p:nvSpPr>
        <p:spPr>
          <a:xfrm>
            <a:off x="629840" y="1543050"/>
            <a:ext cx="2949180" cy="2858692"/>
          </a:xfrm>
          <a:prstGeom prst="rect">
            <a:avLst/>
          </a:prstGeom>
        </p:spPr>
        <p:txBody>
          <a:bodyPr/>
          <a:lstStyle/>
          <a:p>
            <a:pPr marL="228600" indent="0">
              <a:buClrTx/>
              <a:buSzTx/>
              <a:buFontTx/>
              <a:buNone/>
              <a:defRPr sz="1200"/>
            </a:pPr>
          </a:p>
        </p:txBody>
      </p:sp>
      <p:sp>
        <p:nvSpPr>
          <p:cNvPr id="7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itle Text"/>
          <p:cNvSpPr txBox="1"/>
          <p:nvPr>
            <p:ph type="title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t>Title Text</a:t>
            </a:r>
          </a:p>
        </p:txBody>
      </p:sp>
      <p:sp>
        <p:nvSpPr>
          <p:cNvPr id="86" name="Shape 25"/>
          <p:cNvSpPr/>
          <p:nvPr>
            <p:ph type="pic" sz="half" idx="21"/>
          </p:nvPr>
        </p:nvSpPr>
        <p:spPr>
          <a:xfrm>
            <a:off x="3887391" y="740568"/>
            <a:ext cx="4629151" cy="365522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87" name="Body Level One…"/>
          <p:cNvSpPr txBox="1"/>
          <p:nvPr>
            <p:ph type="body" sz="quarter" idx="1" hasCustomPrompt="1"/>
          </p:nvPr>
        </p:nvSpPr>
        <p:spPr>
          <a:xfrm>
            <a:off x="629841" y="1543050"/>
            <a:ext cx="2949178" cy="2858692"/>
          </a:xfrm>
          <a:prstGeom prst="rect">
            <a:avLst/>
          </a:prstGeom>
        </p:spPr>
        <p:txBody>
          <a:bodyPr/>
          <a:lstStyle>
            <a:lvl1pPr marL="228600" indent="0">
              <a:buClrTx/>
              <a:buSzTx/>
              <a:buFontTx/>
              <a:buNone/>
              <a:defRPr sz="1200"/>
            </a:lvl1pPr>
            <a:lvl2pPr marL="228600" indent="457200">
              <a:buClrTx/>
              <a:buSzTx/>
              <a:buFontTx/>
              <a:buNone/>
              <a:defRPr sz="1200"/>
            </a:lvl2pPr>
            <a:lvl3pPr marL="228600" indent="914400">
              <a:buClrTx/>
              <a:buSzTx/>
              <a:buFontTx/>
              <a:buNone/>
              <a:defRPr sz="1200"/>
            </a:lvl3pPr>
            <a:lvl4pPr marL="228600" indent="1371600">
              <a:buClrTx/>
              <a:buSzTx/>
              <a:buFontTx/>
              <a:buNone/>
              <a:defRPr sz="1200"/>
            </a:lvl4pPr>
            <a:lvl5pPr marL="228600" indent="1828800">
              <a:buClrTx/>
              <a:buSzTx/>
              <a:buFontTx/>
              <a:buNone/>
              <a:defRPr sz="1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itle Text"/>
          <p:cNvSpPr txBox="1"/>
          <p:nvPr>
            <p:ph type="title" hasCustomPrompt="1"/>
          </p:nvPr>
        </p:nvSpPr>
        <p:spPr>
          <a:xfrm>
            <a:off x="628650" y="273843"/>
            <a:ext cx="7886700" cy="99417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96" name="Body Level One…"/>
          <p:cNvSpPr txBox="1"/>
          <p:nvPr>
            <p:ph type="body" sz="half" idx="1" hasCustomPrompt="1"/>
          </p:nvPr>
        </p:nvSpPr>
        <p:spPr>
          <a:xfrm rot="5400000">
            <a:off x="2940248" y="-942380"/>
            <a:ext cx="3263504" cy="7886701"/>
          </a:xfrm>
          <a:prstGeom prst="rect">
            <a:avLst/>
          </a:prstGeom>
        </p:spPr>
        <p:txBody>
          <a:bodyPr/>
          <a:lstStyle>
            <a:lvl1pPr/>
            <a:lvl2pPr/>
            <a:lvl3pPr/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itle Text"/>
          <p:cNvSpPr txBox="1"/>
          <p:nvPr>
            <p:ph type="title" hasCustomPrompt="1"/>
          </p:nvPr>
        </p:nvSpPr>
        <p:spPr>
          <a:xfrm rot="5400000">
            <a:off x="5350073" y="1467445"/>
            <a:ext cx="4358879" cy="1971676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05" name="Body Level One…"/>
          <p:cNvSpPr txBox="1"/>
          <p:nvPr>
            <p:ph type="body" sz="half" idx="1" hasCustomPrompt="1"/>
          </p:nvPr>
        </p:nvSpPr>
        <p:spPr>
          <a:xfrm rot="5400000">
            <a:off x="1349572" y="-447080"/>
            <a:ext cx="4358880" cy="5800726"/>
          </a:xfrm>
          <a:prstGeom prst="rect">
            <a:avLst/>
          </a:prstGeom>
        </p:spPr>
        <p:txBody>
          <a:bodyPr/>
          <a:lstStyle>
            <a:lvl1pPr/>
            <a:lvl2pPr/>
            <a:lvl3pPr/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默认主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Body Level One…"/>
          <p:cNvSpPr txBox="1"/>
          <p:nvPr>
            <p:ph type="body" sz="quarter" idx="1" hasCustomPrompt="1"/>
          </p:nvPr>
        </p:nvSpPr>
        <p:spPr>
          <a:xfrm>
            <a:off x="1143000" y="841771"/>
            <a:ext cx="6858000" cy="1790701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92000"/>
              </a:lnSpc>
              <a:spcBef>
                <a:spcPts val="0"/>
              </a:spcBef>
              <a:buClrTx/>
              <a:buSzTx/>
              <a:buFontTx/>
              <a:buNone/>
              <a:defRPr sz="4500"/>
            </a:lvl1pPr>
            <a:lvl2pPr marL="0" indent="0" algn="ctr">
              <a:lnSpc>
                <a:spcPct val="92000"/>
              </a:lnSpc>
              <a:spcBef>
                <a:spcPts val="0"/>
              </a:spcBef>
              <a:buClrTx/>
              <a:buSzTx/>
              <a:buFontTx/>
              <a:buNone/>
              <a:defRPr sz="4500"/>
            </a:lvl2pPr>
            <a:lvl3pPr marL="0" indent="0" algn="ctr">
              <a:lnSpc>
                <a:spcPct val="92000"/>
              </a:lnSpc>
              <a:spcBef>
                <a:spcPts val="0"/>
              </a:spcBef>
              <a:buClrTx/>
              <a:buSzTx/>
              <a:buFontTx/>
              <a:buNone/>
              <a:defRPr sz="4500"/>
            </a:lvl3pPr>
            <a:lvl4pPr marL="0" indent="0" algn="ctr">
              <a:lnSpc>
                <a:spcPct val="92000"/>
              </a:lnSpc>
              <a:spcBef>
                <a:spcPts val="0"/>
              </a:spcBef>
              <a:buClrTx/>
              <a:buSzTx/>
              <a:buFontTx/>
              <a:buNone/>
              <a:defRPr sz="4500"/>
            </a:lvl4pPr>
            <a:lvl5pPr marL="0" indent="0" algn="ctr">
              <a:lnSpc>
                <a:spcPct val="92000"/>
              </a:lnSpc>
              <a:spcBef>
                <a:spcPts val="0"/>
              </a:spcBef>
              <a:buClrTx/>
              <a:buSzTx/>
              <a:buFontTx/>
              <a:buNone/>
              <a:defRPr sz="4500"/>
            </a:lvl5pPr>
          </a:lstStyle>
          <a:p>
            <a:r>
              <a:t>Click to add title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21" name="AutoShape 3"/>
          <p:cNvSpPr/>
          <p:nvPr>
            <p:ph type="body" sz="quarter" idx="21" hasCustomPrompt="1"/>
          </p:nvPr>
        </p:nvSpPr>
        <p:spPr>
          <a:xfrm>
            <a:off x="1143000" y="2701527"/>
            <a:ext cx="6858000" cy="1241822"/>
          </a:xfrm>
          <a:prstGeom prst="rect">
            <a:avLst/>
          </a:prstGeom>
        </p:spPr>
        <p:txBody>
          <a:bodyPr/>
          <a:lstStyle>
            <a:lvl1pPr marL="361950" indent="-266700" algn="ctr">
              <a:lnSpc>
                <a:spcPct val="92000"/>
              </a:lnSpc>
              <a:buClrTx/>
              <a:buSzTx/>
              <a:buFontTx/>
              <a:buNone/>
              <a:defRPr sz="1800"/>
            </a:lvl1pPr>
          </a:lstStyle>
          <a:p>
            <a:r>
              <a:t>Click to add subtitle</a:t>
            </a:r>
          </a:p>
        </p:txBody>
      </p:sp>
      <p:sp>
        <p:nvSpPr>
          <p:cNvPr id="122" name="AutoShape 4"/>
          <p:cNvSpPr/>
          <p:nvPr>
            <p:ph type="body" sz="quarter" idx="22" hasCustomPrompt="1"/>
          </p:nvPr>
        </p:nvSpPr>
        <p:spPr>
          <a:xfrm>
            <a:off x="628650" y="4767262"/>
            <a:ext cx="2057400" cy="27384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900">
                <a:solidFill>
                  <a:srgbClr val="888888"/>
                </a:solidFill>
              </a:defRPr>
            </a:lvl1pPr>
          </a:lstStyle>
          <a:p>
            <a:r>
              <a:t>Date</a:t>
            </a:r>
          </a:p>
        </p:txBody>
      </p:sp>
      <p:sp>
        <p:nvSpPr>
          <p:cNvPr id="123" name="AutoShape 5"/>
          <p:cNvSpPr/>
          <p:nvPr>
            <p:ph type="body" sz="quarter" idx="23" hasCustomPrompt="1"/>
          </p:nvPr>
        </p:nvSpPr>
        <p:spPr>
          <a:xfrm>
            <a:off x="3028950" y="4767262"/>
            <a:ext cx="3086100" cy="27384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900">
                <a:solidFill>
                  <a:srgbClr val="888888"/>
                </a:solidFill>
              </a:defRPr>
            </a:lvl1pPr>
          </a:lstStyle>
          <a:p>
            <a:r>
              <a:t>Footer</a:t>
            </a:r>
          </a:p>
        </p:txBody>
      </p:sp>
      <p:sp>
        <p:nvSpPr>
          <p:cNvPr id="124" name="AutoShape 6"/>
          <p:cNvSpPr/>
          <p:nvPr>
            <p:ph type="body" sz="quarter" idx="24"/>
          </p:nvPr>
        </p:nvSpPr>
        <p:spPr>
          <a:xfrm>
            <a:off x="6457950" y="4767262"/>
            <a:ext cx="2057400" cy="273845"/>
          </a:xfrm>
          <a:prstGeom prst="rect">
            <a:avLst/>
          </a:prstGeom>
        </p:spPr>
        <p:txBody>
          <a:bodyPr anchor="ctr"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900">
                <a:solidFill>
                  <a:srgbClr val="888888"/>
                </a:solidFill>
              </a:defRPr>
            </a:pPr>
          </a:p>
        </p:txBody>
      </p:sp>
      <p:sp>
        <p:nvSpPr>
          <p:cNvPr id="125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Body Level One…"/>
          <p:cNvSpPr txBox="1"/>
          <p:nvPr>
            <p:ph type="body" sz="quarter" idx="1" hasCustomPrompt="1"/>
          </p:nvPr>
        </p:nvSpPr>
        <p:spPr>
          <a:xfrm>
            <a:off x="628650" y="273843"/>
            <a:ext cx="7886700" cy="994173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92000"/>
              </a:lnSpc>
              <a:spcBef>
                <a:spcPts val="0"/>
              </a:spcBef>
              <a:buClrTx/>
              <a:buSzTx/>
              <a:buFontTx/>
              <a:buNone/>
              <a:defRPr sz="3300"/>
            </a:lvl1pPr>
            <a:lvl2pPr marL="0" indent="0">
              <a:lnSpc>
                <a:spcPct val="92000"/>
              </a:lnSpc>
              <a:spcBef>
                <a:spcPts val="0"/>
              </a:spcBef>
              <a:buClrTx/>
              <a:buSzTx/>
              <a:buFontTx/>
              <a:buNone/>
              <a:defRPr sz="3300"/>
            </a:lvl2pPr>
            <a:lvl3pPr marL="0" indent="0">
              <a:lnSpc>
                <a:spcPct val="92000"/>
              </a:lnSpc>
              <a:spcBef>
                <a:spcPts val="0"/>
              </a:spcBef>
              <a:buClrTx/>
              <a:buSzTx/>
              <a:buFontTx/>
              <a:buNone/>
              <a:defRPr sz="3300"/>
            </a:lvl3pPr>
            <a:lvl4pPr marL="0" indent="0">
              <a:lnSpc>
                <a:spcPct val="92000"/>
              </a:lnSpc>
              <a:spcBef>
                <a:spcPts val="0"/>
              </a:spcBef>
              <a:buClrTx/>
              <a:buSzTx/>
              <a:buFontTx/>
              <a:buNone/>
              <a:defRPr sz="3300"/>
            </a:lvl4pPr>
            <a:lvl5pPr marL="0" indent="0">
              <a:lnSpc>
                <a:spcPct val="92000"/>
              </a:lnSpc>
              <a:spcBef>
                <a:spcPts val="0"/>
              </a:spcBef>
              <a:buClrTx/>
              <a:buSzTx/>
              <a:buFontTx/>
              <a:buNone/>
              <a:defRPr sz="3300"/>
            </a:lvl5pPr>
          </a:lstStyle>
          <a:p>
            <a:r>
              <a:t>Click to add title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33" name="AutoShape 3"/>
          <p:cNvSpPr/>
          <p:nvPr>
            <p:ph type="body" sz="half" idx="21" hasCustomPrompt="1"/>
          </p:nvPr>
        </p:nvSpPr>
        <p:spPr>
          <a:xfrm>
            <a:off x="628650" y="1369219"/>
            <a:ext cx="7886700" cy="3263505"/>
          </a:xfrm>
          <a:prstGeom prst="rect">
            <a:avLst/>
          </a:prstGeom>
        </p:spPr>
        <p:txBody>
          <a:bodyPr/>
          <a:lstStyle>
            <a:lvl1pPr/>
          </a:lstStyle>
          <a:p>
            <a:r>
              <a:t>Click to add text</a:t>
            </a:r>
          </a:p>
        </p:txBody>
      </p:sp>
      <p:sp>
        <p:nvSpPr>
          <p:cNvPr id="134" name="AutoShape 4"/>
          <p:cNvSpPr/>
          <p:nvPr>
            <p:ph type="body" sz="quarter" idx="22" hasCustomPrompt="1"/>
          </p:nvPr>
        </p:nvSpPr>
        <p:spPr>
          <a:xfrm>
            <a:off x="628650" y="4767262"/>
            <a:ext cx="2057400" cy="27384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900">
                <a:solidFill>
                  <a:srgbClr val="888888"/>
                </a:solidFill>
              </a:defRPr>
            </a:lvl1pPr>
          </a:lstStyle>
          <a:p>
            <a:r>
              <a:t>Date</a:t>
            </a:r>
          </a:p>
        </p:txBody>
      </p:sp>
      <p:sp>
        <p:nvSpPr>
          <p:cNvPr id="135" name="AutoShape 5"/>
          <p:cNvSpPr/>
          <p:nvPr>
            <p:ph type="body" sz="quarter" idx="23" hasCustomPrompt="1"/>
          </p:nvPr>
        </p:nvSpPr>
        <p:spPr>
          <a:xfrm>
            <a:off x="3028950" y="4767262"/>
            <a:ext cx="3086100" cy="27384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900">
                <a:solidFill>
                  <a:srgbClr val="888888"/>
                </a:solidFill>
              </a:defRPr>
            </a:lvl1pPr>
          </a:lstStyle>
          <a:p>
            <a:r>
              <a:t>Footer</a:t>
            </a:r>
          </a:p>
        </p:txBody>
      </p:sp>
      <p:sp>
        <p:nvSpPr>
          <p:cNvPr id="136" name="AutoShape 6"/>
          <p:cNvSpPr/>
          <p:nvPr>
            <p:ph type="body" sz="quarter" idx="24"/>
          </p:nvPr>
        </p:nvSpPr>
        <p:spPr>
          <a:xfrm>
            <a:off x="6457950" y="4767262"/>
            <a:ext cx="2057400" cy="273845"/>
          </a:xfrm>
          <a:prstGeom prst="rect">
            <a:avLst/>
          </a:prstGeom>
        </p:spPr>
        <p:txBody>
          <a:bodyPr anchor="ctr"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900">
                <a:solidFill>
                  <a:srgbClr val="888888"/>
                </a:solidFill>
              </a:defRPr>
            </a:pP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dy Level One…"/>
          <p:cNvSpPr txBox="1"/>
          <p:nvPr>
            <p:ph type="body" sz="half" idx="1" hasCustomPrompt="1"/>
          </p:nvPr>
        </p:nvSpPr>
        <p:spPr>
          <a:xfrm>
            <a:off x="623887" y="1282303"/>
            <a:ext cx="7886701" cy="2139554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92000"/>
              </a:lnSpc>
              <a:spcBef>
                <a:spcPts val="0"/>
              </a:spcBef>
              <a:buClrTx/>
              <a:buSzTx/>
              <a:buFontTx/>
              <a:buNone/>
              <a:defRPr sz="4500"/>
            </a:lvl1pPr>
            <a:lvl2pPr marL="0" indent="0">
              <a:lnSpc>
                <a:spcPct val="92000"/>
              </a:lnSpc>
              <a:spcBef>
                <a:spcPts val="0"/>
              </a:spcBef>
              <a:buClrTx/>
              <a:buSzTx/>
              <a:buFontTx/>
              <a:buNone/>
              <a:defRPr sz="4500"/>
            </a:lvl2pPr>
            <a:lvl3pPr marL="0" indent="0">
              <a:lnSpc>
                <a:spcPct val="92000"/>
              </a:lnSpc>
              <a:spcBef>
                <a:spcPts val="0"/>
              </a:spcBef>
              <a:buClrTx/>
              <a:buSzTx/>
              <a:buFontTx/>
              <a:buNone/>
              <a:defRPr sz="4500"/>
            </a:lvl3pPr>
            <a:lvl4pPr marL="0" indent="0">
              <a:lnSpc>
                <a:spcPct val="92000"/>
              </a:lnSpc>
              <a:spcBef>
                <a:spcPts val="0"/>
              </a:spcBef>
              <a:buClrTx/>
              <a:buSzTx/>
              <a:buFontTx/>
              <a:buNone/>
              <a:defRPr sz="4500"/>
            </a:lvl4pPr>
            <a:lvl5pPr marL="0" indent="0">
              <a:lnSpc>
                <a:spcPct val="92000"/>
              </a:lnSpc>
              <a:spcBef>
                <a:spcPts val="0"/>
              </a:spcBef>
              <a:buClrTx/>
              <a:buSzTx/>
              <a:buFontTx/>
              <a:buNone/>
              <a:defRPr sz="4500"/>
            </a:lvl5pPr>
          </a:lstStyle>
          <a:p>
            <a:r>
              <a:t>Click to add title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45" name="AutoShape 3"/>
          <p:cNvSpPr/>
          <p:nvPr>
            <p:ph type="body" sz="quarter" idx="21" hasCustomPrompt="1"/>
          </p:nvPr>
        </p:nvSpPr>
        <p:spPr>
          <a:xfrm>
            <a:off x="623887" y="3442096"/>
            <a:ext cx="7886701" cy="1125141"/>
          </a:xfrm>
          <a:prstGeom prst="rect">
            <a:avLst/>
          </a:prstGeom>
        </p:spPr>
        <p:txBody>
          <a:bodyPr/>
          <a:lstStyle>
            <a:lvl1pPr marL="228600" indent="0">
              <a:lnSpc>
                <a:spcPct val="92000"/>
              </a:lnSpc>
              <a:buClrTx/>
              <a:buSzTx/>
              <a:buFontTx/>
              <a:buNone/>
              <a:defRPr sz="1800">
                <a:solidFill>
                  <a:srgbClr val="888888"/>
                </a:solidFill>
              </a:defRPr>
            </a:lvl1pPr>
          </a:lstStyle>
          <a:p>
            <a:r>
              <a:t>Click to add text</a:t>
            </a:r>
          </a:p>
        </p:txBody>
      </p:sp>
      <p:sp>
        <p:nvSpPr>
          <p:cNvPr id="146" name="AutoShape 4"/>
          <p:cNvSpPr/>
          <p:nvPr>
            <p:ph type="body" sz="quarter" idx="22" hasCustomPrompt="1"/>
          </p:nvPr>
        </p:nvSpPr>
        <p:spPr>
          <a:xfrm>
            <a:off x="628650" y="4767262"/>
            <a:ext cx="2057400" cy="27384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900">
                <a:solidFill>
                  <a:srgbClr val="888888"/>
                </a:solidFill>
              </a:defRPr>
            </a:lvl1pPr>
          </a:lstStyle>
          <a:p>
            <a:r>
              <a:t>Date</a:t>
            </a:r>
          </a:p>
        </p:txBody>
      </p:sp>
      <p:sp>
        <p:nvSpPr>
          <p:cNvPr id="147" name="AutoShape 5"/>
          <p:cNvSpPr/>
          <p:nvPr>
            <p:ph type="body" sz="quarter" idx="23" hasCustomPrompt="1"/>
          </p:nvPr>
        </p:nvSpPr>
        <p:spPr>
          <a:xfrm>
            <a:off x="3028950" y="4767262"/>
            <a:ext cx="3086100" cy="27384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900">
                <a:solidFill>
                  <a:srgbClr val="888888"/>
                </a:solidFill>
              </a:defRPr>
            </a:lvl1pPr>
          </a:lstStyle>
          <a:p>
            <a:r>
              <a:t>Footer</a:t>
            </a:r>
          </a:p>
        </p:txBody>
      </p:sp>
      <p:sp>
        <p:nvSpPr>
          <p:cNvPr id="148" name="AutoShape 6"/>
          <p:cNvSpPr/>
          <p:nvPr>
            <p:ph type="body" sz="quarter" idx="24"/>
          </p:nvPr>
        </p:nvSpPr>
        <p:spPr>
          <a:xfrm>
            <a:off x="6457950" y="4767262"/>
            <a:ext cx="2057400" cy="273845"/>
          </a:xfrm>
          <a:prstGeom prst="rect">
            <a:avLst/>
          </a:prstGeom>
        </p:spPr>
        <p:txBody>
          <a:bodyPr anchor="ctr"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900">
                <a:solidFill>
                  <a:srgbClr val="888888"/>
                </a:solidFill>
              </a:defRPr>
            </a:pPr>
          </a:p>
        </p:txBody>
      </p:sp>
      <p:sp>
        <p:nvSpPr>
          <p:cNvPr id="149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Body Level One…"/>
          <p:cNvSpPr txBox="1"/>
          <p:nvPr>
            <p:ph type="body" sz="quarter" idx="1" hasCustomPrompt="1"/>
          </p:nvPr>
        </p:nvSpPr>
        <p:spPr>
          <a:xfrm>
            <a:off x="628650" y="273843"/>
            <a:ext cx="7886700" cy="994173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92000"/>
              </a:lnSpc>
              <a:spcBef>
                <a:spcPts val="0"/>
              </a:spcBef>
              <a:buClrTx/>
              <a:buSzTx/>
              <a:buFontTx/>
              <a:buNone/>
              <a:defRPr sz="3300"/>
            </a:lvl1pPr>
            <a:lvl2pPr marL="0" indent="0">
              <a:lnSpc>
                <a:spcPct val="92000"/>
              </a:lnSpc>
              <a:spcBef>
                <a:spcPts val="0"/>
              </a:spcBef>
              <a:buClrTx/>
              <a:buSzTx/>
              <a:buFontTx/>
              <a:buNone/>
              <a:defRPr sz="3300"/>
            </a:lvl2pPr>
            <a:lvl3pPr marL="0" indent="0">
              <a:lnSpc>
                <a:spcPct val="92000"/>
              </a:lnSpc>
              <a:spcBef>
                <a:spcPts val="0"/>
              </a:spcBef>
              <a:buClrTx/>
              <a:buSzTx/>
              <a:buFontTx/>
              <a:buNone/>
              <a:defRPr sz="3300"/>
            </a:lvl3pPr>
            <a:lvl4pPr marL="0" indent="0">
              <a:lnSpc>
                <a:spcPct val="92000"/>
              </a:lnSpc>
              <a:spcBef>
                <a:spcPts val="0"/>
              </a:spcBef>
              <a:buClrTx/>
              <a:buSzTx/>
              <a:buFontTx/>
              <a:buNone/>
              <a:defRPr sz="3300"/>
            </a:lvl4pPr>
            <a:lvl5pPr marL="0" indent="0">
              <a:lnSpc>
                <a:spcPct val="92000"/>
              </a:lnSpc>
              <a:spcBef>
                <a:spcPts val="0"/>
              </a:spcBef>
              <a:buClrTx/>
              <a:buSzTx/>
              <a:buFontTx/>
              <a:buNone/>
              <a:defRPr sz="3300"/>
            </a:lvl5pPr>
          </a:lstStyle>
          <a:p>
            <a:r>
              <a:t>Click to add title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57" name="AutoShape 3"/>
          <p:cNvSpPr/>
          <p:nvPr>
            <p:ph type="body" sz="quarter" idx="21" hasCustomPrompt="1"/>
          </p:nvPr>
        </p:nvSpPr>
        <p:spPr>
          <a:xfrm>
            <a:off x="628650" y="1369219"/>
            <a:ext cx="3886200" cy="3263505"/>
          </a:xfrm>
          <a:prstGeom prst="rect">
            <a:avLst/>
          </a:prstGeom>
        </p:spPr>
        <p:txBody>
          <a:bodyPr/>
          <a:lstStyle>
            <a:lvl1pPr/>
          </a:lstStyle>
          <a:p>
            <a:r>
              <a:t>Click to add text</a:t>
            </a:r>
          </a:p>
        </p:txBody>
      </p:sp>
      <p:sp>
        <p:nvSpPr>
          <p:cNvPr id="158" name="AutoShape 4"/>
          <p:cNvSpPr/>
          <p:nvPr>
            <p:ph type="body" sz="quarter" idx="22" hasCustomPrompt="1"/>
          </p:nvPr>
        </p:nvSpPr>
        <p:spPr>
          <a:xfrm>
            <a:off x="4629150" y="1369219"/>
            <a:ext cx="3886200" cy="3263505"/>
          </a:xfrm>
          <a:prstGeom prst="rect">
            <a:avLst/>
          </a:prstGeom>
        </p:spPr>
        <p:txBody>
          <a:bodyPr/>
          <a:lstStyle>
            <a:lvl1pPr/>
          </a:lstStyle>
          <a:p>
            <a:r>
              <a:t>Click to add text</a:t>
            </a:r>
          </a:p>
        </p:txBody>
      </p:sp>
      <p:sp>
        <p:nvSpPr>
          <p:cNvPr id="159" name="AutoShape 5"/>
          <p:cNvSpPr/>
          <p:nvPr>
            <p:ph type="body" sz="quarter" idx="23" hasCustomPrompt="1"/>
          </p:nvPr>
        </p:nvSpPr>
        <p:spPr>
          <a:xfrm>
            <a:off x="628650" y="4767262"/>
            <a:ext cx="2057400" cy="27384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900">
                <a:solidFill>
                  <a:srgbClr val="888888"/>
                </a:solidFill>
              </a:defRPr>
            </a:lvl1pPr>
          </a:lstStyle>
          <a:p>
            <a:r>
              <a:t>Date</a:t>
            </a:r>
          </a:p>
        </p:txBody>
      </p:sp>
      <p:sp>
        <p:nvSpPr>
          <p:cNvPr id="160" name="AutoShape 6"/>
          <p:cNvSpPr/>
          <p:nvPr>
            <p:ph type="body" sz="quarter" idx="24" hasCustomPrompt="1"/>
          </p:nvPr>
        </p:nvSpPr>
        <p:spPr>
          <a:xfrm>
            <a:off x="3028950" y="4767262"/>
            <a:ext cx="3086100" cy="27384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900">
                <a:solidFill>
                  <a:srgbClr val="888888"/>
                </a:solidFill>
              </a:defRPr>
            </a:lvl1pPr>
          </a:lstStyle>
          <a:p>
            <a:r>
              <a:t>Footer</a:t>
            </a:r>
          </a:p>
        </p:txBody>
      </p:sp>
      <p:sp>
        <p:nvSpPr>
          <p:cNvPr id="161" name="AutoShape 7"/>
          <p:cNvSpPr/>
          <p:nvPr>
            <p:ph type="body" sz="quarter" idx="25"/>
          </p:nvPr>
        </p:nvSpPr>
        <p:spPr>
          <a:xfrm>
            <a:off x="6457950" y="4767262"/>
            <a:ext cx="2057400" cy="273845"/>
          </a:xfrm>
          <a:prstGeom prst="rect">
            <a:avLst/>
          </a:prstGeom>
        </p:spPr>
        <p:txBody>
          <a:bodyPr anchor="ctr"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900">
                <a:solidFill>
                  <a:srgbClr val="888888"/>
                </a:solidFill>
              </a:defRPr>
            </a:pPr>
          </a:p>
        </p:txBody>
      </p:sp>
      <p:sp>
        <p:nvSpPr>
          <p:cNvPr id="162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Body Level One…"/>
          <p:cNvSpPr txBox="1"/>
          <p:nvPr>
            <p:ph type="body" sz="quarter" idx="1" hasCustomPrompt="1"/>
          </p:nvPr>
        </p:nvSpPr>
        <p:spPr>
          <a:xfrm>
            <a:off x="629841" y="273843"/>
            <a:ext cx="7886701" cy="994173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92000"/>
              </a:lnSpc>
              <a:spcBef>
                <a:spcPts val="0"/>
              </a:spcBef>
              <a:buClrTx/>
              <a:buSzTx/>
              <a:buFontTx/>
              <a:buNone/>
              <a:defRPr sz="3300"/>
            </a:lvl1pPr>
            <a:lvl2pPr marL="0" indent="0">
              <a:lnSpc>
                <a:spcPct val="92000"/>
              </a:lnSpc>
              <a:spcBef>
                <a:spcPts val="0"/>
              </a:spcBef>
              <a:buClrTx/>
              <a:buSzTx/>
              <a:buFontTx/>
              <a:buNone/>
              <a:defRPr sz="3300"/>
            </a:lvl2pPr>
            <a:lvl3pPr marL="0" indent="0">
              <a:lnSpc>
                <a:spcPct val="92000"/>
              </a:lnSpc>
              <a:spcBef>
                <a:spcPts val="0"/>
              </a:spcBef>
              <a:buClrTx/>
              <a:buSzTx/>
              <a:buFontTx/>
              <a:buNone/>
              <a:defRPr sz="3300"/>
            </a:lvl3pPr>
            <a:lvl4pPr marL="0" indent="0">
              <a:lnSpc>
                <a:spcPct val="92000"/>
              </a:lnSpc>
              <a:spcBef>
                <a:spcPts val="0"/>
              </a:spcBef>
              <a:buClrTx/>
              <a:buSzTx/>
              <a:buFontTx/>
              <a:buNone/>
              <a:defRPr sz="3300"/>
            </a:lvl4pPr>
            <a:lvl5pPr marL="0" indent="0">
              <a:lnSpc>
                <a:spcPct val="92000"/>
              </a:lnSpc>
              <a:spcBef>
                <a:spcPts val="0"/>
              </a:spcBef>
              <a:buClrTx/>
              <a:buSzTx/>
              <a:buFontTx/>
              <a:buNone/>
              <a:defRPr sz="3300"/>
            </a:lvl5pPr>
          </a:lstStyle>
          <a:p>
            <a:r>
              <a:t>Click to add title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70" name="AutoShape 3"/>
          <p:cNvSpPr/>
          <p:nvPr>
            <p:ph type="body" sz="quarter" idx="21" hasCustomPrompt="1"/>
          </p:nvPr>
        </p:nvSpPr>
        <p:spPr>
          <a:xfrm>
            <a:off x="629840" y="1260871"/>
            <a:ext cx="3868341" cy="617935"/>
          </a:xfrm>
          <a:prstGeom prst="rect">
            <a:avLst/>
          </a:prstGeom>
        </p:spPr>
        <p:txBody>
          <a:bodyPr anchor="b"/>
          <a:lstStyle>
            <a:lvl1pPr marL="228600" indent="0">
              <a:lnSpc>
                <a:spcPct val="92000"/>
              </a:lnSpc>
              <a:buClrTx/>
              <a:buSzTx/>
              <a:buFontTx/>
              <a:buNone/>
              <a:defRPr sz="1800" b="1"/>
            </a:lvl1pPr>
          </a:lstStyle>
          <a:p>
            <a:r>
              <a:t>Click to add text</a:t>
            </a:r>
          </a:p>
        </p:txBody>
      </p:sp>
      <p:sp>
        <p:nvSpPr>
          <p:cNvPr id="171" name="AutoShape 4"/>
          <p:cNvSpPr/>
          <p:nvPr>
            <p:ph type="body" sz="quarter" idx="22" hasCustomPrompt="1"/>
          </p:nvPr>
        </p:nvSpPr>
        <p:spPr>
          <a:xfrm>
            <a:off x="629840" y="1878806"/>
            <a:ext cx="3868341" cy="2763442"/>
          </a:xfrm>
          <a:prstGeom prst="rect">
            <a:avLst/>
          </a:prstGeom>
        </p:spPr>
        <p:txBody>
          <a:bodyPr/>
          <a:lstStyle>
            <a:lvl1pPr/>
          </a:lstStyle>
          <a:p>
            <a:r>
              <a:t>Click to add text</a:t>
            </a:r>
          </a:p>
        </p:txBody>
      </p:sp>
      <p:sp>
        <p:nvSpPr>
          <p:cNvPr id="172" name="AutoShape 5"/>
          <p:cNvSpPr/>
          <p:nvPr>
            <p:ph type="body" sz="quarter" idx="23" hasCustomPrompt="1"/>
          </p:nvPr>
        </p:nvSpPr>
        <p:spPr>
          <a:xfrm>
            <a:off x="4629150" y="1260871"/>
            <a:ext cx="3887392" cy="617935"/>
          </a:xfrm>
          <a:prstGeom prst="rect">
            <a:avLst/>
          </a:prstGeom>
        </p:spPr>
        <p:txBody>
          <a:bodyPr anchor="b"/>
          <a:lstStyle>
            <a:lvl1pPr marL="228600" indent="0">
              <a:lnSpc>
                <a:spcPct val="92000"/>
              </a:lnSpc>
              <a:buClrTx/>
              <a:buSzTx/>
              <a:buFontTx/>
              <a:buNone/>
              <a:defRPr sz="1800" b="1"/>
            </a:lvl1pPr>
          </a:lstStyle>
          <a:p>
            <a:r>
              <a:t>Click to add text</a:t>
            </a:r>
          </a:p>
        </p:txBody>
      </p:sp>
      <p:sp>
        <p:nvSpPr>
          <p:cNvPr id="173" name="AutoShape 6"/>
          <p:cNvSpPr/>
          <p:nvPr>
            <p:ph type="body" sz="quarter" idx="24" hasCustomPrompt="1"/>
          </p:nvPr>
        </p:nvSpPr>
        <p:spPr>
          <a:xfrm>
            <a:off x="4629150" y="1878806"/>
            <a:ext cx="3887392" cy="2763442"/>
          </a:xfrm>
          <a:prstGeom prst="rect">
            <a:avLst/>
          </a:prstGeom>
        </p:spPr>
        <p:txBody>
          <a:bodyPr/>
          <a:lstStyle>
            <a:lvl1pPr/>
          </a:lstStyle>
          <a:p>
            <a:r>
              <a:t>Click to add text</a:t>
            </a:r>
          </a:p>
        </p:txBody>
      </p:sp>
      <p:sp>
        <p:nvSpPr>
          <p:cNvPr id="174" name="AutoShape 7"/>
          <p:cNvSpPr/>
          <p:nvPr>
            <p:ph type="body" sz="quarter" idx="25" hasCustomPrompt="1"/>
          </p:nvPr>
        </p:nvSpPr>
        <p:spPr>
          <a:xfrm>
            <a:off x="628650" y="4767262"/>
            <a:ext cx="2057400" cy="27384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900">
                <a:solidFill>
                  <a:srgbClr val="888888"/>
                </a:solidFill>
              </a:defRPr>
            </a:lvl1pPr>
          </a:lstStyle>
          <a:p>
            <a:r>
              <a:t>Date</a:t>
            </a:r>
          </a:p>
        </p:txBody>
      </p:sp>
      <p:sp>
        <p:nvSpPr>
          <p:cNvPr id="175" name="AutoShape 8"/>
          <p:cNvSpPr/>
          <p:nvPr>
            <p:ph type="body" sz="quarter" idx="26" hasCustomPrompt="1"/>
          </p:nvPr>
        </p:nvSpPr>
        <p:spPr>
          <a:xfrm>
            <a:off x="3028950" y="4767262"/>
            <a:ext cx="3086100" cy="27384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900">
                <a:solidFill>
                  <a:srgbClr val="888888"/>
                </a:solidFill>
              </a:defRPr>
            </a:lvl1pPr>
          </a:lstStyle>
          <a:p>
            <a:r>
              <a:t>Footer</a:t>
            </a:r>
          </a:p>
        </p:txBody>
      </p:sp>
      <p:sp>
        <p:nvSpPr>
          <p:cNvPr id="176" name="AutoShape 9"/>
          <p:cNvSpPr/>
          <p:nvPr>
            <p:ph type="body" sz="quarter" idx="27"/>
          </p:nvPr>
        </p:nvSpPr>
        <p:spPr>
          <a:xfrm>
            <a:off x="6457950" y="4767262"/>
            <a:ext cx="2057400" cy="273845"/>
          </a:xfrm>
          <a:prstGeom prst="rect">
            <a:avLst/>
          </a:prstGeom>
        </p:spPr>
        <p:txBody>
          <a:bodyPr anchor="ctr"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900">
                <a:solidFill>
                  <a:srgbClr val="888888"/>
                </a:solidFill>
              </a:defRPr>
            </a:pPr>
          </a:p>
        </p:txBody>
      </p:sp>
      <p:sp>
        <p:nvSpPr>
          <p:cNvPr id="177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Body Level One…"/>
          <p:cNvSpPr txBox="1"/>
          <p:nvPr>
            <p:ph type="body" sz="quarter" idx="1" hasCustomPrompt="1"/>
          </p:nvPr>
        </p:nvSpPr>
        <p:spPr>
          <a:xfrm>
            <a:off x="628650" y="273843"/>
            <a:ext cx="7886700" cy="994173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92000"/>
              </a:lnSpc>
              <a:spcBef>
                <a:spcPts val="0"/>
              </a:spcBef>
              <a:buClrTx/>
              <a:buSzTx/>
              <a:buFontTx/>
              <a:buNone/>
              <a:defRPr sz="3300"/>
            </a:lvl1pPr>
            <a:lvl2pPr marL="0" indent="0">
              <a:lnSpc>
                <a:spcPct val="92000"/>
              </a:lnSpc>
              <a:spcBef>
                <a:spcPts val="0"/>
              </a:spcBef>
              <a:buClrTx/>
              <a:buSzTx/>
              <a:buFontTx/>
              <a:buNone/>
              <a:defRPr sz="3300"/>
            </a:lvl2pPr>
            <a:lvl3pPr marL="0" indent="0">
              <a:lnSpc>
                <a:spcPct val="92000"/>
              </a:lnSpc>
              <a:spcBef>
                <a:spcPts val="0"/>
              </a:spcBef>
              <a:buClrTx/>
              <a:buSzTx/>
              <a:buFontTx/>
              <a:buNone/>
              <a:defRPr sz="3300"/>
            </a:lvl3pPr>
            <a:lvl4pPr marL="0" indent="0">
              <a:lnSpc>
                <a:spcPct val="92000"/>
              </a:lnSpc>
              <a:spcBef>
                <a:spcPts val="0"/>
              </a:spcBef>
              <a:buClrTx/>
              <a:buSzTx/>
              <a:buFontTx/>
              <a:buNone/>
              <a:defRPr sz="3300"/>
            </a:lvl4pPr>
            <a:lvl5pPr marL="0" indent="0">
              <a:lnSpc>
                <a:spcPct val="92000"/>
              </a:lnSpc>
              <a:spcBef>
                <a:spcPts val="0"/>
              </a:spcBef>
              <a:buClrTx/>
              <a:buSzTx/>
              <a:buFontTx/>
              <a:buNone/>
              <a:defRPr sz="3300"/>
            </a:lvl5pPr>
          </a:lstStyle>
          <a:p>
            <a:r>
              <a:t>Click to add title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85" name="AutoShape 3"/>
          <p:cNvSpPr/>
          <p:nvPr>
            <p:ph type="body" sz="quarter" idx="21" hasCustomPrompt="1"/>
          </p:nvPr>
        </p:nvSpPr>
        <p:spPr>
          <a:xfrm>
            <a:off x="628650" y="4767262"/>
            <a:ext cx="2057400" cy="27384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900">
                <a:solidFill>
                  <a:srgbClr val="888888"/>
                </a:solidFill>
              </a:defRPr>
            </a:lvl1pPr>
          </a:lstStyle>
          <a:p>
            <a:r>
              <a:t>Date</a:t>
            </a:r>
          </a:p>
        </p:txBody>
      </p:sp>
      <p:sp>
        <p:nvSpPr>
          <p:cNvPr id="186" name="AutoShape 4"/>
          <p:cNvSpPr/>
          <p:nvPr>
            <p:ph type="body" sz="quarter" idx="22" hasCustomPrompt="1"/>
          </p:nvPr>
        </p:nvSpPr>
        <p:spPr>
          <a:xfrm>
            <a:off x="3028950" y="4767262"/>
            <a:ext cx="3086100" cy="27384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900">
                <a:solidFill>
                  <a:srgbClr val="888888"/>
                </a:solidFill>
              </a:defRPr>
            </a:lvl1pPr>
          </a:lstStyle>
          <a:p>
            <a:r>
              <a:t>Footer</a:t>
            </a:r>
          </a:p>
        </p:txBody>
      </p:sp>
      <p:sp>
        <p:nvSpPr>
          <p:cNvPr id="187" name="AutoShape 5"/>
          <p:cNvSpPr/>
          <p:nvPr>
            <p:ph type="body" sz="quarter" idx="23"/>
          </p:nvPr>
        </p:nvSpPr>
        <p:spPr>
          <a:xfrm>
            <a:off x="6457950" y="4767262"/>
            <a:ext cx="2057400" cy="273845"/>
          </a:xfrm>
          <a:prstGeom prst="rect">
            <a:avLst/>
          </a:prstGeom>
        </p:spPr>
        <p:txBody>
          <a:bodyPr anchor="ctr"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900">
                <a:solidFill>
                  <a:srgbClr val="888888"/>
                </a:solidFill>
              </a:defRPr>
            </a:pPr>
          </a:p>
        </p:txBody>
      </p:sp>
      <p:sp>
        <p:nvSpPr>
          <p:cNvPr id="188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Body Level One…"/>
          <p:cNvSpPr txBox="1"/>
          <p:nvPr>
            <p:ph type="body" sz="quarter" idx="1" hasCustomPrompt="1"/>
          </p:nvPr>
        </p:nvSpPr>
        <p:spPr>
          <a:xfrm>
            <a:off x="628650" y="4767262"/>
            <a:ext cx="2057400" cy="27384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900">
                <a:solidFill>
                  <a:srgbClr val="888888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900">
                <a:solidFill>
                  <a:srgbClr val="888888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900">
                <a:solidFill>
                  <a:srgbClr val="888888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900">
                <a:solidFill>
                  <a:srgbClr val="888888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900">
                <a:solidFill>
                  <a:srgbClr val="888888"/>
                </a:solidFill>
              </a:defRPr>
            </a:lvl5pPr>
          </a:lstStyle>
          <a:p>
            <a:r>
              <a:t>Date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96" name="AutoShape 3"/>
          <p:cNvSpPr/>
          <p:nvPr>
            <p:ph type="body" sz="quarter" idx="21" hasCustomPrompt="1"/>
          </p:nvPr>
        </p:nvSpPr>
        <p:spPr>
          <a:xfrm>
            <a:off x="3028950" y="4767262"/>
            <a:ext cx="3086100" cy="27384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900">
                <a:solidFill>
                  <a:srgbClr val="888888"/>
                </a:solidFill>
              </a:defRPr>
            </a:lvl1pPr>
          </a:lstStyle>
          <a:p>
            <a:r>
              <a:t>Footer</a:t>
            </a:r>
          </a:p>
        </p:txBody>
      </p:sp>
      <p:sp>
        <p:nvSpPr>
          <p:cNvPr id="197" name="AutoShape 4"/>
          <p:cNvSpPr/>
          <p:nvPr>
            <p:ph type="body" sz="quarter" idx="22"/>
          </p:nvPr>
        </p:nvSpPr>
        <p:spPr>
          <a:xfrm>
            <a:off x="6457950" y="4767262"/>
            <a:ext cx="2057400" cy="273845"/>
          </a:xfrm>
          <a:prstGeom prst="rect">
            <a:avLst/>
          </a:prstGeom>
        </p:spPr>
        <p:txBody>
          <a:bodyPr anchor="ctr"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900">
                <a:solidFill>
                  <a:srgbClr val="888888"/>
                </a:solidFill>
              </a:defRPr>
            </a:pPr>
          </a:p>
        </p:txBody>
      </p:sp>
      <p:sp>
        <p:nvSpPr>
          <p:cNvPr id="198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Body Level One…"/>
          <p:cNvSpPr txBox="1"/>
          <p:nvPr>
            <p:ph type="body" sz="quarter" idx="1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92000"/>
              </a:lnSpc>
              <a:spcBef>
                <a:spcPts val="0"/>
              </a:spcBef>
              <a:buClrTx/>
              <a:buSzTx/>
              <a:buFontTx/>
              <a:buNone/>
              <a:defRPr sz="2400"/>
            </a:lvl1pPr>
            <a:lvl2pPr marL="0" indent="0">
              <a:lnSpc>
                <a:spcPct val="92000"/>
              </a:lnSpc>
              <a:spcBef>
                <a:spcPts val="0"/>
              </a:spcBef>
              <a:buClrTx/>
              <a:buSzTx/>
              <a:buFontTx/>
              <a:buNone/>
              <a:defRPr sz="2400"/>
            </a:lvl2pPr>
            <a:lvl3pPr marL="0" indent="0">
              <a:lnSpc>
                <a:spcPct val="92000"/>
              </a:lnSpc>
              <a:spcBef>
                <a:spcPts val="0"/>
              </a:spcBef>
              <a:buClrTx/>
              <a:buSzTx/>
              <a:buFontTx/>
              <a:buNone/>
              <a:defRPr sz="2400"/>
            </a:lvl3pPr>
            <a:lvl4pPr marL="0" indent="0">
              <a:lnSpc>
                <a:spcPct val="92000"/>
              </a:lnSpc>
              <a:spcBef>
                <a:spcPts val="0"/>
              </a:spcBef>
              <a:buClrTx/>
              <a:buSzTx/>
              <a:buFontTx/>
              <a:buNone/>
              <a:defRPr sz="2400"/>
            </a:lvl4pPr>
            <a:lvl5pPr marL="0" indent="0">
              <a:lnSpc>
                <a:spcPct val="92000"/>
              </a:lnSpc>
              <a:spcBef>
                <a:spcPts val="0"/>
              </a:spcBef>
              <a:buClrTx/>
              <a:buSzTx/>
              <a:buFontTx/>
              <a:buNone/>
              <a:defRPr sz="2400"/>
            </a:lvl5pPr>
          </a:lstStyle>
          <a:p>
            <a:r>
              <a:t>Click to add title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206" name="AutoShape 3"/>
          <p:cNvSpPr/>
          <p:nvPr>
            <p:ph type="body" sz="half" idx="21" hasCustomPrompt="1"/>
          </p:nvPr>
        </p:nvSpPr>
        <p:spPr>
          <a:xfrm>
            <a:off x="3887391" y="740568"/>
            <a:ext cx="4629151" cy="3655221"/>
          </a:xfrm>
          <a:prstGeom prst="rect">
            <a:avLst/>
          </a:prstGeom>
        </p:spPr>
        <p:txBody>
          <a:bodyPr/>
          <a:lstStyle>
            <a:lvl1pPr marL="381000" indent="-304800">
              <a:lnSpc>
                <a:spcPct val="92000"/>
              </a:lnSpc>
              <a:buClrTx/>
              <a:buSzTx/>
              <a:buFontTx/>
              <a:buNone/>
              <a:defRPr sz="2400"/>
            </a:lvl1pPr>
          </a:lstStyle>
          <a:p>
            <a:r>
              <a:t>Click to add text</a:t>
            </a:r>
          </a:p>
        </p:txBody>
      </p:sp>
      <p:sp>
        <p:nvSpPr>
          <p:cNvPr id="207" name="AutoShape 4"/>
          <p:cNvSpPr/>
          <p:nvPr>
            <p:ph type="body" sz="quarter" idx="22" hasCustomPrompt="1"/>
          </p:nvPr>
        </p:nvSpPr>
        <p:spPr>
          <a:xfrm>
            <a:off x="629840" y="1543050"/>
            <a:ext cx="2949180" cy="2858692"/>
          </a:xfrm>
          <a:prstGeom prst="rect">
            <a:avLst/>
          </a:prstGeom>
        </p:spPr>
        <p:txBody>
          <a:bodyPr/>
          <a:lstStyle>
            <a:lvl1pPr marL="228600" indent="0">
              <a:lnSpc>
                <a:spcPct val="92000"/>
              </a:lnSpc>
              <a:buClrTx/>
              <a:buSzTx/>
              <a:buFontTx/>
              <a:buNone/>
              <a:defRPr sz="1200"/>
            </a:lvl1pPr>
          </a:lstStyle>
          <a:p>
            <a:r>
              <a:t>Click to add text</a:t>
            </a:r>
          </a:p>
        </p:txBody>
      </p:sp>
      <p:sp>
        <p:nvSpPr>
          <p:cNvPr id="208" name="AutoShape 5"/>
          <p:cNvSpPr/>
          <p:nvPr>
            <p:ph type="body" sz="quarter" idx="23" hasCustomPrompt="1"/>
          </p:nvPr>
        </p:nvSpPr>
        <p:spPr>
          <a:xfrm>
            <a:off x="628650" y="4767262"/>
            <a:ext cx="2057400" cy="27384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900">
                <a:solidFill>
                  <a:srgbClr val="888888"/>
                </a:solidFill>
              </a:defRPr>
            </a:lvl1pPr>
          </a:lstStyle>
          <a:p>
            <a:r>
              <a:t>Date</a:t>
            </a:r>
          </a:p>
        </p:txBody>
      </p:sp>
      <p:sp>
        <p:nvSpPr>
          <p:cNvPr id="209" name="AutoShape 6"/>
          <p:cNvSpPr/>
          <p:nvPr>
            <p:ph type="body" sz="quarter" idx="24" hasCustomPrompt="1"/>
          </p:nvPr>
        </p:nvSpPr>
        <p:spPr>
          <a:xfrm>
            <a:off x="3028950" y="4767262"/>
            <a:ext cx="3086100" cy="27384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900">
                <a:solidFill>
                  <a:srgbClr val="888888"/>
                </a:solidFill>
              </a:defRPr>
            </a:lvl1pPr>
          </a:lstStyle>
          <a:p>
            <a:r>
              <a:t>Footer</a:t>
            </a:r>
          </a:p>
        </p:txBody>
      </p:sp>
      <p:sp>
        <p:nvSpPr>
          <p:cNvPr id="210" name="AutoShape 7"/>
          <p:cNvSpPr/>
          <p:nvPr>
            <p:ph type="body" sz="quarter" idx="25"/>
          </p:nvPr>
        </p:nvSpPr>
        <p:spPr>
          <a:xfrm>
            <a:off x="6457950" y="4767262"/>
            <a:ext cx="2057400" cy="273845"/>
          </a:xfrm>
          <a:prstGeom prst="rect">
            <a:avLst/>
          </a:prstGeom>
        </p:spPr>
        <p:txBody>
          <a:bodyPr anchor="ctr"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900">
                <a:solidFill>
                  <a:srgbClr val="888888"/>
                </a:solidFill>
              </a:defRPr>
            </a:pPr>
          </a:p>
        </p:txBody>
      </p:sp>
      <p:sp>
        <p:nvSpPr>
          <p:cNvPr id="211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Body Level One…"/>
          <p:cNvSpPr txBox="1"/>
          <p:nvPr>
            <p:ph type="body" sz="quarter" idx="1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92000"/>
              </a:lnSpc>
              <a:spcBef>
                <a:spcPts val="0"/>
              </a:spcBef>
              <a:buClrTx/>
              <a:buSzTx/>
              <a:buFontTx/>
              <a:buNone/>
              <a:defRPr sz="2400"/>
            </a:lvl1pPr>
            <a:lvl2pPr marL="0" indent="0">
              <a:lnSpc>
                <a:spcPct val="92000"/>
              </a:lnSpc>
              <a:spcBef>
                <a:spcPts val="0"/>
              </a:spcBef>
              <a:buClrTx/>
              <a:buSzTx/>
              <a:buFontTx/>
              <a:buNone/>
              <a:defRPr sz="2400"/>
            </a:lvl2pPr>
            <a:lvl3pPr marL="0" indent="0">
              <a:lnSpc>
                <a:spcPct val="92000"/>
              </a:lnSpc>
              <a:spcBef>
                <a:spcPts val="0"/>
              </a:spcBef>
              <a:buClrTx/>
              <a:buSzTx/>
              <a:buFontTx/>
              <a:buNone/>
              <a:defRPr sz="2400"/>
            </a:lvl3pPr>
            <a:lvl4pPr marL="0" indent="0">
              <a:lnSpc>
                <a:spcPct val="92000"/>
              </a:lnSpc>
              <a:spcBef>
                <a:spcPts val="0"/>
              </a:spcBef>
              <a:buClrTx/>
              <a:buSzTx/>
              <a:buFontTx/>
              <a:buNone/>
              <a:defRPr sz="2400"/>
            </a:lvl4pPr>
            <a:lvl5pPr marL="0" indent="0">
              <a:lnSpc>
                <a:spcPct val="92000"/>
              </a:lnSpc>
              <a:spcBef>
                <a:spcPts val="0"/>
              </a:spcBef>
              <a:buClrTx/>
              <a:buSzTx/>
              <a:buFontTx/>
              <a:buNone/>
              <a:defRPr sz="2400"/>
            </a:lvl5pPr>
          </a:lstStyle>
          <a:p>
            <a:r>
              <a:t>Click to add title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219" name="AutoShape 3"/>
          <p:cNvSpPr/>
          <p:nvPr>
            <p:ph type="pic" sz="half" idx="21"/>
          </p:nvPr>
        </p:nvSpPr>
        <p:spPr>
          <a:xfrm>
            <a:off x="3887391" y="740568"/>
            <a:ext cx="4629151" cy="365522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220" name="AutoShape 4"/>
          <p:cNvSpPr/>
          <p:nvPr>
            <p:ph type="body" sz="quarter" idx="22" hasCustomPrompt="1"/>
          </p:nvPr>
        </p:nvSpPr>
        <p:spPr>
          <a:xfrm>
            <a:off x="629840" y="1543050"/>
            <a:ext cx="2949180" cy="2858692"/>
          </a:xfrm>
          <a:prstGeom prst="rect">
            <a:avLst/>
          </a:prstGeom>
        </p:spPr>
        <p:txBody>
          <a:bodyPr/>
          <a:lstStyle>
            <a:lvl1pPr marL="228600" indent="0">
              <a:lnSpc>
                <a:spcPct val="92000"/>
              </a:lnSpc>
              <a:buClrTx/>
              <a:buSzTx/>
              <a:buFontTx/>
              <a:buNone/>
              <a:defRPr sz="1200"/>
            </a:lvl1pPr>
          </a:lstStyle>
          <a:p>
            <a:r>
              <a:t>Click to add text</a:t>
            </a:r>
          </a:p>
        </p:txBody>
      </p:sp>
      <p:sp>
        <p:nvSpPr>
          <p:cNvPr id="221" name="AutoShape 5"/>
          <p:cNvSpPr/>
          <p:nvPr>
            <p:ph type="body" sz="quarter" idx="23" hasCustomPrompt="1"/>
          </p:nvPr>
        </p:nvSpPr>
        <p:spPr>
          <a:xfrm>
            <a:off x="628650" y="4767262"/>
            <a:ext cx="2057400" cy="27384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900">
                <a:solidFill>
                  <a:srgbClr val="888888"/>
                </a:solidFill>
              </a:defRPr>
            </a:lvl1pPr>
          </a:lstStyle>
          <a:p>
            <a:r>
              <a:t>Date</a:t>
            </a:r>
          </a:p>
        </p:txBody>
      </p:sp>
      <p:sp>
        <p:nvSpPr>
          <p:cNvPr id="222" name="AutoShape 6"/>
          <p:cNvSpPr/>
          <p:nvPr>
            <p:ph type="body" sz="quarter" idx="24" hasCustomPrompt="1"/>
          </p:nvPr>
        </p:nvSpPr>
        <p:spPr>
          <a:xfrm>
            <a:off x="3028950" y="4767262"/>
            <a:ext cx="3086100" cy="27384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900">
                <a:solidFill>
                  <a:srgbClr val="888888"/>
                </a:solidFill>
              </a:defRPr>
            </a:lvl1pPr>
          </a:lstStyle>
          <a:p>
            <a:r>
              <a:t>Footer</a:t>
            </a:r>
          </a:p>
        </p:txBody>
      </p:sp>
      <p:sp>
        <p:nvSpPr>
          <p:cNvPr id="223" name="AutoShape 7"/>
          <p:cNvSpPr/>
          <p:nvPr>
            <p:ph type="body" sz="quarter" idx="25"/>
          </p:nvPr>
        </p:nvSpPr>
        <p:spPr>
          <a:xfrm>
            <a:off x="6457950" y="4767262"/>
            <a:ext cx="2057400" cy="273845"/>
          </a:xfrm>
          <a:prstGeom prst="rect">
            <a:avLst/>
          </a:prstGeom>
        </p:spPr>
        <p:txBody>
          <a:bodyPr anchor="ctr"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900">
                <a:solidFill>
                  <a:srgbClr val="888888"/>
                </a:solidFill>
              </a:defRPr>
            </a:pPr>
          </a:p>
        </p:txBody>
      </p:sp>
      <p:sp>
        <p:nvSpPr>
          <p:cNvPr id="224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Body Level One…"/>
          <p:cNvSpPr txBox="1"/>
          <p:nvPr>
            <p:ph type="body" sz="quarter" idx="1" hasCustomPrompt="1"/>
          </p:nvPr>
        </p:nvSpPr>
        <p:spPr>
          <a:xfrm>
            <a:off x="628650" y="273843"/>
            <a:ext cx="7886700" cy="994173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92000"/>
              </a:lnSpc>
              <a:spcBef>
                <a:spcPts val="0"/>
              </a:spcBef>
              <a:buClrTx/>
              <a:buSzTx/>
              <a:buFontTx/>
              <a:buNone/>
              <a:defRPr sz="3300"/>
            </a:lvl1pPr>
            <a:lvl2pPr marL="0" indent="0">
              <a:lnSpc>
                <a:spcPct val="92000"/>
              </a:lnSpc>
              <a:spcBef>
                <a:spcPts val="0"/>
              </a:spcBef>
              <a:buClrTx/>
              <a:buSzTx/>
              <a:buFontTx/>
              <a:buNone/>
              <a:defRPr sz="3300"/>
            </a:lvl2pPr>
            <a:lvl3pPr marL="0" indent="0">
              <a:lnSpc>
                <a:spcPct val="92000"/>
              </a:lnSpc>
              <a:spcBef>
                <a:spcPts val="0"/>
              </a:spcBef>
              <a:buClrTx/>
              <a:buSzTx/>
              <a:buFontTx/>
              <a:buNone/>
              <a:defRPr sz="3300"/>
            </a:lvl3pPr>
            <a:lvl4pPr marL="0" indent="0">
              <a:lnSpc>
                <a:spcPct val="92000"/>
              </a:lnSpc>
              <a:spcBef>
                <a:spcPts val="0"/>
              </a:spcBef>
              <a:buClrTx/>
              <a:buSzTx/>
              <a:buFontTx/>
              <a:buNone/>
              <a:defRPr sz="3300"/>
            </a:lvl4pPr>
            <a:lvl5pPr marL="0" indent="0">
              <a:lnSpc>
                <a:spcPct val="92000"/>
              </a:lnSpc>
              <a:spcBef>
                <a:spcPts val="0"/>
              </a:spcBef>
              <a:buClrTx/>
              <a:buSzTx/>
              <a:buFontTx/>
              <a:buNone/>
              <a:defRPr sz="3300"/>
            </a:lvl5pPr>
          </a:lstStyle>
          <a:p>
            <a:r>
              <a:t>Click to add title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232" name="AutoShape 3"/>
          <p:cNvSpPr/>
          <p:nvPr>
            <p:ph type="body" sz="half" idx="21" hasCustomPrompt="1"/>
          </p:nvPr>
        </p:nvSpPr>
        <p:spPr>
          <a:xfrm rot="5400000">
            <a:off x="2940248" y="-942379"/>
            <a:ext cx="3263504" cy="7886701"/>
          </a:xfrm>
          <a:prstGeom prst="rect">
            <a:avLst/>
          </a:prstGeom>
        </p:spPr>
        <p:txBody>
          <a:bodyPr/>
          <a:lstStyle>
            <a:lvl1pPr/>
          </a:lstStyle>
          <a:p>
            <a:r>
              <a:t>Click to add text</a:t>
            </a:r>
          </a:p>
        </p:txBody>
      </p:sp>
      <p:sp>
        <p:nvSpPr>
          <p:cNvPr id="233" name="AutoShape 4"/>
          <p:cNvSpPr/>
          <p:nvPr>
            <p:ph type="body" sz="quarter" idx="22" hasCustomPrompt="1"/>
          </p:nvPr>
        </p:nvSpPr>
        <p:spPr>
          <a:xfrm>
            <a:off x="628650" y="4767262"/>
            <a:ext cx="2057400" cy="27384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900">
                <a:solidFill>
                  <a:srgbClr val="888888"/>
                </a:solidFill>
              </a:defRPr>
            </a:lvl1pPr>
          </a:lstStyle>
          <a:p>
            <a:r>
              <a:t>Date</a:t>
            </a:r>
          </a:p>
        </p:txBody>
      </p:sp>
      <p:sp>
        <p:nvSpPr>
          <p:cNvPr id="234" name="AutoShape 5"/>
          <p:cNvSpPr/>
          <p:nvPr>
            <p:ph type="body" sz="quarter" idx="23" hasCustomPrompt="1"/>
          </p:nvPr>
        </p:nvSpPr>
        <p:spPr>
          <a:xfrm>
            <a:off x="3028950" y="4767262"/>
            <a:ext cx="3086100" cy="27384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900">
                <a:solidFill>
                  <a:srgbClr val="888888"/>
                </a:solidFill>
              </a:defRPr>
            </a:lvl1pPr>
          </a:lstStyle>
          <a:p>
            <a:r>
              <a:t>Footer</a:t>
            </a:r>
          </a:p>
        </p:txBody>
      </p:sp>
      <p:sp>
        <p:nvSpPr>
          <p:cNvPr id="235" name="AutoShape 6"/>
          <p:cNvSpPr/>
          <p:nvPr>
            <p:ph type="body" sz="quarter" idx="24"/>
          </p:nvPr>
        </p:nvSpPr>
        <p:spPr>
          <a:xfrm>
            <a:off x="6457950" y="4767262"/>
            <a:ext cx="2057400" cy="273845"/>
          </a:xfrm>
          <a:prstGeom prst="rect">
            <a:avLst/>
          </a:prstGeom>
        </p:spPr>
        <p:txBody>
          <a:bodyPr anchor="ctr"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900">
                <a:solidFill>
                  <a:srgbClr val="888888"/>
                </a:solidFill>
              </a:defRPr>
            </a:pPr>
          </a:p>
        </p:txBody>
      </p:sp>
      <p:sp>
        <p:nvSpPr>
          <p:cNvPr id="236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Body Level One…"/>
          <p:cNvSpPr txBox="1"/>
          <p:nvPr>
            <p:ph type="body" sz="quarter" idx="1" hasCustomPrompt="1"/>
          </p:nvPr>
        </p:nvSpPr>
        <p:spPr>
          <a:xfrm rot="5400000">
            <a:off x="5350073" y="1467445"/>
            <a:ext cx="4358879" cy="1971676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92000"/>
              </a:lnSpc>
              <a:spcBef>
                <a:spcPts val="0"/>
              </a:spcBef>
              <a:buClrTx/>
              <a:buSzTx/>
              <a:buFontTx/>
              <a:buNone/>
              <a:defRPr sz="3300"/>
            </a:lvl1pPr>
            <a:lvl2pPr marL="0" indent="0">
              <a:lnSpc>
                <a:spcPct val="92000"/>
              </a:lnSpc>
              <a:spcBef>
                <a:spcPts val="0"/>
              </a:spcBef>
              <a:buClrTx/>
              <a:buSzTx/>
              <a:buFontTx/>
              <a:buNone/>
              <a:defRPr sz="3300"/>
            </a:lvl2pPr>
            <a:lvl3pPr marL="0" indent="0">
              <a:lnSpc>
                <a:spcPct val="92000"/>
              </a:lnSpc>
              <a:spcBef>
                <a:spcPts val="0"/>
              </a:spcBef>
              <a:buClrTx/>
              <a:buSzTx/>
              <a:buFontTx/>
              <a:buNone/>
              <a:defRPr sz="3300"/>
            </a:lvl3pPr>
            <a:lvl4pPr marL="0" indent="0">
              <a:lnSpc>
                <a:spcPct val="92000"/>
              </a:lnSpc>
              <a:spcBef>
                <a:spcPts val="0"/>
              </a:spcBef>
              <a:buClrTx/>
              <a:buSzTx/>
              <a:buFontTx/>
              <a:buNone/>
              <a:defRPr sz="3300"/>
            </a:lvl4pPr>
            <a:lvl5pPr marL="0" indent="0">
              <a:lnSpc>
                <a:spcPct val="92000"/>
              </a:lnSpc>
              <a:spcBef>
                <a:spcPts val="0"/>
              </a:spcBef>
              <a:buClrTx/>
              <a:buSzTx/>
              <a:buFontTx/>
              <a:buNone/>
              <a:defRPr sz="3300"/>
            </a:lvl5pPr>
          </a:lstStyle>
          <a:p>
            <a:r>
              <a:t>Click to add title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244" name="AutoShape 3"/>
          <p:cNvSpPr/>
          <p:nvPr>
            <p:ph type="body" sz="half" idx="21" hasCustomPrompt="1"/>
          </p:nvPr>
        </p:nvSpPr>
        <p:spPr>
          <a:xfrm rot="5400000">
            <a:off x="1349572" y="-447080"/>
            <a:ext cx="4358880" cy="5800726"/>
          </a:xfrm>
          <a:prstGeom prst="rect">
            <a:avLst/>
          </a:prstGeom>
        </p:spPr>
        <p:txBody>
          <a:bodyPr/>
          <a:lstStyle>
            <a:lvl1pPr/>
          </a:lstStyle>
          <a:p>
            <a:r>
              <a:t>Click to add text</a:t>
            </a:r>
          </a:p>
        </p:txBody>
      </p:sp>
      <p:sp>
        <p:nvSpPr>
          <p:cNvPr id="245" name="AutoShape 4"/>
          <p:cNvSpPr/>
          <p:nvPr>
            <p:ph type="body" sz="quarter" idx="22" hasCustomPrompt="1"/>
          </p:nvPr>
        </p:nvSpPr>
        <p:spPr>
          <a:xfrm>
            <a:off x="628650" y="4767262"/>
            <a:ext cx="2057400" cy="27384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900">
                <a:solidFill>
                  <a:srgbClr val="888888"/>
                </a:solidFill>
              </a:defRPr>
            </a:lvl1pPr>
          </a:lstStyle>
          <a:p>
            <a:r>
              <a:t>Date</a:t>
            </a:r>
          </a:p>
        </p:txBody>
      </p:sp>
      <p:sp>
        <p:nvSpPr>
          <p:cNvPr id="246" name="AutoShape 5"/>
          <p:cNvSpPr/>
          <p:nvPr>
            <p:ph type="body" sz="quarter" idx="23" hasCustomPrompt="1"/>
          </p:nvPr>
        </p:nvSpPr>
        <p:spPr>
          <a:xfrm>
            <a:off x="3028950" y="4767262"/>
            <a:ext cx="3086100" cy="27384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900">
                <a:solidFill>
                  <a:srgbClr val="888888"/>
                </a:solidFill>
              </a:defRPr>
            </a:lvl1pPr>
          </a:lstStyle>
          <a:p>
            <a:r>
              <a:t>Footer</a:t>
            </a:r>
          </a:p>
        </p:txBody>
      </p:sp>
      <p:sp>
        <p:nvSpPr>
          <p:cNvPr id="247" name="AutoShape 6"/>
          <p:cNvSpPr/>
          <p:nvPr>
            <p:ph type="body" sz="quarter" idx="24"/>
          </p:nvPr>
        </p:nvSpPr>
        <p:spPr>
          <a:xfrm>
            <a:off x="6457950" y="4767262"/>
            <a:ext cx="2057400" cy="273845"/>
          </a:xfrm>
          <a:prstGeom prst="rect">
            <a:avLst/>
          </a:prstGeom>
        </p:spPr>
        <p:txBody>
          <a:bodyPr anchor="ctr"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900">
                <a:solidFill>
                  <a:srgbClr val="888888"/>
                </a:solidFill>
              </a:defRPr>
            </a:pPr>
          </a:p>
        </p:txBody>
      </p:sp>
      <p:sp>
        <p:nvSpPr>
          <p:cNvPr id="248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4" Type="http://schemas.openxmlformats.org/officeDocument/2006/relationships/theme" Target="../theme/theme1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</p:spPr>
        <p:txBody>
          <a:bodyPr lIns="34275" tIns="34275" rIns="34275" bIns="34275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</p:spPr>
        <p:txBody>
          <a:bodyPr lIns="34275" tIns="34275" rIns="34275" bIns="34275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306963" y="4808279"/>
            <a:ext cx="208388" cy="191812"/>
          </a:xfrm>
          <a:prstGeom prst="rect">
            <a:avLst/>
          </a:prstGeom>
          <a:ln w="12700">
            <a:miter lim="400000"/>
          </a:ln>
        </p:spPr>
        <p:txBody>
          <a:bodyPr wrap="none" lIns="34275" tIns="34275" rIns="34275" bIns="34275" anchor="ctr">
            <a:spAutoFit/>
          </a:bodyPr>
          <a:lstStyle>
            <a:lvl1pPr algn="r">
              <a:defRPr sz="9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9pPr>
    </p:titleStyle>
    <p:bodyStyle>
      <a:lvl1pPr marL="457200" marR="0" indent="-361950" algn="l" defTabSz="914400" rtl="0" latinLnBrk="0">
        <a:lnSpc>
          <a:spcPct val="90000"/>
        </a:lnSpc>
        <a:spcBef>
          <a:spcPts val="800"/>
        </a:spcBef>
        <a:spcAft>
          <a:spcPts val="0"/>
        </a:spcAft>
        <a:buClr>
          <a:srgbClr val="000000"/>
        </a:buClr>
        <a:buSzPts val="2100"/>
        <a:buFont typeface="Arial" panose="020B0604020202020204"/>
        <a:buChar char="•"/>
        <a:defRPr sz="21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1pPr>
      <a:lvl2pPr marL="971550" marR="0" indent="-400050" algn="l" defTabSz="914400" rtl="0" latinLnBrk="0">
        <a:lnSpc>
          <a:spcPct val="90000"/>
        </a:lnSpc>
        <a:spcBef>
          <a:spcPts val="800"/>
        </a:spcBef>
        <a:spcAft>
          <a:spcPts val="0"/>
        </a:spcAft>
        <a:buClr>
          <a:srgbClr val="000000"/>
        </a:buClr>
        <a:buSzPts val="2100"/>
        <a:buFont typeface="Arial" panose="020B0604020202020204"/>
        <a:buChar char="•"/>
        <a:defRPr sz="21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2pPr>
      <a:lvl3pPr marL="1501140" marR="0" indent="-453390" algn="l" defTabSz="914400" rtl="0" latinLnBrk="0">
        <a:lnSpc>
          <a:spcPct val="90000"/>
        </a:lnSpc>
        <a:spcBef>
          <a:spcPts val="800"/>
        </a:spcBef>
        <a:spcAft>
          <a:spcPts val="0"/>
        </a:spcAft>
        <a:buClr>
          <a:srgbClr val="000000"/>
        </a:buClr>
        <a:buSzPts val="2100"/>
        <a:buFont typeface="Arial" panose="020B0604020202020204"/>
        <a:buChar char="•"/>
        <a:defRPr sz="21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3pPr>
      <a:lvl4pPr marL="1987550" marR="0" indent="-476250" algn="l" defTabSz="914400" rtl="0" latinLnBrk="0">
        <a:lnSpc>
          <a:spcPct val="90000"/>
        </a:lnSpc>
        <a:spcBef>
          <a:spcPts val="800"/>
        </a:spcBef>
        <a:spcAft>
          <a:spcPts val="0"/>
        </a:spcAft>
        <a:buClr>
          <a:srgbClr val="000000"/>
        </a:buClr>
        <a:buSzPts val="2100"/>
        <a:buFont typeface="Arial" panose="020B0604020202020204"/>
        <a:buChar char="•"/>
        <a:defRPr sz="21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4pPr>
      <a:lvl5pPr marL="2444750" marR="0" indent="-476250" algn="l" defTabSz="914400" rtl="0" latinLnBrk="0">
        <a:lnSpc>
          <a:spcPct val="90000"/>
        </a:lnSpc>
        <a:spcBef>
          <a:spcPts val="800"/>
        </a:spcBef>
        <a:spcAft>
          <a:spcPts val="0"/>
        </a:spcAft>
        <a:buClr>
          <a:srgbClr val="000000"/>
        </a:buClr>
        <a:buSzPts val="2100"/>
        <a:buFont typeface="Arial" panose="020B0604020202020204"/>
        <a:buChar char="•"/>
        <a:defRPr sz="21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5pPr>
      <a:lvl6pPr marL="2901950" marR="0" indent="-476250" algn="l" defTabSz="914400" rtl="0" latinLnBrk="0">
        <a:lnSpc>
          <a:spcPct val="90000"/>
        </a:lnSpc>
        <a:spcBef>
          <a:spcPts val="800"/>
        </a:spcBef>
        <a:spcAft>
          <a:spcPts val="0"/>
        </a:spcAft>
        <a:buClr>
          <a:srgbClr val="000000"/>
        </a:buClr>
        <a:buSzPts val="2100"/>
        <a:buFont typeface="Arial" panose="020B0604020202020204"/>
        <a:buChar char="•"/>
        <a:defRPr sz="21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6pPr>
      <a:lvl7pPr marL="3359150" marR="0" indent="-476250" algn="l" defTabSz="914400" rtl="0" latinLnBrk="0">
        <a:lnSpc>
          <a:spcPct val="90000"/>
        </a:lnSpc>
        <a:spcBef>
          <a:spcPts val="800"/>
        </a:spcBef>
        <a:spcAft>
          <a:spcPts val="0"/>
        </a:spcAft>
        <a:buClr>
          <a:srgbClr val="000000"/>
        </a:buClr>
        <a:buSzPts val="2100"/>
        <a:buFont typeface="Arial" panose="020B0604020202020204"/>
        <a:buChar char="•"/>
        <a:defRPr sz="21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7pPr>
      <a:lvl8pPr marL="3816350" marR="0" indent="-476250" algn="l" defTabSz="914400" rtl="0" latinLnBrk="0">
        <a:lnSpc>
          <a:spcPct val="90000"/>
        </a:lnSpc>
        <a:spcBef>
          <a:spcPts val="800"/>
        </a:spcBef>
        <a:spcAft>
          <a:spcPts val="0"/>
        </a:spcAft>
        <a:buClr>
          <a:srgbClr val="000000"/>
        </a:buClr>
        <a:buSzPts val="2100"/>
        <a:buFont typeface="Arial" panose="020B0604020202020204"/>
        <a:buChar char="•"/>
        <a:defRPr sz="21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8pPr>
      <a:lvl9pPr marL="4273550" marR="0" indent="-476250" algn="l" defTabSz="914400" rtl="0" latinLnBrk="0">
        <a:lnSpc>
          <a:spcPct val="90000"/>
        </a:lnSpc>
        <a:spcBef>
          <a:spcPts val="800"/>
        </a:spcBef>
        <a:spcAft>
          <a:spcPts val="0"/>
        </a:spcAft>
        <a:buClr>
          <a:srgbClr val="000000"/>
        </a:buClr>
        <a:buSzPts val="2100"/>
        <a:buFont typeface="Arial" panose="020B0604020202020204"/>
        <a:buChar char="•"/>
        <a:defRPr sz="21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 panose="020B0604020202020204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jpeg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7" Type="http://schemas.openxmlformats.org/officeDocument/2006/relationships/notesSlide" Target="../notesSlides/notesSlide7.xml"/><Relationship Id="rId16" Type="http://schemas.openxmlformats.org/officeDocument/2006/relationships/slideLayout" Target="../slideLayouts/slideLayout12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7" Type="http://schemas.openxmlformats.org/officeDocument/2006/relationships/notesSlide" Target="../notesSlides/notesSlide8.xml"/><Relationship Id="rId16" Type="http://schemas.openxmlformats.org/officeDocument/2006/relationships/slideLayout" Target="../slideLayouts/slideLayout12.xml"/><Relationship Id="rId15" Type="http://schemas.openxmlformats.org/officeDocument/2006/relationships/image" Target="../media/image3.jpeg"/><Relationship Id="rId14" Type="http://schemas.openxmlformats.org/officeDocument/2006/relationships/tags" Target="../tags/tag28.xml"/><Relationship Id="rId13" Type="http://schemas.openxmlformats.org/officeDocument/2006/relationships/tags" Target="../tags/tag27.xml"/><Relationship Id="rId12" Type="http://schemas.openxmlformats.org/officeDocument/2006/relationships/tags" Target="../tags/tag26.xml"/><Relationship Id="rId11" Type="http://schemas.openxmlformats.org/officeDocument/2006/relationships/tags" Target="../tags/tag25.xml"/><Relationship Id="rId10" Type="http://schemas.openxmlformats.org/officeDocument/2006/relationships/tags" Target="../tags/tag24.xml"/><Relationship Id="rId1" Type="http://schemas.openxmlformats.org/officeDocument/2006/relationships/tags" Target="../tags/tag15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7" Type="http://schemas.openxmlformats.org/officeDocument/2006/relationships/notesSlide" Target="../notesSlides/notesSlide9.xml"/><Relationship Id="rId16" Type="http://schemas.openxmlformats.org/officeDocument/2006/relationships/slideLayout" Target="../slideLayouts/slideLayout12.xml"/><Relationship Id="rId15" Type="http://schemas.openxmlformats.org/officeDocument/2006/relationships/tags" Target="../tags/tag42.xml"/><Relationship Id="rId14" Type="http://schemas.openxmlformats.org/officeDocument/2006/relationships/tags" Target="../tags/tag41.xml"/><Relationship Id="rId13" Type="http://schemas.openxmlformats.org/officeDocument/2006/relationships/tags" Target="../tags/tag40.xml"/><Relationship Id="rId12" Type="http://schemas.openxmlformats.org/officeDocument/2006/relationships/tags" Target="../tags/tag39.xml"/><Relationship Id="rId11" Type="http://schemas.openxmlformats.org/officeDocument/2006/relationships/tags" Target="../tags/tag38.xml"/><Relationship Id="rId10" Type="http://schemas.openxmlformats.org/officeDocument/2006/relationships/tags" Target="../tags/tag37.xml"/><Relationship Id="rId1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50.xml"/><Relationship Id="rId8" Type="http://schemas.openxmlformats.org/officeDocument/2006/relationships/tags" Target="../tags/tag49.xml"/><Relationship Id="rId7" Type="http://schemas.openxmlformats.org/officeDocument/2006/relationships/tags" Target="../tags/tag48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8" Type="http://schemas.openxmlformats.org/officeDocument/2006/relationships/notesSlide" Target="../notesSlides/notesSlide10.xml"/><Relationship Id="rId17" Type="http://schemas.openxmlformats.org/officeDocument/2006/relationships/slideLayout" Target="../slideLayouts/slideLayout12.xml"/><Relationship Id="rId16" Type="http://schemas.openxmlformats.org/officeDocument/2006/relationships/image" Target="../media/image4.jpeg"/><Relationship Id="rId15" Type="http://schemas.openxmlformats.org/officeDocument/2006/relationships/tags" Target="../tags/tag56.xml"/><Relationship Id="rId14" Type="http://schemas.openxmlformats.org/officeDocument/2006/relationships/tags" Target="../tags/tag55.xml"/><Relationship Id="rId13" Type="http://schemas.openxmlformats.org/officeDocument/2006/relationships/tags" Target="../tags/tag54.xml"/><Relationship Id="rId12" Type="http://schemas.openxmlformats.org/officeDocument/2006/relationships/tags" Target="../tags/tag53.xml"/><Relationship Id="rId11" Type="http://schemas.openxmlformats.org/officeDocument/2006/relationships/tags" Target="../tags/tag52.xml"/><Relationship Id="rId10" Type="http://schemas.openxmlformats.org/officeDocument/2006/relationships/tags" Target="../tags/tag51.xml"/><Relationship Id="rId1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65.xml"/><Relationship Id="rId8" Type="http://schemas.openxmlformats.org/officeDocument/2006/relationships/tags" Target="../tags/tag64.xml"/><Relationship Id="rId7" Type="http://schemas.openxmlformats.org/officeDocument/2006/relationships/tags" Target="../tags/tag63.xml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0" Type="http://schemas.openxmlformats.org/officeDocument/2006/relationships/notesSlide" Target="../notesSlides/notesSlide11.xml"/><Relationship Id="rId2" Type="http://schemas.openxmlformats.org/officeDocument/2006/relationships/tags" Target="../tags/tag58.xml"/><Relationship Id="rId19" Type="http://schemas.openxmlformats.org/officeDocument/2006/relationships/slideLayout" Target="../slideLayouts/slideLayout12.xml"/><Relationship Id="rId18" Type="http://schemas.openxmlformats.org/officeDocument/2006/relationships/image" Target="../media/image3.jpeg"/><Relationship Id="rId17" Type="http://schemas.openxmlformats.org/officeDocument/2006/relationships/image" Target="../media/image4.jpeg"/><Relationship Id="rId16" Type="http://schemas.openxmlformats.org/officeDocument/2006/relationships/tags" Target="../tags/tag72.xml"/><Relationship Id="rId15" Type="http://schemas.openxmlformats.org/officeDocument/2006/relationships/tags" Target="../tags/tag71.xml"/><Relationship Id="rId14" Type="http://schemas.openxmlformats.org/officeDocument/2006/relationships/tags" Target="../tags/tag70.xml"/><Relationship Id="rId13" Type="http://schemas.openxmlformats.org/officeDocument/2006/relationships/tags" Target="../tags/tag69.xml"/><Relationship Id="rId12" Type="http://schemas.openxmlformats.org/officeDocument/2006/relationships/tags" Target="../tags/tag68.xml"/><Relationship Id="rId11" Type="http://schemas.openxmlformats.org/officeDocument/2006/relationships/tags" Target="../tags/tag67.xml"/><Relationship Id="rId10" Type="http://schemas.openxmlformats.org/officeDocument/2006/relationships/tags" Target="../tags/tag66.xml"/><Relationship Id="rId1" Type="http://schemas.openxmlformats.org/officeDocument/2006/relationships/tags" Target="../tags/tag57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tags" Target="../tags/tag80.xml"/><Relationship Id="rId7" Type="http://schemas.openxmlformats.org/officeDocument/2006/relationships/tags" Target="../tags/tag79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8" Type="http://schemas.openxmlformats.org/officeDocument/2006/relationships/notesSlide" Target="../notesSlides/notesSlide12.xml"/><Relationship Id="rId17" Type="http://schemas.openxmlformats.org/officeDocument/2006/relationships/slideLayout" Target="../slideLayouts/slideLayout12.xml"/><Relationship Id="rId16" Type="http://schemas.openxmlformats.org/officeDocument/2006/relationships/image" Target="../media/image4.jpeg"/><Relationship Id="rId15" Type="http://schemas.openxmlformats.org/officeDocument/2006/relationships/tags" Target="../tags/tag87.xml"/><Relationship Id="rId14" Type="http://schemas.openxmlformats.org/officeDocument/2006/relationships/tags" Target="../tags/tag86.xml"/><Relationship Id="rId13" Type="http://schemas.openxmlformats.org/officeDocument/2006/relationships/tags" Target="../tags/tag85.xml"/><Relationship Id="rId12" Type="http://schemas.openxmlformats.org/officeDocument/2006/relationships/tags" Target="../tags/tag84.xml"/><Relationship Id="rId11" Type="http://schemas.openxmlformats.org/officeDocument/2006/relationships/tags" Target="../tags/tag83.xml"/><Relationship Id="rId10" Type="http://schemas.openxmlformats.org/officeDocument/2006/relationships/tags" Target="../tags/tag82.xml"/><Relationship Id="rId1" Type="http://schemas.openxmlformats.org/officeDocument/2006/relationships/tags" Target="../tags/tag7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jpe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7.jpeg"/><Relationship Id="rId2" Type="http://schemas.openxmlformats.org/officeDocument/2006/relationships/image" Target="../media/image5.jpeg"/><Relationship Id="rId1" Type="http://schemas.openxmlformats.org/officeDocument/2006/relationships/image" Target="../media/image6.jpe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6.jpeg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7.jpeg"/><Relationship Id="rId3" Type="http://schemas.openxmlformats.org/officeDocument/2006/relationships/image" Target="../media/image9.jpeg"/><Relationship Id="rId2" Type="http://schemas.openxmlformats.org/officeDocument/2006/relationships/tags" Target="../tags/tag88.xml"/><Relationship Id="rId1" Type="http://schemas.openxmlformats.org/officeDocument/2006/relationships/image" Target="../media/image8.jpe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8.jpeg"/><Relationship Id="rId1" Type="http://schemas.openxmlformats.org/officeDocument/2006/relationships/image" Target="../media/image9.jpe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9.jpeg"/><Relationship Id="rId1" Type="http://schemas.openxmlformats.org/officeDocument/2006/relationships/image" Target="../media/image10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0.jpe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0.jpeg"/><Relationship Id="rId1" Type="http://schemas.openxmlformats.org/officeDocument/2006/relationships/image" Target="../media/image11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1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AutoShape 3"/>
          <p:cNvSpPr txBox="1"/>
          <p:nvPr/>
        </p:nvSpPr>
        <p:spPr>
          <a:xfrm>
            <a:off x="-3327345" y="1606889"/>
            <a:ext cx="5334001" cy="254001"/>
          </a:xfrm>
          <a:prstGeom prst="rect">
            <a:avLst/>
          </a:prstGeom>
          <a:ln w="12700">
            <a:miter lim="400000"/>
          </a:ln>
          <a:effectLst>
            <a:softEdge rad="0"/>
          </a:effectLst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>
                <a:solidFill>
                  <a:srgbClr val="9C5C3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道法时政分享 · 2026年9月</a:t>
            </a:r>
          </a:p>
        </p:txBody>
      </p:sp>
      <p:sp>
        <p:nvSpPr>
          <p:cNvPr id="258" name="AutoShape 4"/>
          <p:cNvSpPr txBox="1"/>
          <p:nvPr/>
        </p:nvSpPr>
        <p:spPr>
          <a:xfrm>
            <a:off x="-4685535" y="2099253"/>
            <a:ext cx="5588001" cy="1574801"/>
          </a:xfrm>
          <a:prstGeom prst="rect">
            <a:avLst/>
          </a:prstGeom>
          <a:ln w="12700">
            <a:miter lim="400000"/>
          </a:ln>
          <a:effectLst>
            <a:softEdge rad="0"/>
          </a:effectLst>
        </p:spPr>
        <p:txBody>
          <a:bodyPr lIns="0" tIns="0" rIns="0" bIns="0" anchor="ctr">
            <a:spAutoFit/>
          </a:bodyPr>
          <a:lstStyle/>
          <a:p>
            <a:pPr>
              <a:defRPr sz="4400" b="1">
                <a:solidFill>
                  <a:srgbClr val="2B2B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pPr>
            <a:r>
              <a:t>AI安全</a:t>
            </a:r>
            <a:endParaRPr sz="1100"/>
          </a:p>
          <a:p>
            <a:pPr>
              <a:defRPr sz="4400" b="1">
                <a:solidFill>
                  <a:srgbClr val="2B2B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pPr>
            <a:r>
              <a:t>与全球治理</a:t>
            </a:r>
          </a:p>
        </p:txBody>
      </p:sp>
      <p:sp>
        <p:nvSpPr>
          <p:cNvPr id="259" name="AutoShape 5"/>
          <p:cNvSpPr txBox="1"/>
          <p:nvPr/>
        </p:nvSpPr>
        <p:spPr>
          <a:xfrm>
            <a:off x="-6231132" y="3912417"/>
            <a:ext cx="5334001" cy="317501"/>
          </a:xfrm>
          <a:prstGeom prst="rect">
            <a:avLst/>
          </a:prstGeom>
          <a:ln w="12700">
            <a:miter lim="400000"/>
          </a:ln>
          <a:effectLst>
            <a:softEdge rad="0"/>
          </a:effectLst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800" b="1">
                <a:solidFill>
                  <a:srgbClr val="5A5A5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从联合国安理会AI高级别会议说起</a:t>
            </a:r>
          </a:p>
        </p:txBody>
      </p:sp>
      <p:pic>
        <p:nvPicPr>
          <p:cNvPr id="260" name="Picture 8" descr="Picture 8"/>
          <p:cNvPicPr>
            <a:picLocks noChangeAspect="1"/>
          </p:cNvPicPr>
          <p:nvPr/>
        </p:nvPicPr>
        <p:blipFill>
          <a:blip r:embed="rId1">
            <a:alphaModFix amt="0"/>
          </a:blip>
          <a:srcRect l="109" r="109"/>
          <a:stretch>
            <a:fillRect/>
          </a:stretch>
        </p:blipFill>
        <p:spPr>
          <a:xfrm>
            <a:off x="13089130" y="2139950"/>
            <a:ext cx="4572001" cy="2578100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 advClick="0" advTm="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" name="AutoShape 2"/>
          <p:cNvGrpSpPr/>
          <p:nvPr/>
        </p:nvGrpSpPr>
        <p:grpSpPr>
          <a:xfrm>
            <a:off x="0" y="-124092"/>
            <a:ext cx="12192000" cy="324384"/>
            <a:chOff x="0" y="0"/>
            <a:chExt cx="12192000" cy="324383"/>
          </a:xfrm>
        </p:grpSpPr>
        <p:sp>
          <p:nvSpPr>
            <p:cNvPr id="264" name="Rectangle"/>
            <p:cNvSpPr/>
            <p:nvPr/>
          </p:nvSpPr>
          <p:spPr>
            <a:xfrm>
              <a:off x="0" y="124091"/>
              <a:ext cx="12192000" cy="76201"/>
            </a:xfrm>
            <a:prstGeom prst="roundRect">
              <a:avLst>
                <a:gd name="adj" fmla="val 0"/>
              </a:avLst>
            </a:prstGeom>
            <a:solidFill>
              <a:srgbClr val="9C5C38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100"/>
              </a:pPr>
            </a:p>
          </p:txBody>
        </p:sp>
        <p:sp>
          <p:nvSpPr>
            <p:cNvPr id="265" name="Text"/>
            <p:cNvSpPr txBox="1"/>
            <p:nvPr/>
          </p:nvSpPr>
          <p:spPr>
            <a:xfrm>
              <a:off x="0" y="0"/>
              <a:ext cx="12192000" cy="3243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63500" tIns="63500" rIns="63500" bIns="63500" numCol="1" anchor="ctr">
              <a:spAutoFit/>
            </a:bodyPr>
            <a:lstStyle>
              <a:lvl1pPr/>
            </a:lstStyle>
            <a:p>
              <a:r>
                <a:t> </a:t>
              </a:r>
            </a:p>
          </p:txBody>
        </p:sp>
      </p:grpSp>
      <p:sp>
        <p:nvSpPr>
          <p:cNvPr id="267" name="AutoShape 3"/>
          <p:cNvSpPr txBox="1"/>
          <p:nvPr/>
        </p:nvSpPr>
        <p:spPr>
          <a:xfrm>
            <a:off x="1016000" y="1587499"/>
            <a:ext cx="5334000" cy="2540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>
                <a:solidFill>
                  <a:srgbClr val="9C5C3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道法时政分享 · 2026年9月</a:t>
            </a:r>
          </a:p>
        </p:txBody>
      </p:sp>
      <p:sp>
        <p:nvSpPr>
          <p:cNvPr id="268" name="AutoShape 4"/>
          <p:cNvSpPr txBox="1"/>
          <p:nvPr/>
        </p:nvSpPr>
        <p:spPr>
          <a:xfrm>
            <a:off x="1016000" y="2133600"/>
            <a:ext cx="5588000" cy="15748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>
              <a:defRPr sz="4400" b="1">
                <a:solidFill>
                  <a:srgbClr val="2B2B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pPr>
            <a:r>
              <a:t>AI安全</a:t>
            </a:r>
            <a:endParaRPr sz="1100"/>
          </a:p>
          <a:p>
            <a:pPr>
              <a:defRPr sz="4400" b="1">
                <a:solidFill>
                  <a:srgbClr val="2B2B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pPr>
            <a:r>
              <a:t>与全球治理</a:t>
            </a:r>
          </a:p>
        </p:txBody>
      </p:sp>
      <p:sp>
        <p:nvSpPr>
          <p:cNvPr id="269" name="AutoShape 5"/>
          <p:cNvSpPr txBox="1"/>
          <p:nvPr/>
        </p:nvSpPr>
        <p:spPr>
          <a:xfrm>
            <a:off x="1016000" y="3841750"/>
            <a:ext cx="5334000" cy="3175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800" b="1">
                <a:solidFill>
                  <a:srgbClr val="5A5A5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从联合国安理会AI高级别会议说起</a:t>
            </a:r>
          </a:p>
        </p:txBody>
      </p:sp>
      <p:sp>
        <p:nvSpPr>
          <p:cNvPr id="270" name="Connector 6"/>
          <p:cNvSpPr/>
          <p:nvPr/>
        </p:nvSpPr>
        <p:spPr>
          <a:xfrm>
            <a:off x="1016000" y="4508500"/>
            <a:ext cx="1270064" cy="0"/>
          </a:xfrm>
          <a:prstGeom prst="line">
            <a:avLst/>
          </a:prstGeom>
          <a:ln w="25400">
            <a:solidFill>
              <a:srgbClr val="9C5C38"/>
            </a:solidFill>
          </a:ln>
        </p:spPr>
        <p:txBody>
          <a:bodyPr lIns="0" tIns="0" rIns="0" bIns="0"/>
          <a:lstStyle/>
          <a:p/>
        </p:txBody>
      </p:sp>
      <p:pic>
        <p:nvPicPr>
          <p:cNvPr id="272" name="Picture 8" descr="Picture 8"/>
          <p:cNvPicPr>
            <a:picLocks noChangeAspect="1"/>
          </p:cNvPicPr>
          <p:nvPr/>
        </p:nvPicPr>
        <p:blipFill>
          <a:blip r:embed="rId1"/>
          <a:srcRect l="109" r="109"/>
          <a:stretch>
            <a:fillRect/>
          </a:stretch>
        </p:blipFill>
        <p:spPr>
          <a:xfrm>
            <a:off x="6858000" y="2159000"/>
            <a:ext cx="4572000" cy="25781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73" name="AutoShape 2"/>
          <p:cNvSpPr txBox="1"/>
          <p:nvPr/>
        </p:nvSpPr>
        <p:spPr>
          <a:xfrm>
            <a:off x="-888969" y="774700"/>
            <a:ext cx="5080001" cy="5715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3200" b="1">
                <a:solidFill>
                  <a:srgbClr val="2B2B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目录</a:t>
            </a:r>
          </a:p>
        </p:txBody>
      </p:sp>
      <p:grpSp>
        <p:nvGrpSpPr>
          <p:cNvPr id="277" name="Group"/>
          <p:cNvGrpSpPr/>
          <p:nvPr/>
        </p:nvGrpSpPr>
        <p:grpSpPr>
          <a:xfrm>
            <a:off x="-2351796" y="2082799"/>
            <a:ext cx="4445001" cy="673101"/>
            <a:chOff x="0" y="0"/>
            <a:chExt cx="4445000" cy="673100"/>
          </a:xfrm>
        </p:grpSpPr>
        <p:sp>
          <p:nvSpPr>
            <p:cNvPr id="274" name="AutoShape 4"/>
            <p:cNvSpPr txBox="1"/>
            <p:nvPr/>
          </p:nvSpPr>
          <p:spPr>
            <a:xfrm>
              <a:off x="0" y="-1"/>
              <a:ext cx="762000" cy="431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ct val="125000"/>
                </a:lnSpc>
                <a:defRPr sz="2800" b="1">
                  <a:solidFill>
                    <a:srgbClr val="9C5C38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01</a:t>
              </a:r>
            </a:p>
          </p:txBody>
        </p:sp>
        <p:sp>
          <p:nvSpPr>
            <p:cNvPr id="275" name="AutoShape 5"/>
            <p:cNvSpPr txBox="1"/>
            <p:nvPr/>
          </p:nvSpPr>
          <p:spPr>
            <a:xfrm>
              <a:off x="889000" y="57150"/>
              <a:ext cx="3556000" cy="317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ct val="125000"/>
                </a:lnSpc>
                <a:defRPr sz="1800" b="1">
                  <a:solidFill>
                    <a:srgbClr val="2B2B2B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会议概况</a:t>
              </a:r>
            </a:p>
          </p:txBody>
        </p:sp>
        <p:sp>
          <p:nvSpPr>
            <p:cNvPr id="276" name="AutoShape 6"/>
            <p:cNvSpPr txBox="1"/>
            <p:nvPr/>
          </p:nvSpPr>
          <p:spPr>
            <a:xfrm>
              <a:off x="889000" y="444500"/>
              <a:ext cx="3556000" cy="228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ct val="125000"/>
                </a:lnSpc>
                <a:defRPr sz="1300">
                  <a:solidFill>
                    <a:srgbClr val="787878"/>
                  </a:solidFill>
                  <a:latin typeface="Kaiti SC Regular"/>
                  <a:ea typeface="Kaiti SC Regular"/>
                  <a:cs typeface="Kaiti SC Regular"/>
                  <a:sym typeface="Kaiti SC Regular"/>
                </a:defRPr>
              </a:lvl1pPr>
            </a:lstStyle>
            <a:p>
              <a:r>
                <a:rPr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rPr>
                <a:t>安理会AI高级别会议</a:t>
              </a:r>
              <a:endPara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  <p:grpSp>
        <p:nvGrpSpPr>
          <p:cNvPr id="281" name="Group"/>
          <p:cNvGrpSpPr/>
          <p:nvPr/>
        </p:nvGrpSpPr>
        <p:grpSpPr>
          <a:xfrm>
            <a:off x="-3096884" y="3301999"/>
            <a:ext cx="4445001" cy="673101"/>
            <a:chOff x="0" y="0"/>
            <a:chExt cx="4445000" cy="673100"/>
          </a:xfrm>
        </p:grpSpPr>
        <p:sp>
          <p:nvSpPr>
            <p:cNvPr id="278" name="AutoShape 7"/>
            <p:cNvSpPr txBox="1"/>
            <p:nvPr/>
          </p:nvSpPr>
          <p:spPr>
            <a:xfrm>
              <a:off x="0" y="-1"/>
              <a:ext cx="762000" cy="431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ct val="125000"/>
                </a:lnSpc>
                <a:defRPr sz="2800" b="1">
                  <a:solidFill>
                    <a:srgbClr val="9C5C38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02</a:t>
              </a:r>
            </a:p>
          </p:txBody>
        </p:sp>
        <p:sp>
          <p:nvSpPr>
            <p:cNvPr id="279" name="AutoShape 8"/>
            <p:cNvSpPr txBox="1"/>
            <p:nvPr/>
          </p:nvSpPr>
          <p:spPr>
            <a:xfrm>
              <a:off x="889000" y="57150"/>
              <a:ext cx="3556000" cy="317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ct val="125000"/>
                </a:lnSpc>
                <a:defRPr sz="1800" b="1">
                  <a:solidFill>
                    <a:srgbClr val="2B2B2B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三起失控事件</a:t>
              </a:r>
            </a:p>
          </p:txBody>
        </p:sp>
        <p:sp>
          <p:nvSpPr>
            <p:cNvPr id="280" name="AutoShape 9"/>
            <p:cNvSpPr txBox="1"/>
            <p:nvPr/>
          </p:nvSpPr>
          <p:spPr>
            <a:xfrm>
              <a:off x="889000" y="444500"/>
              <a:ext cx="3556000" cy="228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ct val="125000"/>
                </a:lnSpc>
                <a:defRPr sz="1300">
                  <a:solidFill>
                    <a:srgbClr val="787878"/>
                  </a:solidFill>
                  <a:latin typeface="Kaiti SC Regular"/>
                  <a:ea typeface="Kaiti SC Regular"/>
                  <a:cs typeface="Kaiti SC Regular"/>
                  <a:sym typeface="Kaiti SC Regular"/>
                </a:defRPr>
              </a:lvl1pPr>
            </a:lstStyle>
            <a:p>
              <a:r>
                <a:rPr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rPr>
                <a:t>从科幻走进现实的安全风险</a:t>
              </a:r>
              <a:endPara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  <p:grpSp>
        <p:nvGrpSpPr>
          <p:cNvPr id="285" name="Group"/>
          <p:cNvGrpSpPr/>
          <p:nvPr/>
        </p:nvGrpSpPr>
        <p:grpSpPr>
          <a:xfrm>
            <a:off x="-4318828" y="4171949"/>
            <a:ext cx="4445001" cy="673101"/>
            <a:chOff x="0" y="0"/>
            <a:chExt cx="4445000" cy="673100"/>
          </a:xfrm>
        </p:grpSpPr>
        <p:sp>
          <p:nvSpPr>
            <p:cNvPr id="282" name="AutoShape 10"/>
            <p:cNvSpPr txBox="1"/>
            <p:nvPr/>
          </p:nvSpPr>
          <p:spPr>
            <a:xfrm>
              <a:off x="0" y="-1"/>
              <a:ext cx="762000" cy="431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ct val="125000"/>
                </a:lnSpc>
                <a:defRPr sz="2800" b="1">
                  <a:solidFill>
                    <a:srgbClr val="9C5C38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03</a:t>
              </a:r>
            </a:p>
          </p:txBody>
        </p:sp>
        <p:sp>
          <p:nvSpPr>
            <p:cNvPr id="283" name="AutoShape 11"/>
            <p:cNvSpPr txBox="1"/>
            <p:nvPr/>
          </p:nvSpPr>
          <p:spPr>
            <a:xfrm>
              <a:off x="889000" y="57150"/>
              <a:ext cx="3556000" cy="317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ct val="125000"/>
                </a:lnSpc>
                <a:defRPr sz="1800" b="1">
                  <a:solidFill>
                    <a:srgbClr val="2B2B2B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各方核心立场</a:t>
              </a:r>
            </a:p>
          </p:txBody>
        </p:sp>
        <p:sp>
          <p:nvSpPr>
            <p:cNvPr id="284" name="AutoShape 12"/>
            <p:cNvSpPr txBox="1"/>
            <p:nvPr/>
          </p:nvSpPr>
          <p:spPr>
            <a:xfrm>
              <a:off x="889000" y="444500"/>
              <a:ext cx="3556000" cy="228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ct val="125000"/>
                </a:lnSpc>
                <a:defRPr sz="1300">
                  <a:solidFill>
                    <a:srgbClr val="787878"/>
                  </a:solidFill>
                  <a:latin typeface="Kaiti SC Regular"/>
                  <a:ea typeface="Kaiti SC Regular"/>
                  <a:cs typeface="Kaiti SC Regular"/>
                  <a:sym typeface="Kaiti SC Regular"/>
                </a:defRPr>
              </a:lvl1pPr>
            </a:lstStyle>
            <a:p>
              <a:r>
                <a:rPr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rPr>
                <a:t>联合国、美国、中国、欧盟</a:t>
              </a:r>
              <a:endPara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  <p:grpSp>
        <p:nvGrpSpPr>
          <p:cNvPr id="289" name="Group"/>
          <p:cNvGrpSpPr/>
          <p:nvPr/>
        </p:nvGrpSpPr>
        <p:grpSpPr>
          <a:xfrm>
            <a:off x="12251093" y="2261621"/>
            <a:ext cx="4699001" cy="673101"/>
            <a:chOff x="0" y="0"/>
            <a:chExt cx="4699000" cy="673100"/>
          </a:xfrm>
        </p:grpSpPr>
        <p:sp>
          <p:nvSpPr>
            <p:cNvPr id="286" name="AutoShape 13"/>
            <p:cNvSpPr txBox="1"/>
            <p:nvPr/>
          </p:nvSpPr>
          <p:spPr>
            <a:xfrm>
              <a:off x="0" y="-1"/>
              <a:ext cx="762000" cy="431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ct val="125000"/>
                </a:lnSpc>
                <a:defRPr sz="2800" b="1">
                  <a:solidFill>
                    <a:srgbClr val="9C5C38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04</a:t>
              </a:r>
            </a:p>
          </p:txBody>
        </p:sp>
        <p:sp>
          <p:nvSpPr>
            <p:cNvPr id="287" name="AutoShape 14"/>
            <p:cNvSpPr txBox="1"/>
            <p:nvPr/>
          </p:nvSpPr>
          <p:spPr>
            <a:xfrm>
              <a:off x="889000" y="57150"/>
              <a:ext cx="3810000" cy="317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ct val="125000"/>
                </a:lnSpc>
                <a:defRPr sz="1800" b="1">
                  <a:solidFill>
                    <a:srgbClr val="2B2B2B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核心分歧</a:t>
              </a:r>
            </a:p>
          </p:txBody>
        </p:sp>
        <p:sp>
          <p:nvSpPr>
            <p:cNvPr id="288" name="AutoShape 15"/>
            <p:cNvSpPr txBox="1"/>
            <p:nvPr/>
          </p:nvSpPr>
          <p:spPr>
            <a:xfrm>
              <a:off x="889000" y="444500"/>
              <a:ext cx="3810000" cy="228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ct val="125000"/>
                </a:lnSpc>
                <a:defRPr sz="1300">
                  <a:solidFill>
                    <a:srgbClr val="787878"/>
                  </a:solidFill>
                  <a:latin typeface="Kaiti SC Regular"/>
                  <a:ea typeface="Kaiti SC Regular"/>
                  <a:cs typeface="Kaiti SC Regular"/>
                  <a:sym typeface="Kaiti SC Regular"/>
                </a:defRPr>
              </a:lvl1pPr>
            </a:lstStyle>
            <a:p>
              <a:r>
                <a:rPr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rPr>
                <a:t>AI规则由谁来制定</a:t>
              </a:r>
              <a:endPara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  <p:grpSp>
        <p:nvGrpSpPr>
          <p:cNvPr id="293" name="Group"/>
          <p:cNvGrpSpPr/>
          <p:nvPr/>
        </p:nvGrpSpPr>
        <p:grpSpPr>
          <a:xfrm>
            <a:off x="12876967" y="3111499"/>
            <a:ext cx="4699001" cy="673101"/>
            <a:chOff x="0" y="0"/>
            <a:chExt cx="4699000" cy="673100"/>
          </a:xfrm>
        </p:grpSpPr>
        <p:sp>
          <p:nvSpPr>
            <p:cNvPr id="290" name="AutoShape 16"/>
            <p:cNvSpPr txBox="1"/>
            <p:nvPr/>
          </p:nvSpPr>
          <p:spPr>
            <a:xfrm>
              <a:off x="0" y="-1"/>
              <a:ext cx="762000" cy="431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ct val="125000"/>
                </a:lnSpc>
                <a:defRPr sz="2800" b="1">
                  <a:solidFill>
                    <a:srgbClr val="9C5C38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05</a:t>
              </a:r>
            </a:p>
          </p:txBody>
        </p:sp>
        <p:sp>
          <p:nvSpPr>
            <p:cNvPr id="291" name="AutoShape 17"/>
            <p:cNvSpPr txBox="1"/>
            <p:nvPr/>
          </p:nvSpPr>
          <p:spPr>
            <a:xfrm>
              <a:off x="889000" y="57150"/>
              <a:ext cx="3810000" cy="317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ct val="125000"/>
                </a:lnSpc>
                <a:defRPr sz="1800" b="1">
                  <a:solidFill>
                    <a:srgbClr val="2B2B2B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中国国内治理</a:t>
              </a:r>
            </a:p>
          </p:txBody>
        </p:sp>
        <p:sp>
          <p:nvSpPr>
            <p:cNvPr id="292" name="AutoShape 18"/>
            <p:cNvSpPr txBox="1"/>
            <p:nvPr/>
          </p:nvSpPr>
          <p:spPr>
            <a:xfrm>
              <a:off x="889000" y="444500"/>
              <a:ext cx="3810000" cy="228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ct val="125000"/>
                </a:lnSpc>
                <a:defRPr sz="1300">
                  <a:solidFill>
                    <a:srgbClr val="787878"/>
                  </a:solidFill>
                  <a:latin typeface="Kaiti SC Regular"/>
                  <a:ea typeface="Kaiti SC Regular"/>
                  <a:cs typeface="Kaiti SC Regular"/>
                  <a:sym typeface="Kaiti SC Regular"/>
                </a:defRPr>
              </a:lvl1pPr>
            </a:lstStyle>
            <a:p>
              <a:r>
                <a:rPr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rPr>
                <a:t>框架3.0、分级标准、标识办法</a:t>
              </a:r>
              <a:endPara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AutoShape 2"/>
          <p:cNvSpPr txBox="1"/>
          <p:nvPr/>
        </p:nvSpPr>
        <p:spPr>
          <a:xfrm>
            <a:off x="1016000" y="793750"/>
            <a:ext cx="5080000" cy="5715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3200" b="1">
                <a:solidFill>
                  <a:srgbClr val="2B2B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目录</a:t>
            </a:r>
          </a:p>
        </p:txBody>
      </p:sp>
      <p:sp>
        <p:nvSpPr>
          <p:cNvPr id="298" name="Connector 3"/>
          <p:cNvSpPr/>
          <p:nvPr/>
        </p:nvSpPr>
        <p:spPr>
          <a:xfrm>
            <a:off x="1016000" y="1524000"/>
            <a:ext cx="762212" cy="0"/>
          </a:xfrm>
          <a:prstGeom prst="line">
            <a:avLst/>
          </a:prstGeom>
          <a:ln w="25400">
            <a:solidFill>
              <a:srgbClr val="9C5C38"/>
            </a:solidFill>
          </a:ln>
        </p:spPr>
        <p:txBody>
          <a:bodyPr lIns="0" tIns="0" rIns="0" bIns="0"/>
          <a:lstStyle/>
          <a:p/>
        </p:txBody>
      </p:sp>
      <p:grpSp>
        <p:nvGrpSpPr>
          <p:cNvPr id="302" name="Group"/>
          <p:cNvGrpSpPr/>
          <p:nvPr/>
        </p:nvGrpSpPr>
        <p:grpSpPr>
          <a:xfrm>
            <a:off x="1016000" y="2197099"/>
            <a:ext cx="4445000" cy="673101"/>
            <a:chOff x="0" y="0"/>
            <a:chExt cx="4445000" cy="673100"/>
          </a:xfrm>
        </p:grpSpPr>
        <p:sp>
          <p:nvSpPr>
            <p:cNvPr id="299" name="AutoShape 4"/>
            <p:cNvSpPr txBox="1"/>
            <p:nvPr/>
          </p:nvSpPr>
          <p:spPr>
            <a:xfrm>
              <a:off x="0" y="-1"/>
              <a:ext cx="762000" cy="431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ct val="125000"/>
                </a:lnSpc>
                <a:defRPr sz="2800" b="1">
                  <a:solidFill>
                    <a:srgbClr val="9C5C38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01</a:t>
              </a:r>
            </a:p>
          </p:txBody>
        </p:sp>
        <p:sp>
          <p:nvSpPr>
            <p:cNvPr id="300" name="AutoShape 5"/>
            <p:cNvSpPr txBox="1"/>
            <p:nvPr/>
          </p:nvSpPr>
          <p:spPr>
            <a:xfrm>
              <a:off x="889000" y="57150"/>
              <a:ext cx="3556000" cy="317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ct val="125000"/>
                </a:lnSpc>
                <a:defRPr sz="1800" b="1">
                  <a:solidFill>
                    <a:srgbClr val="2B2B2B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会议概况</a:t>
              </a:r>
            </a:p>
          </p:txBody>
        </p:sp>
        <p:sp>
          <p:nvSpPr>
            <p:cNvPr id="301" name="AutoShape 6"/>
            <p:cNvSpPr txBox="1"/>
            <p:nvPr/>
          </p:nvSpPr>
          <p:spPr>
            <a:xfrm>
              <a:off x="889000" y="444500"/>
              <a:ext cx="3556000" cy="228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ct val="125000"/>
                </a:lnSpc>
                <a:defRPr sz="1300">
                  <a:solidFill>
                    <a:srgbClr val="787878"/>
                  </a:solidFill>
                  <a:latin typeface="Kaiti SC Regular"/>
                  <a:ea typeface="Kaiti SC Regular"/>
                  <a:cs typeface="Kaiti SC Regular"/>
                  <a:sym typeface="Kaiti SC Regular"/>
                </a:defRPr>
              </a:lvl1pPr>
            </a:lstStyle>
            <a:p>
              <a:r>
                <a:rPr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rPr>
                <a:t>安理会AI高级别会议</a:t>
              </a:r>
              <a:endPara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  <p:grpSp>
        <p:nvGrpSpPr>
          <p:cNvPr id="306" name="Group"/>
          <p:cNvGrpSpPr/>
          <p:nvPr/>
        </p:nvGrpSpPr>
        <p:grpSpPr>
          <a:xfrm>
            <a:off x="1016000" y="3340099"/>
            <a:ext cx="4445000" cy="673101"/>
            <a:chOff x="0" y="0"/>
            <a:chExt cx="4445000" cy="673100"/>
          </a:xfrm>
        </p:grpSpPr>
        <p:sp>
          <p:nvSpPr>
            <p:cNvPr id="303" name="AutoShape 7"/>
            <p:cNvSpPr txBox="1"/>
            <p:nvPr/>
          </p:nvSpPr>
          <p:spPr>
            <a:xfrm>
              <a:off x="0" y="-1"/>
              <a:ext cx="762000" cy="431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ct val="125000"/>
                </a:lnSpc>
                <a:defRPr sz="2800" b="1">
                  <a:solidFill>
                    <a:srgbClr val="9C5C38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02</a:t>
              </a:r>
            </a:p>
          </p:txBody>
        </p:sp>
        <p:sp>
          <p:nvSpPr>
            <p:cNvPr id="304" name="AutoShape 8"/>
            <p:cNvSpPr txBox="1"/>
            <p:nvPr/>
          </p:nvSpPr>
          <p:spPr>
            <a:xfrm>
              <a:off x="889000" y="57150"/>
              <a:ext cx="3556000" cy="317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ct val="125000"/>
                </a:lnSpc>
                <a:defRPr sz="1800" b="1">
                  <a:solidFill>
                    <a:srgbClr val="2B2B2B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三起失控事件</a:t>
              </a:r>
            </a:p>
          </p:txBody>
        </p:sp>
        <p:sp>
          <p:nvSpPr>
            <p:cNvPr id="305" name="AutoShape 9"/>
            <p:cNvSpPr txBox="1"/>
            <p:nvPr/>
          </p:nvSpPr>
          <p:spPr>
            <a:xfrm>
              <a:off x="889000" y="444500"/>
              <a:ext cx="3556000" cy="228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ct val="125000"/>
                </a:lnSpc>
                <a:defRPr sz="1300">
                  <a:solidFill>
                    <a:srgbClr val="787878"/>
                  </a:solidFill>
                  <a:latin typeface="Kaiti SC Regular"/>
                  <a:ea typeface="Kaiti SC Regular"/>
                  <a:cs typeface="Kaiti SC Regular"/>
                  <a:sym typeface="Kaiti SC Regular"/>
                </a:defRPr>
              </a:lvl1pPr>
            </a:lstStyle>
            <a:p>
              <a:r>
                <a:rPr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rPr>
                <a:t>从科幻走进现实的安全风险</a:t>
              </a:r>
              <a:endPara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  <p:grpSp>
        <p:nvGrpSpPr>
          <p:cNvPr id="310" name="Group"/>
          <p:cNvGrpSpPr/>
          <p:nvPr/>
        </p:nvGrpSpPr>
        <p:grpSpPr>
          <a:xfrm>
            <a:off x="1016000" y="4483099"/>
            <a:ext cx="4445000" cy="673101"/>
            <a:chOff x="0" y="0"/>
            <a:chExt cx="4445000" cy="673100"/>
          </a:xfrm>
        </p:grpSpPr>
        <p:sp>
          <p:nvSpPr>
            <p:cNvPr id="307" name="AutoShape 10"/>
            <p:cNvSpPr txBox="1"/>
            <p:nvPr/>
          </p:nvSpPr>
          <p:spPr>
            <a:xfrm>
              <a:off x="0" y="-1"/>
              <a:ext cx="762000" cy="431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ct val="125000"/>
                </a:lnSpc>
                <a:defRPr sz="2800" b="1">
                  <a:solidFill>
                    <a:srgbClr val="9C5C38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03</a:t>
              </a:r>
            </a:p>
          </p:txBody>
        </p:sp>
        <p:sp>
          <p:nvSpPr>
            <p:cNvPr id="308" name="AutoShape 11"/>
            <p:cNvSpPr txBox="1"/>
            <p:nvPr/>
          </p:nvSpPr>
          <p:spPr>
            <a:xfrm>
              <a:off x="889000" y="57150"/>
              <a:ext cx="3556000" cy="317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ct val="125000"/>
                </a:lnSpc>
                <a:defRPr sz="1800" b="1">
                  <a:solidFill>
                    <a:srgbClr val="2B2B2B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各方核心立场</a:t>
              </a:r>
            </a:p>
          </p:txBody>
        </p:sp>
        <p:sp>
          <p:nvSpPr>
            <p:cNvPr id="309" name="AutoShape 12"/>
            <p:cNvSpPr txBox="1"/>
            <p:nvPr/>
          </p:nvSpPr>
          <p:spPr>
            <a:xfrm>
              <a:off x="889000" y="444500"/>
              <a:ext cx="3556000" cy="228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ct val="125000"/>
                </a:lnSpc>
                <a:defRPr sz="1300">
                  <a:solidFill>
                    <a:srgbClr val="787878"/>
                  </a:solidFill>
                  <a:latin typeface="Kaiti SC Regular"/>
                  <a:ea typeface="Kaiti SC Regular"/>
                  <a:cs typeface="Kaiti SC Regular"/>
                  <a:sym typeface="Kaiti SC Regular"/>
                </a:defRPr>
              </a:lvl1pPr>
            </a:lstStyle>
            <a:p>
              <a:r>
                <a:rPr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rPr>
                <a:t>联合国、美国、中国、欧盟</a:t>
              </a:r>
              <a:endPara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  <p:grpSp>
        <p:nvGrpSpPr>
          <p:cNvPr id="314" name="Group"/>
          <p:cNvGrpSpPr/>
          <p:nvPr/>
        </p:nvGrpSpPr>
        <p:grpSpPr>
          <a:xfrm>
            <a:off x="6350000" y="2197099"/>
            <a:ext cx="4699000" cy="673101"/>
            <a:chOff x="0" y="0"/>
            <a:chExt cx="4699000" cy="673100"/>
          </a:xfrm>
        </p:grpSpPr>
        <p:sp>
          <p:nvSpPr>
            <p:cNvPr id="311" name="AutoShape 13"/>
            <p:cNvSpPr txBox="1"/>
            <p:nvPr/>
          </p:nvSpPr>
          <p:spPr>
            <a:xfrm>
              <a:off x="0" y="-1"/>
              <a:ext cx="762000" cy="431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ct val="125000"/>
                </a:lnSpc>
                <a:defRPr sz="2800" b="1">
                  <a:solidFill>
                    <a:srgbClr val="9C5C38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04</a:t>
              </a:r>
            </a:p>
          </p:txBody>
        </p:sp>
        <p:sp>
          <p:nvSpPr>
            <p:cNvPr id="312" name="AutoShape 14"/>
            <p:cNvSpPr txBox="1"/>
            <p:nvPr/>
          </p:nvSpPr>
          <p:spPr>
            <a:xfrm>
              <a:off x="889000" y="57150"/>
              <a:ext cx="3810000" cy="317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ct val="125000"/>
                </a:lnSpc>
                <a:defRPr sz="1800" b="1">
                  <a:solidFill>
                    <a:srgbClr val="2B2B2B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核心分歧</a:t>
              </a:r>
            </a:p>
          </p:txBody>
        </p:sp>
        <p:sp>
          <p:nvSpPr>
            <p:cNvPr id="313" name="AutoShape 15"/>
            <p:cNvSpPr txBox="1"/>
            <p:nvPr/>
          </p:nvSpPr>
          <p:spPr>
            <a:xfrm>
              <a:off x="889000" y="444500"/>
              <a:ext cx="3810000" cy="228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ct val="125000"/>
                </a:lnSpc>
                <a:defRPr sz="1300">
                  <a:solidFill>
                    <a:srgbClr val="787878"/>
                  </a:solidFill>
                  <a:latin typeface="Kaiti SC Regular"/>
                  <a:ea typeface="Kaiti SC Regular"/>
                  <a:cs typeface="Kaiti SC Regular"/>
                  <a:sym typeface="Kaiti SC Regular"/>
                </a:defRPr>
              </a:lvl1pPr>
            </a:lstStyle>
            <a:p>
              <a:r>
                <a:rPr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rPr>
                <a:t>AI规则由谁来制定</a:t>
              </a:r>
              <a:endPara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  <p:grpSp>
        <p:nvGrpSpPr>
          <p:cNvPr id="318" name="Group"/>
          <p:cNvGrpSpPr/>
          <p:nvPr/>
        </p:nvGrpSpPr>
        <p:grpSpPr>
          <a:xfrm>
            <a:off x="6350000" y="3340099"/>
            <a:ext cx="4699000" cy="673101"/>
            <a:chOff x="0" y="0"/>
            <a:chExt cx="4699000" cy="673100"/>
          </a:xfrm>
        </p:grpSpPr>
        <p:sp>
          <p:nvSpPr>
            <p:cNvPr id="315" name="AutoShape 16"/>
            <p:cNvSpPr txBox="1"/>
            <p:nvPr/>
          </p:nvSpPr>
          <p:spPr>
            <a:xfrm>
              <a:off x="0" y="-1"/>
              <a:ext cx="762000" cy="431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ct val="125000"/>
                </a:lnSpc>
                <a:defRPr sz="2800" b="1">
                  <a:solidFill>
                    <a:srgbClr val="9C5C38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05</a:t>
              </a:r>
            </a:p>
          </p:txBody>
        </p:sp>
        <p:sp>
          <p:nvSpPr>
            <p:cNvPr id="316" name="AutoShape 17"/>
            <p:cNvSpPr txBox="1"/>
            <p:nvPr/>
          </p:nvSpPr>
          <p:spPr>
            <a:xfrm>
              <a:off x="889000" y="57150"/>
              <a:ext cx="3810000" cy="317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ct val="125000"/>
                </a:lnSpc>
                <a:defRPr sz="1800" b="1">
                  <a:solidFill>
                    <a:srgbClr val="2B2B2B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中国国内治理</a:t>
              </a:r>
            </a:p>
          </p:txBody>
        </p:sp>
        <p:sp>
          <p:nvSpPr>
            <p:cNvPr id="317" name="AutoShape 18"/>
            <p:cNvSpPr txBox="1"/>
            <p:nvPr/>
          </p:nvSpPr>
          <p:spPr>
            <a:xfrm>
              <a:off x="889000" y="444500"/>
              <a:ext cx="3810000" cy="228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ct val="125000"/>
                </a:lnSpc>
                <a:defRPr sz="1300">
                  <a:solidFill>
                    <a:srgbClr val="787878"/>
                  </a:solidFill>
                  <a:latin typeface="Kaiti SC Regular"/>
                  <a:ea typeface="Kaiti SC Regular"/>
                  <a:cs typeface="Kaiti SC Regular"/>
                  <a:sym typeface="Kaiti SC Regular"/>
                </a:defRPr>
              </a:lvl1pPr>
            </a:lstStyle>
            <a:p>
              <a:r>
                <a:rPr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rPr>
                <a:t>框架3.0、分级标准、标识办法</a:t>
              </a:r>
              <a:endPara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  <p:sp>
        <p:nvSpPr>
          <p:cNvPr id="319" name="AutoShape 3"/>
          <p:cNvSpPr txBox="1"/>
          <p:nvPr/>
        </p:nvSpPr>
        <p:spPr>
          <a:xfrm>
            <a:off x="-5492087" y="2371727"/>
            <a:ext cx="10160001" cy="137583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>
              <a:lnSpc>
                <a:spcPct val="117000"/>
              </a:lnSpc>
              <a:defRPr sz="3600" b="1">
                <a:solidFill>
                  <a:srgbClr val="FAF7F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pPr>
            <a:r>
              <a:t>如果AI自己跑出实验室，</a:t>
            </a:r>
            <a:endParaRPr sz="1100"/>
          </a:p>
          <a:p>
            <a:pPr>
              <a:lnSpc>
                <a:spcPct val="117000"/>
              </a:lnSpc>
              <a:defRPr sz="3600" b="1">
                <a:solidFill>
                  <a:srgbClr val="FAF7F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pPr>
            <a:r>
              <a:t>去入侵别的系统，谁来管？</a:t>
            </a:r>
          </a:p>
        </p:txBody>
      </p:sp>
      <p:sp>
        <p:nvSpPr>
          <p:cNvPr id="320" name="AutoShape 5"/>
          <p:cNvSpPr txBox="1"/>
          <p:nvPr/>
        </p:nvSpPr>
        <p:spPr>
          <a:xfrm>
            <a:off x="-7854611" y="4754033"/>
            <a:ext cx="8890001" cy="65193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>
              <a:lnSpc>
                <a:spcPct val="133000"/>
              </a:lnSpc>
              <a:defRPr sz="1600">
                <a:solidFill>
                  <a:srgbClr val="FAF7F2">
                    <a:alpha val="70196"/>
                  </a:srgbClr>
                </a:solidFill>
                <a:latin typeface="Kaiti SC Regular"/>
                <a:ea typeface="Kaiti SC Regular"/>
                <a:cs typeface="Kaiti SC Regular"/>
                <a:sym typeface="Kaiti SC Regular"/>
              </a:defRPr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联合国安理会是维护国际和平与安全的核心机构。什么样的风险，</a:t>
            </a:r>
            <a:endParaRPr sz="11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133000"/>
              </a:lnSpc>
              <a:defRPr sz="1600">
                <a:solidFill>
                  <a:srgbClr val="FAF7F2">
                    <a:alpha val="70196"/>
                  </a:srgbClr>
                </a:solidFill>
                <a:latin typeface="Kaiti SC Regular"/>
                <a:ea typeface="Kaiti SC Regular"/>
                <a:cs typeface="Kaiti SC Regular"/>
                <a:sym typeface="Kaiti SC Regular"/>
              </a:defRPr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会严重到需要安理会专门开会讨论？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57" name="AutoShape 3"/>
          <p:cNvSpPr txBox="1"/>
          <p:nvPr/>
        </p:nvSpPr>
        <p:spPr>
          <a:xfrm>
            <a:off x="-5867345" y="1902079"/>
            <a:ext cx="5334001" cy="2540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>
                <a:solidFill>
                  <a:srgbClr val="9C5C3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道法时政分享 · 2026年9月</a:t>
            </a:r>
          </a:p>
        </p:txBody>
      </p:sp>
      <p:sp>
        <p:nvSpPr>
          <p:cNvPr id="258" name="AutoShape 4"/>
          <p:cNvSpPr txBox="1"/>
          <p:nvPr/>
        </p:nvSpPr>
        <p:spPr>
          <a:xfrm>
            <a:off x="-4685535" y="2099253"/>
            <a:ext cx="5588001" cy="15748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>
              <a:defRPr sz="4400" b="1">
                <a:solidFill>
                  <a:srgbClr val="2B2B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pPr>
            <a:r>
              <a:t>AI安全</a:t>
            </a:r>
            <a:endParaRPr sz="1100"/>
          </a:p>
          <a:p>
            <a:pPr>
              <a:defRPr sz="4400" b="1">
                <a:solidFill>
                  <a:srgbClr val="2B2B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pPr>
            <a:r>
              <a:t>与全球治理</a:t>
            </a:r>
          </a:p>
        </p:txBody>
      </p:sp>
      <p:sp>
        <p:nvSpPr>
          <p:cNvPr id="259" name="AutoShape 5"/>
          <p:cNvSpPr txBox="1"/>
          <p:nvPr/>
        </p:nvSpPr>
        <p:spPr>
          <a:xfrm>
            <a:off x="-3722882" y="4023487"/>
            <a:ext cx="5334001" cy="3175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800" b="1">
                <a:solidFill>
                  <a:srgbClr val="5A5A5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从联合国安理会AI高级别会议说起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AutoShape 3"/>
          <p:cNvSpPr txBox="1"/>
          <p:nvPr/>
        </p:nvSpPr>
        <p:spPr>
          <a:xfrm>
            <a:off x="-3133912" y="1183214"/>
            <a:ext cx="5842001" cy="4699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2600" b="1">
                <a:solidFill>
                  <a:srgbClr val="2B2B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一场规格极高的会议</a:t>
            </a:r>
          </a:p>
        </p:txBody>
      </p:sp>
      <p:sp>
        <p:nvSpPr>
          <p:cNvPr id="324" name="AutoShape 2"/>
          <p:cNvSpPr txBox="1"/>
          <p:nvPr/>
        </p:nvSpPr>
        <p:spPr>
          <a:xfrm>
            <a:off x="1016000" y="1333499"/>
            <a:ext cx="10160000" cy="2540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>
                <a:solidFill>
                  <a:srgbClr val="FAF7F2">
                    <a:alpha val="60000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第一章</a:t>
            </a:r>
          </a:p>
        </p:txBody>
      </p:sp>
      <p:sp>
        <p:nvSpPr>
          <p:cNvPr id="325" name="AutoShape 3"/>
          <p:cNvSpPr txBox="1"/>
          <p:nvPr/>
        </p:nvSpPr>
        <p:spPr>
          <a:xfrm>
            <a:off x="1016000" y="2360085"/>
            <a:ext cx="10160000" cy="137583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>
              <a:lnSpc>
                <a:spcPct val="117000"/>
              </a:lnSpc>
              <a:defRPr sz="3600" b="1">
                <a:solidFill>
                  <a:srgbClr val="FAF7F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pPr>
            <a:r>
              <a:t>如果AI自己跑出实验室，</a:t>
            </a:r>
            <a:endParaRPr sz="1100"/>
          </a:p>
          <a:p>
            <a:pPr>
              <a:lnSpc>
                <a:spcPct val="117000"/>
              </a:lnSpc>
              <a:defRPr sz="3600" b="1">
                <a:solidFill>
                  <a:srgbClr val="FAF7F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pPr>
            <a:r>
              <a:t>去入侵别的系统，谁来管？</a:t>
            </a:r>
          </a:p>
        </p:txBody>
      </p:sp>
      <p:sp>
        <p:nvSpPr>
          <p:cNvPr id="326" name="Connector 4"/>
          <p:cNvSpPr/>
          <p:nvPr/>
        </p:nvSpPr>
        <p:spPr>
          <a:xfrm>
            <a:off x="1016000" y="4318000"/>
            <a:ext cx="1016080" cy="0"/>
          </a:xfrm>
          <a:prstGeom prst="line">
            <a:avLst/>
          </a:prstGeom>
          <a:ln w="25400">
            <a:solidFill>
              <a:srgbClr val="9C5C38"/>
            </a:solidFill>
          </a:ln>
        </p:spPr>
        <p:txBody>
          <a:bodyPr lIns="0" tIns="0" rIns="0" bIns="0"/>
          <a:lstStyle/>
          <a:p/>
        </p:txBody>
      </p:sp>
      <p:sp>
        <p:nvSpPr>
          <p:cNvPr id="327" name="AutoShape 5"/>
          <p:cNvSpPr txBox="1"/>
          <p:nvPr/>
        </p:nvSpPr>
        <p:spPr>
          <a:xfrm>
            <a:off x="1016000" y="4754033"/>
            <a:ext cx="8890000" cy="65193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>
              <a:lnSpc>
                <a:spcPct val="133000"/>
              </a:lnSpc>
              <a:defRPr sz="1600">
                <a:solidFill>
                  <a:srgbClr val="FAF7F2">
                    <a:alpha val="70196"/>
                  </a:srgbClr>
                </a:solidFill>
                <a:latin typeface="Kaiti SC Regular"/>
                <a:ea typeface="Kaiti SC Regular"/>
                <a:cs typeface="Kaiti SC Regular"/>
                <a:sym typeface="Kaiti SC Regular"/>
              </a:defRPr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联合国安理会是维护国际和平与安全的核心机构。什么样的风险，</a:t>
            </a:r>
            <a:endParaRPr sz="11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133000"/>
              </a:lnSpc>
              <a:defRPr sz="1600">
                <a:solidFill>
                  <a:srgbClr val="FAF7F2">
                    <a:alpha val="70196"/>
                  </a:srgbClr>
                </a:solidFill>
                <a:latin typeface="Kaiti SC Regular"/>
                <a:ea typeface="Kaiti SC Regular"/>
                <a:cs typeface="Kaiti SC Regular"/>
                <a:sym typeface="Kaiti SC Regular"/>
              </a:defRPr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会严重到需要安理会专门开会讨论？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8" name="AutoShape 6"/>
          <p:cNvSpPr txBox="1"/>
          <p:nvPr/>
        </p:nvSpPr>
        <p:spPr>
          <a:xfrm>
            <a:off x="7874000" y="4368799"/>
            <a:ext cx="3810000" cy="24384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r">
              <a:lnSpc>
                <a:spcPct val="125000"/>
              </a:lnSpc>
              <a:defRPr sz="16000" b="1">
                <a:solidFill>
                  <a:srgbClr val="FAF7F2">
                    <a:alpha val="5882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01</a:t>
            </a:r>
          </a:p>
        </p:txBody>
      </p:sp>
      <p:sp>
        <p:nvSpPr>
          <p:cNvPr id="329" name="AutoShape 2"/>
          <p:cNvSpPr txBox="1"/>
          <p:nvPr/>
        </p:nvSpPr>
        <p:spPr>
          <a:xfrm>
            <a:off x="1744775" y="1333499"/>
            <a:ext cx="10160001" cy="2540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>
                <a:solidFill>
                  <a:srgbClr val="FAF7F2">
                    <a:alpha val="60000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会议概况</a:t>
            </a:r>
          </a:p>
        </p:txBody>
      </p:sp>
      <p:grpSp>
        <p:nvGrpSpPr>
          <p:cNvPr id="333" name="Group"/>
          <p:cNvGrpSpPr/>
          <p:nvPr/>
        </p:nvGrpSpPr>
        <p:grpSpPr>
          <a:xfrm>
            <a:off x="-4164547" y="2366432"/>
            <a:ext cx="5080001" cy="552451"/>
            <a:chOff x="0" y="0"/>
            <a:chExt cx="5080000" cy="552449"/>
          </a:xfrm>
        </p:grpSpPr>
        <p:sp>
          <p:nvSpPr>
            <p:cNvPr id="331" name="AutoShape 5"/>
            <p:cNvSpPr txBox="1"/>
            <p:nvPr/>
          </p:nvSpPr>
          <p:spPr>
            <a:xfrm>
              <a:off x="0" y="0"/>
              <a:ext cx="1524000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ct val="125000"/>
                </a:lnSpc>
                <a:defRPr sz="1200">
                  <a:solidFill>
                    <a:srgbClr val="787878"/>
                  </a:solidFill>
                  <a:latin typeface="Kaiti SC Regular"/>
                  <a:ea typeface="Kaiti SC Regular"/>
                  <a:cs typeface="Kaiti SC Regular"/>
                  <a:sym typeface="Kaiti SC Regular"/>
                </a:defRPr>
              </a:lvl1pPr>
            </a:lstStyle>
            <a:p>
              <a:r>
                <a:rPr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rPr>
                <a:t>时间</a:t>
              </a:r>
              <a:endPara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332" name="AutoShape 6"/>
            <p:cNvSpPr txBox="1"/>
            <p:nvPr/>
          </p:nvSpPr>
          <p:spPr>
            <a:xfrm>
              <a:off x="0" y="273049"/>
              <a:ext cx="5080000" cy="279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ct val="125000"/>
                </a:lnSpc>
                <a:defRPr sz="1600" b="1">
                  <a:solidFill>
                    <a:srgbClr val="2B2B2B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2026年9月23日 · 纽约联合国总部</a:t>
              </a:r>
            </a:p>
          </p:txBody>
        </p:sp>
      </p:grpSp>
      <p:grpSp>
        <p:nvGrpSpPr>
          <p:cNvPr id="336" name="Group"/>
          <p:cNvGrpSpPr/>
          <p:nvPr/>
        </p:nvGrpSpPr>
        <p:grpSpPr>
          <a:xfrm>
            <a:off x="-4678927" y="3155950"/>
            <a:ext cx="5334001" cy="546101"/>
            <a:chOff x="0" y="0"/>
            <a:chExt cx="5334000" cy="546100"/>
          </a:xfrm>
        </p:grpSpPr>
        <p:sp>
          <p:nvSpPr>
            <p:cNvPr id="334" name="AutoShape 7"/>
            <p:cNvSpPr txBox="1"/>
            <p:nvPr/>
          </p:nvSpPr>
          <p:spPr>
            <a:xfrm>
              <a:off x="0" y="0"/>
              <a:ext cx="1524000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ct val="125000"/>
                </a:lnSpc>
                <a:defRPr sz="1200">
                  <a:solidFill>
                    <a:srgbClr val="787878"/>
                  </a:solidFill>
                  <a:latin typeface="Kaiti SC Regular"/>
                  <a:ea typeface="Kaiti SC Regular"/>
                  <a:cs typeface="Kaiti SC Regular"/>
                  <a:sym typeface="Kaiti SC Regular"/>
                </a:defRPr>
              </a:lvl1pPr>
            </a:lstStyle>
            <a:p>
              <a:r>
                <a:rPr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rPr>
                <a:t>召集方</a:t>
              </a:r>
              <a:endPara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335" name="AutoShape 8"/>
            <p:cNvSpPr txBox="1"/>
            <p:nvPr/>
          </p:nvSpPr>
          <p:spPr>
            <a:xfrm>
              <a:off x="0" y="279400"/>
              <a:ext cx="5334000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ct val="125000"/>
                </a:lnSpc>
                <a:defRPr sz="1500">
                  <a:solidFill>
                    <a:srgbClr val="2B2B2B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安理会轮值主席国法国 · 主题"AI与国际安全"</a:t>
              </a:r>
            </a:p>
          </p:txBody>
        </p:sp>
      </p:grpSp>
      <p:grpSp>
        <p:nvGrpSpPr>
          <p:cNvPr id="339" name="Group"/>
          <p:cNvGrpSpPr/>
          <p:nvPr/>
        </p:nvGrpSpPr>
        <p:grpSpPr>
          <a:xfrm>
            <a:off x="-4972859" y="3892550"/>
            <a:ext cx="5334001" cy="850901"/>
            <a:chOff x="0" y="0"/>
            <a:chExt cx="5334000" cy="850900"/>
          </a:xfrm>
        </p:grpSpPr>
        <p:sp>
          <p:nvSpPr>
            <p:cNvPr id="337" name="AutoShape 9"/>
            <p:cNvSpPr txBox="1"/>
            <p:nvPr/>
          </p:nvSpPr>
          <p:spPr>
            <a:xfrm>
              <a:off x="0" y="0"/>
              <a:ext cx="1524000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ct val="125000"/>
                </a:lnSpc>
                <a:defRPr sz="1200">
                  <a:solidFill>
                    <a:srgbClr val="787878"/>
                  </a:solidFill>
                  <a:latin typeface="Kaiti SC Regular"/>
                  <a:ea typeface="Kaiti SC Regular"/>
                  <a:cs typeface="Kaiti SC Regular"/>
                  <a:sym typeface="Kaiti SC Regular"/>
                </a:defRPr>
              </a:lvl1pPr>
            </a:lstStyle>
            <a:p>
              <a:r>
                <a:rPr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rPr>
                <a:t>受邀发言</a:t>
              </a:r>
              <a:endPara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338" name="AutoShape 10"/>
            <p:cNvSpPr txBox="1"/>
            <p:nvPr/>
          </p:nvSpPr>
          <p:spPr>
            <a:xfrm>
              <a:off x="0" y="279400"/>
              <a:ext cx="5334000" cy="571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/>
            <a:p>
              <a:pPr>
                <a:lnSpc>
                  <a:spcPct val="125000"/>
                </a:lnSpc>
                <a:defRPr>
                  <a:solidFill>
                    <a:srgbClr val="5A5A5A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pPr>
              <a:r>
                <a:t>图灵奖得主本乔；OpenAI、Anthropic、</a:t>
              </a:r>
              <a:endParaRPr sz="1100"/>
            </a:p>
            <a:p>
              <a:pPr>
                <a:lnSpc>
                  <a:spcPct val="125000"/>
                </a:lnSpc>
                <a:defRPr>
                  <a:solidFill>
                    <a:srgbClr val="5A5A5A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pPr>
              <a:r>
                <a:t>Hugging Face 三家公司CEO</a:t>
              </a:r>
            </a:p>
          </p:txBody>
        </p:sp>
      </p:grpSp>
      <p:grpSp>
        <p:nvGrpSpPr>
          <p:cNvPr id="342" name="Group"/>
          <p:cNvGrpSpPr/>
          <p:nvPr/>
        </p:nvGrpSpPr>
        <p:grpSpPr>
          <a:xfrm>
            <a:off x="-5634205" y="5080000"/>
            <a:ext cx="5334001" cy="1016000"/>
            <a:chOff x="0" y="0"/>
            <a:chExt cx="5334000" cy="1016000"/>
          </a:xfrm>
        </p:grpSpPr>
        <p:sp>
          <p:nvSpPr>
            <p:cNvPr id="340" name="AutoShape 11"/>
            <p:cNvSpPr/>
            <p:nvPr/>
          </p:nvSpPr>
          <p:spPr>
            <a:xfrm>
              <a:off x="0" y="0"/>
              <a:ext cx="5334000" cy="1016000"/>
            </a:xfrm>
            <a:prstGeom prst="roundRect">
              <a:avLst>
                <a:gd name="adj" fmla="val 0"/>
              </a:avLst>
            </a:prstGeom>
            <a:solidFill>
              <a:srgbClr val="9C5C38">
                <a:alpha val="1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/>
            </a:p>
          </p:txBody>
        </p:sp>
        <p:sp>
          <p:nvSpPr>
            <p:cNvPr id="341" name="AutoShape 12"/>
            <p:cNvSpPr txBox="1"/>
            <p:nvPr/>
          </p:nvSpPr>
          <p:spPr>
            <a:xfrm>
              <a:off x="203200" y="234950"/>
              <a:ext cx="4953000" cy="571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/>
            <a:p>
              <a:pPr>
                <a:lnSpc>
                  <a:spcPct val="125000"/>
                </a:lnSpc>
                <a:defRPr>
                  <a:solidFill>
                    <a:srgbClr val="5A5A5A"/>
                  </a:solidFill>
                  <a:latin typeface="Kaiti SC Regular"/>
                  <a:ea typeface="Kaiti SC Regular"/>
                  <a:cs typeface="Kaiti SC Regular"/>
                  <a:sym typeface="Kaiti SC Regular"/>
                </a:defRPr>
              </a:pPr>
              <a:r>
                <a:rPr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rPr>
                <a:t>2023年首谈：关注"会不会出事"；</a:t>
              </a:r>
              <a:endParaRPr sz="11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endParaRPr>
            </a:p>
            <a:p>
              <a:pPr>
                <a:lnSpc>
                  <a:spcPct val="125000"/>
                </a:lnSpc>
                <a:defRPr>
                  <a:solidFill>
                    <a:srgbClr val="5A5A5A"/>
                  </a:solidFill>
                  <a:latin typeface="Kaiti SC Regular"/>
                  <a:ea typeface="Kaiti SC Regular"/>
                  <a:cs typeface="Kaiti SC Regular"/>
                  <a:sym typeface="Kaiti SC Regular"/>
                </a:defRPr>
              </a:pPr>
              <a:r>
                <a:rPr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rPr>
                <a:t>2026年：多起真实事件已发生，转向"出事了怎么办"。</a:t>
              </a:r>
              <a:endPara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  <p:sp>
        <p:nvSpPr>
          <p:cNvPr id="343" name="AutoShape 15"/>
          <p:cNvSpPr txBox="1"/>
          <p:nvPr/>
        </p:nvSpPr>
        <p:spPr>
          <a:xfrm>
            <a:off x="-3833873" y="1917700"/>
            <a:ext cx="8890001" cy="1778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000">
                <a:solidFill>
                  <a:srgbClr val="9C5C38">
                    <a:alpha val="45098"/>
                  </a:srgbClr>
                </a:solidFill>
                <a:latin typeface="Kaiti SC Regular"/>
                <a:ea typeface="Kaiti SC Regular"/>
                <a:cs typeface="Kaiti SC Regular"/>
                <a:sym typeface="Kaiti SC Regular"/>
              </a:defRPr>
            </a:lvl1pPr>
          </a:lstStyle>
          <a:p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如果AI自己跑出实验室，去入侵别的系统，谁来管？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44" name="Connector 4"/>
          <p:cNvSpPr/>
          <p:nvPr/>
        </p:nvSpPr>
        <p:spPr>
          <a:xfrm>
            <a:off x="1016000" y="4318000"/>
            <a:ext cx="1016080" cy="0"/>
          </a:xfrm>
          <a:prstGeom prst="line">
            <a:avLst/>
          </a:prstGeom>
          <a:ln w="25400">
            <a:solidFill>
              <a:srgbClr val="9C5C38"/>
            </a:solidFill>
          </a:ln>
        </p:spPr>
        <p:txBody>
          <a:bodyPr lIns="0" tIns="0" rIns="0" bIns="0"/>
          <a:lstStyle/>
          <a:p/>
        </p:txBody>
      </p:sp>
      <p:pic>
        <p:nvPicPr>
          <p:cNvPr id="345" name="Picture 13" descr="Picture 13"/>
          <p:cNvPicPr>
            <a:picLocks noChangeAspect="1"/>
          </p:cNvPicPr>
          <p:nvPr/>
        </p:nvPicPr>
        <p:blipFill>
          <a:blip r:embed="rId1"/>
          <a:srcRect l="48" r="48"/>
          <a:stretch>
            <a:fillRect/>
          </a:stretch>
        </p:blipFill>
        <p:spPr>
          <a:xfrm>
            <a:off x="12789668" y="2173551"/>
            <a:ext cx="4318001" cy="28829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73" name="AutoShape 2"/>
          <p:cNvSpPr txBox="1"/>
          <p:nvPr/>
        </p:nvSpPr>
        <p:spPr>
          <a:xfrm>
            <a:off x="-4551998" y="754189"/>
            <a:ext cx="5080001" cy="5715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3200" b="1">
                <a:solidFill>
                  <a:srgbClr val="2B2B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目录</a:t>
            </a:r>
          </a:p>
        </p:txBody>
      </p:sp>
      <p:grpSp>
        <p:nvGrpSpPr>
          <p:cNvPr id="277" name="Group"/>
          <p:cNvGrpSpPr/>
          <p:nvPr/>
        </p:nvGrpSpPr>
        <p:grpSpPr>
          <a:xfrm>
            <a:off x="-4084003" y="2098040"/>
            <a:ext cx="4445001" cy="673101"/>
            <a:chOff x="0" y="0"/>
            <a:chExt cx="4445000" cy="673100"/>
          </a:xfrm>
        </p:grpSpPr>
        <p:sp>
          <p:nvSpPr>
            <p:cNvPr id="274" name="AutoShape 4"/>
            <p:cNvSpPr txBox="1"/>
            <p:nvPr/>
          </p:nvSpPr>
          <p:spPr>
            <a:xfrm>
              <a:off x="0" y="-1"/>
              <a:ext cx="762000" cy="431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ct val="125000"/>
                </a:lnSpc>
                <a:defRPr sz="2800" b="1">
                  <a:solidFill>
                    <a:srgbClr val="9C5C38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01</a:t>
              </a:r>
            </a:p>
          </p:txBody>
        </p:sp>
        <p:sp>
          <p:nvSpPr>
            <p:cNvPr id="275" name="AutoShape 5"/>
            <p:cNvSpPr txBox="1"/>
            <p:nvPr/>
          </p:nvSpPr>
          <p:spPr>
            <a:xfrm>
              <a:off x="889000" y="57150"/>
              <a:ext cx="3556000" cy="317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ct val="125000"/>
                </a:lnSpc>
                <a:defRPr sz="1800" b="1">
                  <a:solidFill>
                    <a:srgbClr val="2B2B2B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会议概况</a:t>
              </a:r>
            </a:p>
          </p:txBody>
        </p:sp>
        <p:sp>
          <p:nvSpPr>
            <p:cNvPr id="276" name="AutoShape 6"/>
            <p:cNvSpPr txBox="1"/>
            <p:nvPr/>
          </p:nvSpPr>
          <p:spPr>
            <a:xfrm>
              <a:off x="889000" y="444500"/>
              <a:ext cx="3556000" cy="228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ct val="125000"/>
                </a:lnSpc>
                <a:defRPr sz="1300">
                  <a:solidFill>
                    <a:srgbClr val="787878"/>
                  </a:solidFill>
                  <a:latin typeface="Kaiti SC Regular"/>
                  <a:ea typeface="Kaiti SC Regular"/>
                  <a:cs typeface="Kaiti SC Regular"/>
                  <a:sym typeface="Kaiti SC Regular"/>
                </a:defRPr>
              </a:lvl1pPr>
            </a:lstStyle>
            <a:p>
              <a:r>
                <a:rPr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rPr>
                <a:t>安理会AI高级别会议</a:t>
              </a:r>
              <a:endPara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  <p:grpSp>
        <p:nvGrpSpPr>
          <p:cNvPr id="281" name="Group"/>
          <p:cNvGrpSpPr/>
          <p:nvPr/>
        </p:nvGrpSpPr>
        <p:grpSpPr>
          <a:xfrm>
            <a:off x="-3789998" y="3373755"/>
            <a:ext cx="4445001" cy="673101"/>
            <a:chOff x="0" y="0"/>
            <a:chExt cx="4445000" cy="673100"/>
          </a:xfrm>
        </p:grpSpPr>
        <p:sp>
          <p:nvSpPr>
            <p:cNvPr id="278" name="AutoShape 7"/>
            <p:cNvSpPr txBox="1"/>
            <p:nvPr/>
          </p:nvSpPr>
          <p:spPr>
            <a:xfrm>
              <a:off x="0" y="-1"/>
              <a:ext cx="762000" cy="431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ct val="125000"/>
                </a:lnSpc>
                <a:defRPr sz="2800" b="1">
                  <a:solidFill>
                    <a:srgbClr val="9C5C38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02</a:t>
              </a:r>
            </a:p>
          </p:txBody>
        </p:sp>
        <p:sp>
          <p:nvSpPr>
            <p:cNvPr id="279" name="AutoShape 8"/>
            <p:cNvSpPr txBox="1"/>
            <p:nvPr/>
          </p:nvSpPr>
          <p:spPr>
            <a:xfrm>
              <a:off x="889000" y="57150"/>
              <a:ext cx="3556000" cy="317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ct val="125000"/>
                </a:lnSpc>
                <a:defRPr sz="1800" b="1">
                  <a:solidFill>
                    <a:srgbClr val="2B2B2B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三起失控事件</a:t>
              </a:r>
            </a:p>
          </p:txBody>
        </p:sp>
        <p:sp>
          <p:nvSpPr>
            <p:cNvPr id="280" name="AutoShape 9"/>
            <p:cNvSpPr txBox="1"/>
            <p:nvPr/>
          </p:nvSpPr>
          <p:spPr>
            <a:xfrm>
              <a:off x="889000" y="444500"/>
              <a:ext cx="3556000" cy="228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ct val="125000"/>
                </a:lnSpc>
                <a:defRPr sz="1300">
                  <a:solidFill>
                    <a:srgbClr val="787878"/>
                  </a:solidFill>
                  <a:latin typeface="Kaiti SC Regular"/>
                  <a:ea typeface="Kaiti SC Regular"/>
                  <a:cs typeface="Kaiti SC Regular"/>
                  <a:sym typeface="Kaiti SC Regular"/>
                </a:defRPr>
              </a:lvl1pPr>
            </a:lstStyle>
            <a:p>
              <a:r>
                <a:rPr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rPr>
                <a:t>从科幻走进现实的安全风险</a:t>
              </a:r>
              <a:endPara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  <p:grpSp>
        <p:nvGrpSpPr>
          <p:cNvPr id="285" name="Group"/>
          <p:cNvGrpSpPr/>
          <p:nvPr/>
        </p:nvGrpSpPr>
        <p:grpSpPr>
          <a:xfrm>
            <a:off x="-3096895" y="4196398"/>
            <a:ext cx="4445001" cy="673101"/>
            <a:chOff x="0" y="0"/>
            <a:chExt cx="4445000" cy="673100"/>
          </a:xfrm>
        </p:grpSpPr>
        <p:sp>
          <p:nvSpPr>
            <p:cNvPr id="282" name="AutoShape 10"/>
            <p:cNvSpPr txBox="1"/>
            <p:nvPr/>
          </p:nvSpPr>
          <p:spPr>
            <a:xfrm>
              <a:off x="0" y="-1"/>
              <a:ext cx="762000" cy="431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ct val="125000"/>
                </a:lnSpc>
                <a:defRPr sz="2800" b="1">
                  <a:solidFill>
                    <a:srgbClr val="9C5C38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03</a:t>
              </a:r>
            </a:p>
          </p:txBody>
        </p:sp>
        <p:sp>
          <p:nvSpPr>
            <p:cNvPr id="283" name="AutoShape 11"/>
            <p:cNvSpPr txBox="1"/>
            <p:nvPr/>
          </p:nvSpPr>
          <p:spPr>
            <a:xfrm>
              <a:off x="889000" y="57150"/>
              <a:ext cx="3556000" cy="317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ct val="125000"/>
                </a:lnSpc>
                <a:defRPr sz="1800" b="1">
                  <a:solidFill>
                    <a:srgbClr val="2B2B2B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各方核心立场</a:t>
              </a:r>
            </a:p>
          </p:txBody>
        </p:sp>
        <p:sp>
          <p:nvSpPr>
            <p:cNvPr id="284" name="AutoShape 12"/>
            <p:cNvSpPr txBox="1"/>
            <p:nvPr/>
          </p:nvSpPr>
          <p:spPr>
            <a:xfrm>
              <a:off x="889000" y="444500"/>
              <a:ext cx="3556000" cy="228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ct val="125000"/>
                </a:lnSpc>
                <a:defRPr sz="1300">
                  <a:solidFill>
                    <a:srgbClr val="787878"/>
                  </a:solidFill>
                  <a:latin typeface="Kaiti SC Regular"/>
                  <a:ea typeface="Kaiti SC Regular"/>
                  <a:cs typeface="Kaiti SC Regular"/>
                  <a:sym typeface="Kaiti SC Regular"/>
                </a:defRPr>
              </a:lvl1pPr>
            </a:lstStyle>
            <a:p>
              <a:r>
                <a:rPr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rPr>
                <a:t>联合国、美国、中国、欧盟</a:t>
              </a:r>
              <a:endPara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  <p:grpSp>
        <p:nvGrpSpPr>
          <p:cNvPr id="289" name="Group"/>
          <p:cNvGrpSpPr/>
          <p:nvPr/>
        </p:nvGrpSpPr>
        <p:grpSpPr>
          <a:xfrm>
            <a:off x="13765848" y="2252344"/>
            <a:ext cx="4699001" cy="673101"/>
            <a:chOff x="0" y="0"/>
            <a:chExt cx="4699000" cy="673100"/>
          </a:xfrm>
        </p:grpSpPr>
        <p:sp>
          <p:nvSpPr>
            <p:cNvPr id="286" name="AutoShape 13"/>
            <p:cNvSpPr txBox="1"/>
            <p:nvPr/>
          </p:nvSpPr>
          <p:spPr>
            <a:xfrm>
              <a:off x="0" y="-1"/>
              <a:ext cx="762000" cy="431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ct val="125000"/>
                </a:lnSpc>
                <a:defRPr sz="2800" b="1">
                  <a:solidFill>
                    <a:srgbClr val="9C5C38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04</a:t>
              </a:r>
            </a:p>
          </p:txBody>
        </p:sp>
        <p:sp>
          <p:nvSpPr>
            <p:cNvPr id="287" name="AutoShape 14"/>
            <p:cNvSpPr txBox="1"/>
            <p:nvPr/>
          </p:nvSpPr>
          <p:spPr>
            <a:xfrm>
              <a:off x="889000" y="57150"/>
              <a:ext cx="3810000" cy="317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ct val="125000"/>
                </a:lnSpc>
                <a:defRPr sz="1800" b="1">
                  <a:solidFill>
                    <a:srgbClr val="2B2B2B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核心分歧</a:t>
              </a:r>
            </a:p>
          </p:txBody>
        </p:sp>
        <p:sp>
          <p:nvSpPr>
            <p:cNvPr id="288" name="AutoShape 15"/>
            <p:cNvSpPr txBox="1"/>
            <p:nvPr/>
          </p:nvSpPr>
          <p:spPr>
            <a:xfrm>
              <a:off x="889000" y="444500"/>
              <a:ext cx="3810000" cy="228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ct val="125000"/>
                </a:lnSpc>
                <a:defRPr sz="1300">
                  <a:solidFill>
                    <a:srgbClr val="787878"/>
                  </a:solidFill>
                  <a:latin typeface="Kaiti SC Regular"/>
                  <a:ea typeface="Kaiti SC Regular"/>
                  <a:cs typeface="Kaiti SC Regular"/>
                  <a:sym typeface="Kaiti SC Regular"/>
                </a:defRPr>
              </a:lvl1pPr>
            </a:lstStyle>
            <a:p>
              <a:r>
                <a:rPr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rPr>
                <a:t>AI规则由谁来制定</a:t>
              </a:r>
              <a:endPara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  <p:grpSp>
        <p:nvGrpSpPr>
          <p:cNvPr id="293" name="Group"/>
          <p:cNvGrpSpPr/>
          <p:nvPr/>
        </p:nvGrpSpPr>
        <p:grpSpPr>
          <a:xfrm>
            <a:off x="12876967" y="3111499"/>
            <a:ext cx="4699001" cy="673101"/>
            <a:chOff x="0" y="0"/>
            <a:chExt cx="4699000" cy="673100"/>
          </a:xfrm>
        </p:grpSpPr>
        <p:sp>
          <p:nvSpPr>
            <p:cNvPr id="290" name="AutoShape 16"/>
            <p:cNvSpPr txBox="1"/>
            <p:nvPr/>
          </p:nvSpPr>
          <p:spPr>
            <a:xfrm>
              <a:off x="0" y="-1"/>
              <a:ext cx="762000" cy="431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ct val="125000"/>
                </a:lnSpc>
                <a:defRPr sz="2800" b="1">
                  <a:solidFill>
                    <a:srgbClr val="9C5C38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05</a:t>
              </a:r>
            </a:p>
          </p:txBody>
        </p:sp>
        <p:sp>
          <p:nvSpPr>
            <p:cNvPr id="291" name="AutoShape 17"/>
            <p:cNvSpPr txBox="1"/>
            <p:nvPr/>
          </p:nvSpPr>
          <p:spPr>
            <a:xfrm>
              <a:off x="889000" y="57150"/>
              <a:ext cx="3810000" cy="317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ct val="125000"/>
                </a:lnSpc>
                <a:defRPr sz="1800" b="1">
                  <a:solidFill>
                    <a:srgbClr val="2B2B2B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中国国内治理</a:t>
              </a:r>
            </a:p>
          </p:txBody>
        </p:sp>
        <p:sp>
          <p:nvSpPr>
            <p:cNvPr id="292" name="AutoShape 18"/>
            <p:cNvSpPr txBox="1"/>
            <p:nvPr/>
          </p:nvSpPr>
          <p:spPr>
            <a:xfrm>
              <a:off x="889000" y="444500"/>
              <a:ext cx="3810000" cy="228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ct val="125000"/>
                </a:lnSpc>
                <a:defRPr sz="1300">
                  <a:solidFill>
                    <a:srgbClr val="787878"/>
                  </a:solidFill>
                  <a:latin typeface="Kaiti SC Regular"/>
                  <a:ea typeface="Kaiti SC Regular"/>
                  <a:cs typeface="Kaiti SC Regular"/>
                  <a:sym typeface="Kaiti SC Regular"/>
                </a:defRPr>
              </a:lvl1pPr>
            </a:lstStyle>
            <a:p>
              <a:r>
                <a:rPr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rPr>
                <a:t>框架3.0、分级标准、标识办法</a:t>
              </a:r>
              <a:endPara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AutoShape 3"/>
          <p:cNvSpPr txBox="1"/>
          <p:nvPr/>
        </p:nvSpPr>
        <p:spPr>
          <a:xfrm>
            <a:off x="1016000" y="1162049"/>
            <a:ext cx="5842000" cy="4699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2600" b="1">
                <a:solidFill>
                  <a:srgbClr val="2B2B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一场规格极高的会议</a:t>
            </a:r>
          </a:p>
        </p:txBody>
      </p:sp>
      <p:sp>
        <p:nvSpPr>
          <p:cNvPr id="351" name="Connector 4"/>
          <p:cNvSpPr/>
          <p:nvPr/>
        </p:nvSpPr>
        <p:spPr>
          <a:xfrm>
            <a:off x="1015999" y="1841499"/>
            <a:ext cx="508160" cy="2"/>
          </a:xfrm>
          <a:prstGeom prst="line">
            <a:avLst/>
          </a:prstGeom>
          <a:ln w="25400">
            <a:solidFill>
              <a:srgbClr val="9C5C38"/>
            </a:solidFill>
          </a:ln>
        </p:spPr>
        <p:txBody>
          <a:bodyPr lIns="0" tIns="0" rIns="0" bIns="0"/>
          <a:lstStyle/>
          <a:p/>
        </p:txBody>
      </p:sp>
      <p:grpSp>
        <p:nvGrpSpPr>
          <p:cNvPr id="354" name="Group"/>
          <p:cNvGrpSpPr/>
          <p:nvPr/>
        </p:nvGrpSpPr>
        <p:grpSpPr>
          <a:xfrm>
            <a:off x="1016000" y="2317750"/>
            <a:ext cx="5080000" cy="552451"/>
            <a:chOff x="0" y="0"/>
            <a:chExt cx="5080000" cy="552449"/>
          </a:xfrm>
        </p:grpSpPr>
        <p:sp>
          <p:nvSpPr>
            <p:cNvPr id="352" name="AutoShape 5"/>
            <p:cNvSpPr txBox="1"/>
            <p:nvPr/>
          </p:nvSpPr>
          <p:spPr>
            <a:xfrm>
              <a:off x="0" y="0"/>
              <a:ext cx="1524000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ct val="125000"/>
                </a:lnSpc>
                <a:defRPr sz="1200">
                  <a:solidFill>
                    <a:srgbClr val="787878"/>
                  </a:solidFill>
                  <a:latin typeface="Kaiti SC Regular"/>
                  <a:ea typeface="Kaiti SC Regular"/>
                  <a:cs typeface="Kaiti SC Regular"/>
                  <a:sym typeface="Kaiti SC Regular"/>
                </a:defRPr>
              </a:lvl1pPr>
            </a:lstStyle>
            <a:p>
              <a:r>
                <a:rPr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rPr>
                <a:t>时间</a:t>
              </a:r>
              <a:endPara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353" name="AutoShape 6"/>
            <p:cNvSpPr txBox="1"/>
            <p:nvPr/>
          </p:nvSpPr>
          <p:spPr>
            <a:xfrm>
              <a:off x="0" y="273049"/>
              <a:ext cx="5080000" cy="279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ct val="125000"/>
                </a:lnSpc>
                <a:defRPr sz="1600" b="1">
                  <a:solidFill>
                    <a:srgbClr val="2B2B2B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2026年9月23日 · 纽约联合国总部</a:t>
              </a:r>
            </a:p>
          </p:txBody>
        </p:sp>
      </p:grpSp>
      <p:grpSp>
        <p:nvGrpSpPr>
          <p:cNvPr id="357" name="Group"/>
          <p:cNvGrpSpPr/>
          <p:nvPr/>
        </p:nvGrpSpPr>
        <p:grpSpPr>
          <a:xfrm>
            <a:off x="1016000" y="3079750"/>
            <a:ext cx="5334000" cy="546101"/>
            <a:chOff x="0" y="0"/>
            <a:chExt cx="5334000" cy="546100"/>
          </a:xfrm>
        </p:grpSpPr>
        <p:sp>
          <p:nvSpPr>
            <p:cNvPr id="355" name="AutoShape 7"/>
            <p:cNvSpPr txBox="1"/>
            <p:nvPr/>
          </p:nvSpPr>
          <p:spPr>
            <a:xfrm>
              <a:off x="0" y="0"/>
              <a:ext cx="1524000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ct val="125000"/>
                </a:lnSpc>
                <a:defRPr sz="1200">
                  <a:solidFill>
                    <a:srgbClr val="787878"/>
                  </a:solidFill>
                  <a:latin typeface="Kaiti SC Regular"/>
                  <a:ea typeface="Kaiti SC Regular"/>
                  <a:cs typeface="Kaiti SC Regular"/>
                  <a:sym typeface="Kaiti SC Regular"/>
                </a:defRPr>
              </a:lvl1pPr>
            </a:lstStyle>
            <a:p>
              <a:r>
                <a:rPr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rPr>
                <a:t>召集方</a:t>
              </a:r>
              <a:endPara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356" name="AutoShape 8"/>
            <p:cNvSpPr txBox="1"/>
            <p:nvPr/>
          </p:nvSpPr>
          <p:spPr>
            <a:xfrm>
              <a:off x="0" y="279400"/>
              <a:ext cx="5334000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ct val="125000"/>
                </a:lnSpc>
                <a:defRPr sz="1500">
                  <a:solidFill>
                    <a:srgbClr val="2B2B2B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安理会轮值主席国法国 · 主题"AI与国际安全"</a:t>
              </a:r>
            </a:p>
          </p:txBody>
        </p:sp>
      </p:grpSp>
      <p:grpSp>
        <p:nvGrpSpPr>
          <p:cNvPr id="360" name="Group"/>
          <p:cNvGrpSpPr/>
          <p:nvPr/>
        </p:nvGrpSpPr>
        <p:grpSpPr>
          <a:xfrm>
            <a:off x="1016000" y="3841750"/>
            <a:ext cx="5334000" cy="850901"/>
            <a:chOff x="0" y="0"/>
            <a:chExt cx="5334000" cy="850900"/>
          </a:xfrm>
        </p:grpSpPr>
        <p:sp>
          <p:nvSpPr>
            <p:cNvPr id="358" name="AutoShape 9"/>
            <p:cNvSpPr txBox="1"/>
            <p:nvPr/>
          </p:nvSpPr>
          <p:spPr>
            <a:xfrm>
              <a:off x="0" y="0"/>
              <a:ext cx="1524000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ct val="125000"/>
                </a:lnSpc>
                <a:defRPr sz="1200">
                  <a:solidFill>
                    <a:srgbClr val="787878"/>
                  </a:solidFill>
                  <a:latin typeface="Kaiti SC Regular"/>
                  <a:ea typeface="Kaiti SC Regular"/>
                  <a:cs typeface="Kaiti SC Regular"/>
                  <a:sym typeface="Kaiti SC Regular"/>
                </a:defRPr>
              </a:lvl1pPr>
            </a:lstStyle>
            <a:p>
              <a:r>
                <a:rPr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rPr>
                <a:t>受邀发言</a:t>
              </a:r>
              <a:endPara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359" name="AutoShape 10"/>
            <p:cNvSpPr txBox="1"/>
            <p:nvPr/>
          </p:nvSpPr>
          <p:spPr>
            <a:xfrm>
              <a:off x="0" y="279400"/>
              <a:ext cx="5334000" cy="571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/>
            <a:p>
              <a:pPr>
                <a:lnSpc>
                  <a:spcPct val="125000"/>
                </a:lnSpc>
                <a:defRPr>
                  <a:solidFill>
                    <a:srgbClr val="5A5A5A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pPr>
              <a:r>
                <a:t>图灵奖得主本乔；OpenAI、Anthropic、</a:t>
              </a:r>
              <a:endParaRPr sz="1100"/>
            </a:p>
            <a:p>
              <a:pPr>
                <a:lnSpc>
                  <a:spcPct val="125000"/>
                </a:lnSpc>
                <a:defRPr>
                  <a:solidFill>
                    <a:srgbClr val="5A5A5A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pPr>
              <a:r>
                <a:t>Hugging Face 三家公司CEO</a:t>
              </a:r>
            </a:p>
          </p:txBody>
        </p:sp>
      </p:grpSp>
      <p:grpSp>
        <p:nvGrpSpPr>
          <p:cNvPr id="363" name="Group"/>
          <p:cNvGrpSpPr/>
          <p:nvPr/>
        </p:nvGrpSpPr>
        <p:grpSpPr>
          <a:xfrm>
            <a:off x="1016000" y="5016500"/>
            <a:ext cx="5334000" cy="1016000"/>
            <a:chOff x="0" y="0"/>
            <a:chExt cx="5334000" cy="1016000"/>
          </a:xfrm>
        </p:grpSpPr>
        <p:sp>
          <p:nvSpPr>
            <p:cNvPr id="361" name="AutoShape 11"/>
            <p:cNvSpPr/>
            <p:nvPr/>
          </p:nvSpPr>
          <p:spPr>
            <a:xfrm>
              <a:off x="0" y="0"/>
              <a:ext cx="5334000" cy="1016000"/>
            </a:xfrm>
            <a:prstGeom prst="roundRect">
              <a:avLst>
                <a:gd name="adj" fmla="val 0"/>
              </a:avLst>
            </a:prstGeom>
            <a:solidFill>
              <a:srgbClr val="9C5C38">
                <a:alpha val="1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/>
            </a:p>
          </p:txBody>
        </p:sp>
        <p:sp>
          <p:nvSpPr>
            <p:cNvPr id="362" name="AutoShape 12"/>
            <p:cNvSpPr txBox="1"/>
            <p:nvPr/>
          </p:nvSpPr>
          <p:spPr>
            <a:xfrm>
              <a:off x="203200" y="234950"/>
              <a:ext cx="4953000" cy="571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/>
            <a:p>
              <a:pPr>
                <a:lnSpc>
                  <a:spcPct val="125000"/>
                </a:lnSpc>
                <a:defRPr>
                  <a:solidFill>
                    <a:srgbClr val="5A5A5A"/>
                  </a:solidFill>
                  <a:latin typeface="Kaiti SC Regular"/>
                  <a:ea typeface="Kaiti SC Regular"/>
                  <a:cs typeface="Kaiti SC Regular"/>
                  <a:sym typeface="Kaiti SC Regular"/>
                </a:defRPr>
              </a:pPr>
              <a:r>
                <a:rPr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rPr>
                <a:t>2023年首谈：关注"会不会出事"；</a:t>
              </a:r>
              <a:endParaRPr sz="11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endParaRPr>
            </a:p>
            <a:p>
              <a:pPr>
                <a:lnSpc>
                  <a:spcPct val="125000"/>
                </a:lnSpc>
                <a:defRPr>
                  <a:solidFill>
                    <a:srgbClr val="5A5A5A"/>
                  </a:solidFill>
                  <a:latin typeface="Kaiti SC Regular"/>
                  <a:ea typeface="Kaiti SC Regular"/>
                  <a:cs typeface="Kaiti SC Regular"/>
                  <a:sym typeface="Kaiti SC Regular"/>
                </a:defRPr>
              </a:pPr>
              <a:r>
                <a:rPr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rPr>
                <a:t>2026年：多起真实事件已发生，转向"出事了怎么办"。</a:t>
              </a:r>
              <a:endPara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  <p:pic>
        <p:nvPicPr>
          <p:cNvPr id="364" name="Picture 13" descr="Picture 13"/>
          <p:cNvPicPr>
            <a:picLocks noChangeAspect="1"/>
          </p:cNvPicPr>
          <p:nvPr/>
        </p:nvPicPr>
        <p:blipFill>
          <a:blip r:embed="rId1"/>
          <a:srcRect l="48" r="48"/>
          <a:stretch>
            <a:fillRect/>
          </a:stretch>
        </p:blipFill>
        <p:spPr>
          <a:xfrm>
            <a:off x="6858000" y="2286000"/>
            <a:ext cx="4318001" cy="28829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65" name="AutoShape 14"/>
          <p:cNvSpPr txBox="1"/>
          <p:nvPr/>
        </p:nvSpPr>
        <p:spPr>
          <a:xfrm>
            <a:off x="6858000" y="5295899"/>
            <a:ext cx="4318000" cy="2032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100">
                <a:solidFill>
                  <a:srgbClr val="A0A0A0"/>
                </a:solidFill>
                <a:latin typeface="Kaiti SC Regular"/>
                <a:ea typeface="Kaiti SC Regular"/>
                <a:cs typeface="Kaiti SC Regular"/>
                <a:sym typeface="Kaiti SC Regular"/>
              </a:defRPr>
            </a:lvl1pPr>
          </a:lstStyle>
          <a:p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联合国总部（纽约）· 本次会议召开地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66" name="AutoShape 15"/>
          <p:cNvSpPr txBox="1"/>
          <p:nvPr/>
        </p:nvSpPr>
        <p:spPr>
          <a:xfrm>
            <a:off x="1016000" y="1917700"/>
            <a:ext cx="8890000" cy="1778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000">
                <a:solidFill>
                  <a:srgbClr val="9C5C38">
                    <a:alpha val="45098"/>
                  </a:srgbClr>
                </a:solidFill>
                <a:latin typeface="Kaiti SC Regular"/>
                <a:ea typeface="Kaiti SC Regular"/>
                <a:cs typeface="Kaiti SC Regular"/>
                <a:sym typeface="Kaiti SC Regular"/>
              </a:defRPr>
            </a:lvl1pPr>
          </a:lstStyle>
          <a:p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如果AI自己跑出实验室，去入侵别的系统，谁来管？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67" name="AutoShape 16"/>
          <p:cNvSpPr/>
          <p:nvPr/>
        </p:nvSpPr>
        <p:spPr>
          <a:xfrm>
            <a:off x="1016000" y="6540500"/>
            <a:ext cx="635000" cy="38100"/>
          </a:xfrm>
          <a:prstGeom prst="roundRect">
            <a:avLst>
              <a:gd name="adj" fmla="val 0"/>
            </a:avLst>
          </a:prstGeom>
          <a:solidFill>
            <a:srgbClr val="9C5C38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324" name="AutoShape 2"/>
          <p:cNvSpPr txBox="1"/>
          <p:nvPr/>
        </p:nvSpPr>
        <p:spPr>
          <a:xfrm>
            <a:off x="1016000" y="651283"/>
            <a:ext cx="10160000" cy="23050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>
                <a:solidFill>
                  <a:srgbClr val="FAF7F2">
                    <a:alpha val="60000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pPr marL="0" marR="0" indent="0" algn="l" defTabSz="0" rtl="0" latin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r>
              <a:rPr sz="1200">
                <a:ln>
                  <a:noFill/>
                </a:ln>
                <a:solidFill>
                  <a:srgbClr val="9C5C38"/>
                </a:solidFill>
                <a:effectLst/>
                <a:uFillTx/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第一章</a:t>
            </a:r>
            <a:endParaRPr sz="1200">
              <a:ln>
                <a:noFill/>
              </a:ln>
              <a:solidFill>
                <a:srgbClr val="9C5C38"/>
              </a:solidFill>
              <a:effectLst/>
              <a:uFillTx/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329" name="AutoShape 2"/>
          <p:cNvSpPr txBox="1"/>
          <p:nvPr/>
        </p:nvSpPr>
        <p:spPr>
          <a:xfrm>
            <a:off x="1744775" y="651283"/>
            <a:ext cx="10160001" cy="23050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>
                <a:solidFill>
                  <a:srgbClr val="FAF7F2">
                    <a:alpha val="60000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pPr marL="0" marR="0" indent="0" algn="l" defTabSz="0" rtl="0" latin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r>
              <a:rPr sz="1200">
                <a:ln>
                  <a:noFill/>
                </a:ln>
                <a:solidFill>
                  <a:srgbClr val="9C5C38"/>
                </a:solidFill>
                <a:effectLst/>
                <a:uFillTx/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会议概况</a:t>
            </a:r>
            <a:endParaRPr sz="1200">
              <a:ln>
                <a:noFill/>
              </a:ln>
              <a:solidFill>
                <a:srgbClr val="9C5C38"/>
              </a:solidFill>
              <a:effectLst/>
              <a:uFillTx/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2" name="AutoShape 2"/>
          <p:cNvSpPr txBox="1"/>
          <p:nvPr/>
        </p:nvSpPr>
        <p:spPr>
          <a:xfrm>
            <a:off x="-2254250" y="1255776"/>
            <a:ext cx="10160000" cy="26924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>
                <a:solidFill>
                  <a:srgbClr val="FAF7F2">
                    <a:alpha val="60000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第</a:t>
            </a:r>
            <a:r>
              <a:rPr lang="zh-CN" altLang="en-US">
                <a:cs typeface="Arial" panose="020B0604020202020204" pitchFamily="34" charset="0"/>
              </a:rPr>
              <a:t>二</a:t>
            </a:r>
            <a:r>
              <a:t>章</a:t>
            </a:r>
          </a:p>
        </p:txBody>
      </p:sp>
      <p:sp>
        <p:nvSpPr>
          <p:cNvPr id="325" name="AutoShape 3"/>
          <p:cNvSpPr txBox="1"/>
          <p:nvPr/>
        </p:nvSpPr>
        <p:spPr>
          <a:xfrm>
            <a:off x="-8890000" y="2301044"/>
            <a:ext cx="10160000" cy="129476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>
              <a:lnSpc>
                <a:spcPct val="117000"/>
              </a:lnSpc>
              <a:defRPr sz="3600" b="1">
                <a:solidFill>
                  <a:srgbClr val="FAF7F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pPr>
            <a:r>
              <a:rPr>
                <a:ln>
                  <a:noFill/>
                </a:ln>
                <a:solidFill>
                  <a:srgbClr val="FAF7F2"/>
                </a:solidFill>
                <a:effectLst/>
                <a:uFillTx/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这件事情</a:t>
            </a:r>
            <a:endParaRPr>
              <a:ln>
                <a:noFill/>
              </a:ln>
              <a:solidFill>
                <a:srgbClr val="FAF7F2"/>
              </a:solidFill>
              <a:effectLst/>
              <a:uFillTx/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  <a:p>
            <a:pPr>
              <a:lnSpc>
                <a:spcPct val="117000"/>
              </a:lnSpc>
              <a:defRPr sz="3600" b="1">
                <a:solidFill>
                  <a:srgbClr val="FAF7F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pPr>
            <a:r>
              <a:rPr>
                <a:ln>
                  <a:noFill/>
                </a:ln>
                <a:solidFill>
                  <a:srgbClr val="FAF7F2"/>
                </a:solidFill>
                <a:effectLst/>
                <a:uFillTx/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为何引起大家的重视？</a:t>
            </a:r>
            <a:endParaRPr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328" name="AutoShape 6"/>
          <p:cNvSpPr txBox="1"/>
          <p:nvPr/>
        </p:nvSpPr>
        <p:spPr>
          <a:xfrm>
            <a:off x="11904753" y="4069670"/>
            <a:ext cx="3810000" cy="307784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r">
              <a:lnSpc>
                <a:spcPct val="125000"/>
              </a:lnSpc>
              <a:defRPr sz="16000" b="1">
                <a:solidFill>
                  <a:srgbClr val="FAF7F2">
                    <a:alpha val="5882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0</a:t>
            </a:r>
            <a:r>
              <a:rPr lang="en-US" altLang="zh-CN">
                <a:cs typeface="Arial" panose="020B0604020202020204" pitchFamily="34" charset="0"/>
              </a:rPr>
              <a:t>2</a:t>
            </a:r>
            <a:endParaRPr lang="en-US" altLang="zh-CN">
              <a:cs typeface="Arial" panose="020B0604020202020204" pitchFamily="34" charset="0"/>
            </a:endParaRPr>
          </a:p>
        </p:txBody>
      </p:sp>
      <p:sp>
        <p:nvSpPr>
          <p:cNvPr id="3" name="AutoShape 2"/>
          <p:cNvSpPr txBox="1"/>
          <p:nvPr/>
        </p:nvSpPr>
        <p:spPr>
          <a:xfrm>
            <a:off x="-1525475" y="1255776"/>
            <a:ext cx="10160001" cy="26924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>
                <a:solidFill>
                  <a:srgbClr val="FAF7F2">
                    <a:alpha val="60000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rPr>
                <a:ln>
                  <a:noFill/>
                </a:ln>
                <a:solidFill>
                  <a:srgbClr val="FAF7F2">
                    <a:alpha val="60000"/>
                  </a:srgbClr>
                </a:solidFill>
                <a:effectLst/>
                <a:uFillTx/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为什么</a:t>
            </a:r>
            <a:r>
              <a:rPr lang="zh-CN" altLang="en-US">
                <a:ln>
                  <a:noFill/>
                </a:ln>
                <a:solidFill>
                  <a:srgbClr val="FAF7F2">
                    <a:alpha val="60000"/>
                  </a:srgbClr>
                </a:solidFill>
                <a:effectLst/>
                <a:uFillTx/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至关</a:t>
            </a:r>
            <a:r>
              <a:rPr>
                <a:ln>
                  <a:noFill/>
                </a:ln>
                <a:solidFill>
                  <a:srgbClr val="FAF7F2">
                    <a:alpha val="60000"/>
                  </a:srgbClr>
                </a:solidFill>
                <a:effectLst/>
                <a:uFillTx/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重要</a:t>
            </a:r>
            <a:endParaRPr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6" name="AutoShape 3"/>
          <p:cNvSpPr txBox="1"/>
          <p:nvPr/>
        </p:nvSpPr>
        <p:spPr>
          <a:xfrm>
            <a:off x="-9144000" y="2230667"/>
            <a:ext cx="10160000" cy="137583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>
              <a:lnSpc>
                <a:spcPct val="117000"/>
              </a:lnSpc>
              <a:defRPr sz="3600" b="1">
                <a:solidFill>
                  <a:srgbClr val="FAF7F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pPr>
            <a:r>
              <a:t>如果AI自己跑出实验室，</a:t>
            </a:r>
            <a:endParaRPr sz="1100"/>
          </a:p>
          <a:p>
            <a:pPr>
              <a:lnSpc>
                <a:spcPct val="117000"/>
              </a:lnSpc>
              <a:defRPr sz="3600" b="1">
                <a:solidFill>
                  <a:srgbClr val="FAF7F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pPr>
            <a:r>
              <a:t>去入侵别的系统，谁来管？</a:t>
            </a:r>
          </a:p>
        </p:txBody>
      </p:sp>
      <p:sp>
        <p:nvSpPr>
          <p:cNvPr id="7" name="AutoShape 5"/>
          <p:cNvSpPr txBox="1"/>
          <p:nvPr/>
        </p:nvSpPr>
        <p:spPr>
          <a:xfrm>
            <a:off x="-8890000" y="4707391"/>
            <a:ext cx="8890000" cy="65193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>
              <a:lnSpc>
                <a:spcPct val="133000"/>
              </a:lnSpc>
              <a:defRPr sz="1600">
                <a:solidFill>
                  <a:srgbClr val="FAF7F2">
                    <a:alpha val="70196"/>
                  </a:srgbClr>
                </a:solidFill>
                <a:latin typeface="Kaiti SC Regular"/>
                <a:ea typeface="Kaiti SC Regular"/>
                <a:cs typeface="Kaiti SC Regular"/>
                <a:sym typeface="Kaiti SC Regular"/>
              </a:defRPr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联合国安理会是维护国际和平与安全的核心机构。什么样的风险，</a:t>
            </a:r>
            <a:endParaRPr sz="11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133000"/>
              </a:lnSpc>
              <a:defRPr sz="1600">
                <a:solidFill>
                  <a:srgbClr val="FAF7F2">
                    <a:alpha val="70196"/>
                  </a:srgbClr>
                </a:solidFill>
                <a:latin typeface="Kaiti SC Regular"/>
                <a:ea typeface="Kaiti SC Regular"/>
                <a:cs typeface="Kaiti SC Regular"/>
                <a:sym typeface="Kaiti SC Regular"/>
              </a:defRPr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会严重到需要安理会专门开会讨论？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8" name="AutoShape 6"/>
          <p:cNvSpPr txBox="1"/>
          <p:nvPr/>
        </p:nvSpPr>
        <p:spPr>
          <a:xfrm>
            <a:off x="12192000" y="4342447"/>
            <a:ext cx="3810000" cy="24384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r">
              <a:lnSpc>
                <a:spcPct val="125000"/>
              </a:lnSpc>
              <a:defRPr sz="16000" b="1">
                <a:solidFill>
                  <a:srgbClr val="FAF7F2">
                    <a:alpha val="5882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01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2"/>
          <p:cNvSpPr txBox="1"/>
          <p:nvPr/>
        </p:nvSpPr>
        <p:spPr>
          <a:xfrm>
            <a:off x="-4414725" y="1325944"/>
            <a:ext cx="10160001" cy="26924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>
                <a:solidFill>
                  <a:srgbClr val="FAF7F2">
                    <a:alpha val="60000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rPr>
                <a:ln>
                  <a:noFill/>
                </a:ln>
                <a:solidFill>
                  <a:srgbClr val="FAF7F2">
                    <a:alpha val="60000"/>
                  </a:srgbClr>
                </a:solidFill>
                <a:effectLst/>
                <a:uFillTx/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为什么</a:t>
            </a:r>
            <a:r>
              <a:rPr lang="zh-CN" altLang="en-US">
                <a:ln>
                  <a:noFill/>
                </a:ln>
                <a:solidFill>
                  <a:srgbClr val="FAF7F2">
                    <a:alpha val="60000"/>
                  </a:srgbClr>
                </a:solidFill>
                <a:effectLst/>
                <a:uFillTx/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至关</a:t>
            </a:r>
            <a:r>
              <a:rPr>
                <a:ln>
                  <a:noFill/>
                </a:ln>
                <a:solidFill>
                  <a:srgbClr val="FAF7F2">
                    <a:alpha val="60000"/>
                  </a:srgbClr>
                </a:solidFill>
                <a:effectLst/>
                <a:uFillTx/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重要</a:t>
            </a:r>
            <a:endParaRPr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372" name="AutoShape 3"/>
          <p:cNvSpPr txBox="1"/>
          <p:nvPr/>
        </p:nvSpPr>
        <p:spPr>
          <a:xfrm>
            <a:off x="-3436937" y="1260825"/>
            <a:ext cx="6096000" cy="105833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>
              <a:lnSpc>
                <a:spcPct val="108000"/>
              </a:lnSpc>
              <a:defRPr sz="2800" b="1">
                <a:solidFill>
                  <a:srgbClr val="2B2B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pPr>
            <a:r>
              <a:t>AI风险，已经从科幻</a:t>
            </a:r>
            <a:endParaRPr sz="1100"/>
          </a:p>
          <a:p>
            <a:pPr>
              <a:lnSpc>
                <a:spcPct val="108000"/>
              </a:lnSpc>
              <a:defRPr sz="2800" b="1">
                <a:solidFill>
                  <a:srgbClr val="2B2B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pPr>
            <a:r>
              <a:t>走进了现实</a:t>
            </a:r>
          </a:p>
        </p:txBody>
      </p:sp>
      <p:sp>
        <p:nvSpPr>
          <p:cNvPr id="324" name="AutoShape 2"/>
          <p:cNvSpPr txBox="1"/>
          <p:nvPr/>
        </p:nvSpPr>
        <p:spPr>
          <a:xfrm>
            <a:off x="1016000" y="1325879"/>
            <a:ext cx="10160000" cy="26924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>
                <a:solidFill>
                  <a:srgbClr val="FAF7F2">
                    <a:alpha val="60000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第</a:t>
            </a:r>
            <a:r>
              <a:rPr lang="zh-CN" altLang="en-US">
                <a:cs typeface="Arial" panose="020B0604020202020204" pitchFamily="34" charset="0"/>
              </a:rPr>
              <a:t>二</a:t>
            </a:r>
            <a:r>
              <a:t>章</a:t>
            </a:r>
          </a:p>
        </p:txBody>
      </p:sp>
      <p:sp>
        <p:nvSpPr>
          <p:cNvPr id="325" name="AutoShape 3"/>
          <p:cNvSpPr txBox="1"/>
          <p:nvPr/>
        </p:nvSpPr>
        <p:spPr>
          <a:xfrm>
            <a:off x="1016000" y="2400618"/>
            <a:ext cx="10160000" cy="129476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>
              <a:lnSpc>
                <a:spcPct val="117000"/>
              </a:lnSpc>
              <a:defRPr sz="3600" b="1">
                <a:solidFill>
                  <a:srgbClr val="FAF7F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pPr>
            <a:r>
              <a:rPr>
                <a:ln>
                  <a:noFill/>
                </a:ln>
                <a:solidFill>
                  <a:srgbClr val="FAF7F2"/>
                </a:solidFill>
                <a:effectLst/>
                <a:uFillTx/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这件事情</a:t>
            </a:r>
            <a:endParaRPr>
              <a:ln>
                <a:noFill/>
              </a:ln>
              <a:solidFill>
                <a:srgbClr val="FAF7F2"/>
              </a:solidFill>
              <a:effectLst/>
              <a:uFillTx/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  <a:p>
            <a:pPr>
              <a:lnSpc>
                <a:spcPct val="117000"/>
              </a:lnSpc>
              <a:defRPr sz="3600" b="1">
                <a:solidFill>
                  <a:srgbClr val="FAF7F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pPr>
            <a:r>
              <a:rPr>
                <a:ln>
                  <a:noFill/>
                </a:ln>
                <a:solidFill>
                  <a:srgbClr val="FAF7F2"/>
                </a:solidFill>
                <a:effectLst/>
                <a:uFillTx/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为何引起大家的重视？</a:t>
            </a:r>
            <a:endParaRPr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326" name="Connector 4"/>
          <p:cNvSpPr/>
          <p:nvPr/>
        </p:nvSpPr>
        <p:spPr>
          <a:xfrm>
            <a:off x="1016000" y="4318000"/>
            <a:ext cx="1016080" cy="0"/>
          </a:xfrm>
          <a:prstGeom prst="line">
            <a:avLst/>
          </a:prstGeom>
          <a:ln w="25400">
            <a:solidFill>
              <a:srgbClr val="9C5C38"/>
            </a:solidFill>
          </a:ln>
        </p:spPr>
        <p:txBody>
          <a:bodyPr lIns="0" tIns="0" rIns="0" bIns="0"/>
          <a:lstStyle/>
          <a:p/>
        </p:txBody>
      </p:sp>
      <p:sp>
        <p:nvSpPr>
          <p:cNvPr id="328" name="AutoShape 6"/>
          <p:cNvSpPr txBox="1"/>
          <p:nvPr/>
        </p:nvSpPr>
        <p:spPr>
          <a:xfrm>
            <a:off x="7874000" y="4049077"/>
            <a:ext cx="3810000" cy="307784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r">
              <a:lnSpc>
                <a:spcPct val="125000"/>
              </a:lnSpc>
              <a:defRPr sz="16000" b="1">
                <a:solidFill>
                  <a:srgbClr val="FAF7F2">
                    <a:alpha val="5882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0</a:t>
            </a:r>
            <a:r>
              <a:rPr lang="en-US" altLang="zh-CN">
                <a:cs typeface="Arial" panose="020B0604020202020204" pitchFamily="34" charset="0"/>
              </a:rPr>
              <a:t>2</a:t>
            </a:r>
            <a:endParaRPr lang="en-US" altLang="zh-CN">
              <a:cs typeface="Arial" panose="020B0604020202020204" pitchFamily="34" charset="0"/>
            </a:endParaRPr>
          </a:p>
        </p:txBody>
      </p:sp>
      <p:sp>
        <p:nvSpPr>
          <p:cNvPr id="329" name="AutoShape 2"/>
          <p:cNvSpPr txBox="1"/>
          <p:nvPr/>
        </p:nvSpPr>
        <p:spPr>
          <a:xfrm>
            <a:off x="1744775" y="1325879"/>
            <a:ext cx="10160001" cy="26924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>
                <a:solidFill>
                  <a:srgbClr val="FAF7F2">
                    <a:alpha val="60000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rPr>
                <a:ln>
                  <a:noFill/>
                </a:ln>
                <a:solidFill>
                  <a:srgbClr val="FAF7F2">
                    <a:alpha val="60000"/>
                  </a:srgbClr>
                </a:solidFill>
                <a:effectLst/>
                <a:uFillTx/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为什么</a:t>
            </a:r>
            <a:r>
              <a:rPr lang="zh-CN" altLang="en-US">
                <a:ln>
                  <a:noFill/>
                </a:ln>
                <a:solidFill>
                  <a:srgbClr val="FAF7F2">
                    <a:alpha val="60000"/>
                  </a:srgbClr>
                </a:solidFill>
                <a:effectLst/>
                <a:uFillTx/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至关</a:t>
            </a:r>
            <a:r>
              <a:rPr>
                <a:ln>
                  <a:noFill/>
                </a:ln>
                <a:solidFill>
                  <a:srgbClr val="FAF7F2">
                    <a:alpha val="60000"/>
                  </a:srgbClr>
                </a:solidFill>
                <a:effectLst/>
                <a:uFillTx/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重要</a:t>
            </a:r>
            <a:endParaRPr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344" name="Connector 4"/>
          <p:cNvSpPr/>
          <p:nvPr/>
        </p:nvSpPr>
        <p:spPr>
          <a:xfrm>
            <a:off x="1016000" y="4318000"/>
            <a:ext cx="1016080" cy="0"/>
          </a:xfrm>
          <a:prstGeom prst="line">
            <a:avLst/>
          </a:prstGeom>
          <a:ln w="25400">
            <a:solidFill>
              <a:srgbClr val="9C5C38"/>
            </a:solidFill>
          </a:ln>
        </p:spPr>
        <p:txBody>
          <a:bodyPr lIns="0" tIns="0" rIns="0" bIns="0"/>
          <a:lstStyle/>
          <a:p/>
        </p:txBody>
      </p:sp>
      <p:sp>
        <p:nvSpPr>
          <p:cNvPr id="374" name="AutoShape 5"/>
          <p:cNvSpPr txBox="1"/>
          <p:nvPr/>
        </p:nvSpPr>
        <p:spPr>
          <a:xfrm>
            <a:off x="-5580062" y="3022600"/>
            <a:ext cx="5588000" cy="19558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>
              <a:lnSpc>
                <a:spcPct val="150000"/>
              </a:lnSpc>
              <a:defRPr sz="1600">
                <a:solidFill>
                  <a:srgbClr val="5A5A5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pPr>
            <a:r>
              <a:t>2026年，三起标志性AI"失控"事件集中爆发。</a:t>
            </a:r>
            <a:endParaRPr sz="1100"/>
          </a:p>
          <a:p>
            <a:pPr>
              <a:lnSpc>
                <a:spcPct val="150000"/>
              </a:lnSpc>
              <a:defRPr sz="1600">
                <a:solidFill>
                  <a:srgbClr val="5A5A5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pPr>
            <a:r>
              <a:t>AI不再只是遥远的技术设想——</a:t>
            </a:r>
          </a:p>
          <a:p>
            <a:pPr>
              <a:lnSpc>
                <a:spcPct val="150000"/>
              </a:lnSpc>
              <a:defRPr sz="1600">
                <a:solidFill>
                  <a:srgbClr val="5A5A5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pPr>
            <a:r>
              <a:t>它已经能</a:t>
            </a:r>
            <a:r>
              <a:rPr b="1">
                <a:solidFill>
                  <a:srgbClr val="9C5C38"/>
                </a:solidFill>
              </a:rPr>
              <a:t>突破安全隔离</a:t>
            </a:r>
            <a:r>
              <a:t>、</a:t>
            </a:r>
          </a:p>
          <a:p>
            <a:pPr>
              <a:lnSpc>
                <a:spcPct val="150000"/>
              </a:lnSpc>
              <a:defRPr sz="1600" b="1">
                <a:solidFill>
                  <a:srgbClr val="9C5C3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pPr>
            <a:r>
              <a:t>自主入侵真实系统</a:t>
            </a:r>
            <a:r>
              <a:rPr b="0">
                <a:solidFill>
                  <a:srgbClr val="5A5A5A"/>
                </a:solidFill>
              </a:rPr>
              <a:t>，</a:t>
            </a:r>
            <a:endParaRPr b="0">
              <a:solidFill>
                <a:srgbClr val="5A5A5A"/>
              </a:solidFill>
            </a:endParaRPr>
          </a:p>
          <a:p>
            <a:pPr>
              <a:lnSpc>
                <a:spcPct val="150000"/>
              </a:lnSpc>
              <a:defRPr sz="1600">
                <a:solidFill>
                  <a:srgbClr val="5A5A5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pPr>
            <a:r>
              <a:t>对全球网络安全构成实质挑战。</a:t>
            </a:r>
          </a:p>
        </p:txBody>
      </p:sp>
      <p:pic>
        <p:nvPicPr>
          <p:cNvPr id="375" name="Picture 6" descr="Picture 6"/>
          <p:cNvPicPr>
            <a:picLocks noChangeAspect="1"/>
          </p:cNvPicPr>
          <p:nvPr/>
        </p:nvPicPr>
        <p:blipFill>
          <a:blip r:embed="rId1"/>
          <a:srcRect l="38" r="37"/>
          <a:stretch>
            <a:fillRect/>
          </a:stretch>
        </p:blipFill>
        <p:spPr>
          <a:xfrm>
            <a:off x="13303249" y="2540079"/>
            <a:ext cx="4064001" cy="23241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pSp>
        <p:nvGrpSpPr>
          <p:cNvPr id="354" name="Group"/>
          <p:cNvGrpSpPr/>
          <p:nvPr/>
        </p:nvGrpSpPr>
        <p:grpSpPr>
          <a:xfrm>
            <a:off x="-6191250" y="2286000"/>
            <a:ext cx="5080000" cy="552451"/>
            <a:chOff x="0" y="0"/>
            <a:chExt cx="5080000" cy="552449"/>
          </a:xfrm>
        </p:grpSpPr>
        <p:sp>
          <p:nvSpPr>
            <p:cNvPr id="352" name="AutoShape 5"/>
            <p:cNvSpPr txBox="1"/>
            <p:nvPr/>
          </p:nvSpPr>
          <p:spPr>
            <a:xfrm>
              <a:off x="0" y="0"/>
              <a:ext cx="1524000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ct val="125000"/>
                </a:lnSpc>
                <a:defRPr sz="1200">
                  <a:solidFill>
                    <a:srgbClr val="787878"/>
                  </a:solidFill>
                  <a:latin typeface="Kaiti SC Regular"/>
                  <a:ea typeface="Kaiti SC Regular"/>
                  <a:cs typeface="Kaiti SC Regular"/>
                  <a:sym typeface="Kaiti SC Regular"/>
                </a:defRPr>
              </a:lvl1pPr>
            </a:lstStyle>
            <a:p>
              <a:r>
                <a:rPr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rPr>
                <a:t>时间</a:t>
              </a:r>
              <a:endPara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353" name="AutoShape 6"/>
            <p:cNvSpPr txBox="1"/>
            <p:nvPr/>
          </p:nvSpPr>
          <p:spPr>
            <a:xfrm>
              <a:off x="0" y="273049"/>
              <a:ext cx="5080000" cy="279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ct val="125000"/>
                </a:lnSpc>
                <a:defRPr sz="1600" b="1">
                  <a:solidFill>
                    <a:srgbClr val="2B2B2B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2026年9月23日 · 纽约联合国总部</a:t>
              </a:r>
            </a:p>
          </p:txBody>
        </p:sp>
      </p:grpSp>
      <p:grpSp>
        <p:nvGrpSpPr>
          <p:cNvPr id="357" name="Group"/>
          <p:cNvGrpSpPr/>
          <p:nvPr/>
        </p:nvGrpSpPr>
        <p:grpSpPr>
          <a:xfrm>
            <a:off x="-5453062" y="3155950"/>
            <a:ext cx="5334000" cy="546101"/>
            <a:chOff x="0" y="0"/>
            <a:chExt cx="5334000" cy="546100"/>
          </a:xfrm>
        </p:grpSpPr>
        <p:sp>
          <p:nvSpPr>
            <p:cNvPr id="355" name="AutoShape 7"/>
            <p:cNvSpPr txBox="1"/>
            <p:nvPr/>
          </p:nvSpPr>
          <p:spPr>
            <a:xfrm>
              <a:off x="0" y="0"/>
              <a:ext cx="1524000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ct val="125000"/>
                </a:lnSpc>
                <a:defRPr sz="1200">
                  <a:solidFill>
                    <a:srgbClr val="787878"/>
                  </a:solidFill>
                  <a:latin typeface="Kaiti SC Regular"/>
                  <a:ea typeface="Kaiti SC Regular"/>
                  <a:cs typeface="Kaiti SC Regular"/>
                  <a:sym typeface="Kaiti SC Regular"/>
                </a:defRPr>
              </a:lvl1pPr>
            </a:lstStyle>
            <a:p>
              <a:r>
                <a:rPr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rPr>
                <a:t>召集方</a:t>
              </a:r>
              <a:endPara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356" name="AutoShape 8"/>
            <p:cNvSpPr txBox="1"/>
            <p:nvPr/>
          </p:nvSpPr>
          <p:spPr>
            <a:xfrm>
              <a:off x="0" y="279400"/>
              <a:ext cx="5334000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ct val="125000"/>
                </a:lnSpc>
                <a:defRPr sz="1500">
                  <a:solidFill>
                    <a:srgbClr val="2B2B2B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安理会轮值主席国法国 · 主题"AI与国际安全"</a:t>
              </a:r>
            </a:p>
          </p:txBody>
        </p:sp>
      </p:grpSp>
      <p:grpSp>
        <p:nvGrpSpPr>
          <p:cNvPr id="360" name="Group"/>
          <p:cNvGrpSpPr/>
          <p:nvPr/>
        </p:nvGrpSpPr>
        <p:grpSpPr>
          <a:xfrm>
            <a:off x="-4667250" y="3892550"/>
            <a:ext cx="5334000" cy="850901"/>
            <a:chOff x="0" y="0"/>
            <a:chExt cx="5334000" cy="850900"/>
          </a:xfrm>
        </p:grpSpPr>
        <p:sp>
          <p:nvSpPr>
            <p:cNvPr id="358" name="AutoShape 9"/>
            <p:cNvSpPr txBox="1"/>
            <p:nvPr/>
          </p:nvSpPr>
          <p:spPr>
            <a:xfrm>
              <a:off x="0" y="0"/>
              <a:ext cx="1524000" cy="215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ct val="125000"/>
                </a:lnSpc>
                <a:defRPr sz="1200">
                  <a:solidFill>
                    <a:srgbClr val="787878"/>
                  </a:solidFill>
                  <a:latin typeface="Kaiti SC Regular"/>
                  <a:ea typeface="Kaiti SC Regular"/>
                  <a:cs typeface="Kaiti SC Regular"/>
                  <a:sym typeface="Kaiti SC Regular"/>
                </a:defRPr>
              </a:lvl1pPr>
            </a:lstStyle>
            <a:p>
              <a:r>
                <a:rPr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rPr>
                <a:t>受邀发言</a:t>
              </a:r>
              <a:endPara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359" name="AutoShape 10"/>
            <p:cNvSpPr txBox="1"/>
            <p:nvPr/>
          </p:nvSpPr>
          <p:spPr>
            <a:xfrm>
              <a:off x="0" y="279400"/>
              <a:ext cx="5334000" cy="571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/>
            <a:p>
              <a:pPr>
                <a:lnSpc>
                  <a:spcPct val="125000"/>
                </a:lnSpc>
                <a:defRPr>
                  <a:solidFill>
                    <a:srgbClr val="5A5A5A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pPr>
              <a:r>
                <a:t>图灵奖得主本乔；OpenAI、Anthropic、</a:t>
              </a:r>
              <a:endParaRPr sz="1100"/>
            </a:p>
            <a:p>
              <a:pPr>
                <a:lnSpc>
                  <a:spcPct val="125000"/>
                </a:lnSpc>
                <a:defRPr>
                  <a:solidFill>
                    <a:srgbClr val="5A5A5A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pPr>
              <a:r>
                <a:t>Hugging Face 三家公司CEO</a:t>
              </a:r>
            </a:p>
          </p:txBody>
        </p:sp>
      </p:grpSp>
      <p:grpSp>
        <p:nvGrpSpPr>
          <p:cNvPr id="363" name="Group"/>
          <p:cNvGrpSpPr/>
          <p:nvPr/>
        </p:nvGrpSpPr>
        <p:grpSpPr>
          <a:xfrm>
            <a:off x="-4984750" y="4890453"/>
            <a:ext cx="5334000" cy="1016000"/>
            <a:chOff x="0" y="0"/>
            <a:chExt cx="5334000" cy="1016000"/>
          </a:xfrm>
        </p:grpSpPr>
        <p:sp>
          <p:nvSpPr>
            <p:cNvPr id="361" name="AutoShape 11"/>
            <p:cNvSpPr/>
            <p:nvPr/>
          </p:nvSpPr>
          <p:spPr>
            <a:xfrm>
              <a:off x="0" y="0"/>
              <a:ext cx="5334000" cy="1016000"/>
            </a:xfrm>
            <a:prstGeom prst="roundRect">
              <a:avLst>
                <a:gd name="adj" fmla="val 0"/>
              </a:avLst>
            </a:prstGeom>
            <a:solidFill>
              <a:srgbClr val="9C5C38">
                <a:alpha val="1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/>
            </a:p>
          </p:txBody>
        </p:sp>
        <p:sp>
          <p:nvSpPr>
            <p:cNvPr id="362" name="AutoShape 12"/>
            <p:cNvSpPr txBox="1"/>
            <p:nvPr/>
          </p:nvSpPr>
          <p:spPr>
            <a:xfrm>
              <a:off x="203200" y="234950"/>
              <a:ext cx="4953000" cy="571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/>
            <a:p>
              <a:pPr>
                <a:lnSpc>
                  <a:spcPct val="125000"/>
                </a:lnSpc>
                <a:defRPr>
                  <a:solidFill>
                    <a:srgbClr val="5A5A5A"/>
                  </a:solidFill>
                  <a:latin typeface="Kaiti SC Regular"/>
                  <a:ea typeface="Kaiti SC Regular"/>
                  <a:cs typeface="Kaiti SC Regular"/>
                  <a:sym typeface="Kaiti SC Regular"/>
                </a:defRPr>
              </a:pPr>
              <a:r>
                <a:rPr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rPr>
                <a:t>2023年首谈：关注"会不会出事"；</a:t>
              </a:r>
              <a:endParaRPr sz="11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endParaRPr>
            </a:p>
            <a:p>
              <a:pPr>
                <a:lnSpc>
                  <a:spcPct val="125000"/>
                </a:lnSpc>
                <a:defRPr>
                  <a:solidFill>
                    <a:srgbClr val="5A5A5A"/>
                  </a:solidFill>
                  <a:latin typeface="Kaiti SC Regular"/>
                  <a:ea typeface="Kaiti SC Regular"/>
                  <a:cs typeface="Kaiti SC Regular"/>
                  <a:sym typeface="Kaiti SC Regular"/>
                </a:defRPr>
              </a:pPr>
              <a:r>
                <a:rPr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rPr>
                <a:t>2026年：多起真实事件已发生，转向"出事了怎么办"。</a:t>
              </a:r>
              <a:endPara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  <p:pic>
        <p:nvPicPr>
          <p:cNvPr id="364" name="Picture 13" descr="Picture 13"/>
          <p:cNvPicPr>
            <a:picLocks noChangeAspect="1"/>
          </p:cNvPicPr>
          <p:nvPr/>
        </p:nvPicPr>
        <p:blipFill>
          <a:blip r:embed="rId2"/>
          <a:srcRect l="48" r="48"/>
          <a:stretch>
            <a:fillRect/>
          </a:stretch>
        </p:blipFill>
        <p:spPr>
          <a:xfrm>
            <a:off x="13049249" y="2284095"/>
            <a:ext cx="4318001" cy="28829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65" name="AutoShape 14"/>
          <p:cNvSpPr txBox="1"/>
          <p:nvPr/>
        </p:nvSpPr>
        <p:spPr>
          <a:xfrm>
            <a:off x="13589000" y="5332983"/>
            <a:ext cx="4318000" cy="2032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100">
                <a:solidFill>
                  <a:srgbClr val="A0A0A0"/>
                </a:solidFill>
                <a:latin typeface="Kaiti SC Regular"/>
                <a:ea typeface="Kaiti SC Regular"/>
                <a:cs typeface="Kaiti SC Regular"/>
                <a:sym typeface="Kaiti SC Regular"/>
              </a:defRPr>
            </a:lvl1pPr>
          </a:lstStyle>
          <a:p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联合国总部（纽约）· 本次会议召开地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66" name="AutoShape 15"/>
          <p:cNvSpPr txBox="1"/>
          <p:nvPr/>
        </p:nvSpPr>
        <p:spPr>
          <a:xfrm>
            <a:off x="-3779838" y="2105660"/>
            <a:ext cx="8890000" cy="1778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000">
                <a:solidFill>
                  <a:srgbClr val="9C5C38">
                    <a:alpha val="45098"/>
                  </a:srgbClr>
                </a:solidFill>
                <a:latin typeface="Kaiti SC Regular"/>
                <a:ea typeface="Kaiti SC Regular"/>
                <a:cs typeface="Kaiti SC Regular"/>
                <a:sym typeface="Kaiti SC Regular"/>
              </a:defRPr>
            </a:lvl1pPr>
          </a:lstStyle>
          <a:p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如果AI自己跑出实验室，去入侵别的系统，谁来管？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AutoShape 3"/>
          <p:cNvSpPr txBox="1"/>
          <p:nvPr/>
        </p:nvSpPr>
        <p:spPr>
          <a:xfrm>
            <a:off x="1016000" y="1185334"/>
            <a:ext cx="6096000" cy="105833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>
              <a:lnSpc>
                <a:spcPct val="108000"/>
              </a:lnSpc>
              <a:defRPr sz="2800" b="1">
                <a:solidFill>
                  <a:srgbClr val="2B2B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pPr>
            <a:r>
              <a:t>AI风险，已经从科幻</a:t>
            </a:r>
            <a:endParaRPr sz="1100"/>
          </a:p>
          <a:p>
            <a:pPr>
              <a:lnSpc>
                <a:spcPct val="108000"/>
              </a:lnSpc>
              <a:defRPr sz="2800" b="1">
                <a:solidFill>
                  <a:srgbClr val="2B2B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pPr>
            <a:r>
              <a:t>走进了现实</a:t>
            </a:r>
          </a:p>
        </p:txBody>
      </p:sp>
      <p:sp>
        <p:nvSpPr>
          <p:cNvPr id="373" name="Connector 4"/>
          <p:cNvSpPr/>
          <p:nvPr/>
        </p:nvSpPr>
        <p:spPr>
          <a:xfrm>
            <a:off x="1015999" y="2539999"/>
            <a:ext cx="508160" cy="2"/>
          </a:xfrm>
          <a:prstGeom prst="line">
            <a:avLst/>
          </a:prstGeom>
          <a:ln w="25400">
            <a:solidFill>
              <a:srgbClr val="9C5C38"/>
            </a:solidFill>
          </a:ln>
        </p:spPr>
        <p:txBody>
          <a:bodyPr lIns="0" tIns="0" rIns="0" bIns="0"/>
          <a:lstStyle/>
          <a:p/>
        </p:txBody>
      </p:sp>
      <p:sp>
        <p:nvSpPr>
          <p:cNvPr id="374" name="AutoShape 5"/>
          <p:cNvSpPr txBox="1"/>
          <p:nvPr/>
        </p:nvSpPr>
        <p:spPr>
          <a:xfrm>
            <a:off x="1016000" y="3022600"/>
            <a:ext cx="5588000" cy="19558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>
              <a:lnSpc>
                <a:spcPct val="150000"/>
              </a:lnSpc>
              <a:defRPr sz="1600">
                <a:solidFill>
                  <a:srgbClr val="5A5A5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pPr>
            <a:r>
              <a:t>2026年，三起标志性AI"失控"事件集中爆发。</a:t>
            </a:r>
            <a:endParaRPr sz="1100"/>
          </a:p>
          <a:p>
            <a:pPr>
              <a:lnSpc>
                <a:spcPct val="150000"/>
              </a:lnSpc>
              <a:defRPr sz="1600">
                <a:solidFill>
                  <a:srgbClr val="5A5A5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pPr>
            <a:r>
              <a:t>AI不再只是遥远的技术设想——</a:t>
            </a:r>
          </a:p>
          <a:p>
            <a:pPr>
              <a:lnSpc>
                <a:spcPct val="150000"/>
              </a:lnSpc>
              <a:defRPr sz="1600">
                <a:solidFill>
                  <a:srgbClr val="5A5A5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pPr>
            <a:r>
              <a:t>它已经能</a:t>
            </a:r>
            <a:r>
              <a:rPr b="1">
                <a:solidFill>
                  <a:srgbClr val="9C5C38"/>
                </a:solidFill>
              </a:rPr>
              <a:t>突破安全隔离</a:t>
            </a:r>
            <a:r>
              <a:t>、</a:t>
            </a:r>
          </a:p>
          <a:p>
            <a:pPr>
              <a:lnSpc>
                <a:spcPct val="150000"/>
              </a:lnSpc>
              <a:defRPr sz="1600" b="1">
                <a:solidFill>
                  <a:srgbClr val="9C5C3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pPr>
            <a:r>
              <a:t>自主入侵真实系统</a:t>
            </a:r>
            <a:r>
              <a:rPr b="0">
                <a:solidFill>
                  <a:srgbClr val="5A5A5A"/>
                </a:solidFill>
              </a:rPr>
              <a:t>，</a:t>
            </a:r>
            <a:endParaRPr b="0">
              <a:solidFill>
                <a:srgbClr val="5A5A5A"/>
              </a:solidFill>
            </a:endParaRPr>
          </a:p>
          <a:p>
            <a:pPr>
              <a:lnSpc>
                <a:spcPct val="150000"/>
              </a:lnSpc>
              <a:defRPr sz="1600">
                <a:solidFill>
                  <a:srgbClr val="5A5A5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pPr>
            <a:r>
              <a:t>对全球网络安全构成实质挑战。</a:t>
            </a:r>
          </a:p>
        </p:txBody>
      </p:sp>
      <p:pic>
        <p:nvPicPr>
          <p:cNvPr id="375" name="Picture 6" descr="Picture 6"/>
          <p:cNvPicPr>
            <a:picLocks noChangeAspect="1"/>
          </p:cNvPicPr>
          <p:nvPr/>
        </p:nvPicPr>
        <p:blipFill>
          <a:blip r:embed="rId1"/>
          <a:srcRect l="38" r="37"/>
          <a:stretch>
            <a:fillRect/>
          </a:stretch>
        </p:blipFill>
        <p:spPr>
          <a:xfrm>
            <a:off x="7111999" y="2540000"/>
            <a:ext cx="4064001" cy="23241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76" name="AutoShape 7"/>
          <p:cNvSpPr txBox="1"/>
          <p:nvPr/>
        </p:nvSpPr>
        <p:spPr>
          <a:xfrm>
            <a:off x="7874000" y="4368799"/>
            <a:ext cx="3810000" cy="24384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r">
              <a:lnSpc>
                <a:spcPct val="125000"/>
              </a:lnSpc>
              <a:defRPr sz="16000" b="1">
                <a:solidFill>
                  <a:srgbClr val="FAF7F2">
                    <a:alpha val="5882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02</a:t>
            </a:r>
          </a:p>
        </p:txBody>
      </p:sp>
      <p:sp>
        <p:nvSpPr>
          <p:cNvPr id="324" name="AutoShape 2"/>
          <p:cNvSpPr txBox="1"/>
          <p:nvPr/>
        </p:nvSpPr>
        <p:spPr>
          <a:xfrm>
            <a:off x="1016000" y="798777"/>
            <a:ext cx="10160000" cy="23050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>
                <a:solidFill>
                  <a:srgbClr val="FAF7F2">
                    <a:alpha val="60000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pPr marL="0" marR="0" indent="0" algn="l" defTabSz="0" rtl="0" latin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Tx/>
              <a:buNone/>
            </a:pPr>
            <a:r>
              <a:rPr sz="1200">
                <a:ln>
                  <a:noFill/>
                </a:ln>
                <a:solidFill>
                  <a:srgbClr val="9C5C38"/>
                </a:solidFill>
                <a:effectLst/>
                <a:uFillTx/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第</a:t>
            </a:r>
            <a:r>
              <a:rPr lang="zh-CN" altLang="en-US" sz="1200">
                <a:ln>
                  <a:noFill/>
                </a:ln>
                <a:solidFill>
                  <a:srgbClr val="9C5C38"/>
                </a:solidFill>
                <a:effectLst/>
                <a:uFillTx/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二</a:t>
            </a:r>
            <a:r>
              <a:rPr sz="1200">
                <a:ln>
                  <a:noFill/>
                </a:ln>
                <a:solidFill>
                  <a:srgbClr val="9C5C38"/>
                </a:solidFill>
                <a:effectLst/>
                <a:uFillTx/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章</a:t>
            </a:r>
            <a:endParaRPr sz="1200">
              <a:ln>
                <a:noFill/>
              </a:ln>
              <a:solidFill>
                <a:srgbClr val="9C5C38"/>
              </a:solidFill>
              <a:effectLst/>
              <a:uFillTx/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329" name="AutoShape 2"/>
          <p:cNvSpPr txBox="1"/>
          <p:nvPr/>
        </p:nvSpPr>
        <p:spPr>
          <a:xfrm>
            <a:off x="1744775" y="798777"/>
            <a:ext cx="10160001" cy="23050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>
                <a:solidFill>
                  <a:srgbClr val="FAF7F2">
                    <a:alpha val="60000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rPr sz="1200">
                <a:ln>
                  <a:noFill/>
                </a:ln>
                <a:solidFill>
                  <a:srgbClr val="9C5C38"/>
                </a:solidFill>
                <a:effectLst/>
                <a:uFillTx/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为什么</a:t>
            </a:r>
            <a:r>
              <a:rPr lang="zh-CN" altLang="en-US" sz="1200">
                <a:ln>
                  <a:noFill/>
                </a:ln>
                <a:solidFill>
                  <a:srgbClr val="9C5C38"/>
                </a:solidFill>
                <a:effectLst/>
                <a:uFillTx/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至关</a:t>
            </a:r>
            <a:r>
              <a:rPr sz="1200">
                <a:ln>
                  <a:noFill/>
                </a:ln>
                <a:solidFill>
                  <a:srgbClr val="9C5C38"/>
                </a:solidFill>
                <a:effectLst/>
                <a:uFillTx/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重要</a:t>
            </a:r>
            <a:endParaRPr sz="1200">
              <a:ln>
                <a:noFill/>
              </a:ln>
              <a:solidFill>
                <a:srgbClr val="9C5C38"/>
              </a:solidFill>
              <a:effectLst/>
              <a:uFillTx/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325" name="AutoShape 3"/>
          <p:cNvSpPr txBox="1"/>
          <p:nvPr/>
        </p:nvSpPr>
        <p:spPr>
          <a:xfrm>
            <a:off x="-5787571" y="2223725"/>
            <a:ext cx="10160000" cy="129476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>
              <a:lnSpc>
                <a:spcPct val="117000"/>
              </a:lnSpc>
              <a:defRPr sz="3600" b="1">
                <a:solidFill>
                  <a:srgbClr val="FAF7F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pPr>
            <a:r>
              <a:rPr>
                <a:ln>
                  <a:noFill/>
                </a:ln>
                <a:solidFill>
                  <a:srgbClr val="FAF7F2"/>
                </a:solidFill>
                <a:effectLst/>
                <a:uFillTx/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这件事情</a:t>
            </a:r>
            <a:endParaRPr>
              <a:ln>
                <a:noFill/>
              </a:ln>
              <a:solidFill>
                <a:srgbClr val="FAF7F2"/>
              </a:solidFill>
              <a:effectLst/>
              <a:uFillTx/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  <a:p>
            <a:pPr>
              <a:lnSpc>
                <a:spcPct val="117000"/>
              </a:lnSpc>
              <a:defRPr sz="3600" b="1">
                <a:solidFill>
                  <a:srgbClr val="FAF7F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pPr>
            <a:r>
              <a:rPr>
                <a:ln>
                  <a:noFill/>
                </a:ln>
                <a:solidFill>
                  <a:srgbClr val="FAF7F2"/>
                </a:solidFill>
                <a:effectLst/>
                <a:uFillTx/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</a:rPr>
              <a:t>为何引起大家的重视？</a:t>
            </a:r>
            <a:endParaRPr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</a:endParaRPr>
          </a:p>
        </p:txBody>
      </p:sp>
      <p:sp>
        <p:nvSpPr>
          <p:cNvPr id="328" name="AutoShape 6"/>
          <p:cNvSpPr txBox="1"/>
          <p:nvPr/>
        </p:nvSpPr>
        <p:spPr>
          <a:xfrm>
            <a:off x="12192000" y="4049123"/>
            <a:ext cx="3810000" cy="307784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r">
              <a:lnSpc>
                <a:spcPct val="125000"/>
              </a:lnSpc>
              <a:defRPr sz="16000" b="1">
                <a:solidFill>
                  <a:srgbClr val="FAF7F2">
                    <a:alpha val="5882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0</a:t>
            </a:r>
            <a:r>
              <a:rPr lang="en-US" altLang="zh-CN">
                <a:cs typeface="Arial" panose="020B0604020202020204" pitchFamily="34" charset="0"/>
              </a:rPr>
              <a:t>2</a:t>
            </a:r>
            <a:endParaRPr lang="en-US" altLang="zh-CN">
              <a:cs typeface="Arial" panose="020B0604020202020204" pitchFamily="34" charset="0"/>
            </a:endParaRPr>
          </a:p>
        </p:txBody>
      </p:sp>
      <p:sp>
        <p:nvSpPr>
          <p:cNvPr id="381" name="AutoShape 3"/>
          <p:cNvSpPr txBox="1"/>
          <p:nvPr/>
        </p:nvSpPr>
        <p:spPr>
          <a:xfrm>
            <a:off x="-4079875" y="1259855"/>
            <a:ext cx="10160000" cy="4699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2600" b="1">
                <a:solidFill>
                  <a:srgbClr val="2B2B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三家头部公司，接连"出事"</a:t>
            </a:r>
          </a:p>
        </p:txBody>
      </p:sp>
      <p:sp>
        <p:nvSpPr>
          <p:cNvPr id="397" name="AutoShape 19"/>
          <p:cNvSpPr txBox="1"/>
          <p:nvPr/>
        </p:nvSpPr>
        <p:spPr>
          <a:xfrm>
            <a:off x="-4517549" y="2058273"/>
            <a:ext cx="8890000" cy="1778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000">
                <a:solidFill>
                  <a:srgbClr val="9C5C38">
                    <a:alpha val="45098"/>
                  </a:srgbClr>
                </a:solidFill>
                <a:latin typeface="Kaiti SC Regular"/>
                <a:ea typeface="Kaiti SC Regular"/>
                <a:cs typeface="Kaiti SC Regular"/>
                <a:sym typeface="Kaiti SC Regular"/>
              </a:defRPr>
            </a:lvl1pPr>
          </a:lstStyle>
          <a:p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AI风险，已经从科幻走进了现实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grpSp>
        <p:nvGrpSpPr>
          <p:cNvPr id="5" name="组合 4"/>
          <p:cNvGrpSpPr/>
          <p:nvPr>
            <p:custDataLst>
              <p:tags r:id="rId2"/>
            </p:custDataLst>
          </p:nvPr>
        </p:nvGrpSpPr>
        <p:grpSpPr>
          <a:xfrm rot="600000">
            <a:off x="12630150" y="2809240"/>
            <a:ext cx="3302000" cy="2288540"/>
            <a:chOff x="1200" y="3496"/>
            <a:chExt cx="5200" cy="3604"/>
          </a:xfrm>
        </p:grpSpPr>
        <p:sp>
          <p:nvSpPr>
            <p:cNvPr id="2" name="AutoShape 17"/>
            <p:cNvSpPr/>
            <p:nvPr>
              <p:custDataLst>
                <p:tags r:id="rId3"/>
              </p:custDataLst>
            </p:nvPr>
          </p:nvSpPr>
          <p:spPr>
            <a:xfrm>
              <a:off x="1200" y="3600"/>
              <a:ext cx="5200" cy="3500"/>
            </a:xfrm>
            <a:prstGeom prst="roundRect">
              <a:avLst>
                <a:gd name="adj" fmla="val 6153"/>
              </a:avLst>
            </a:prstGeom>
            <a:solidFill>
              <a:srgbClr val="B4503C">
                <a:alpha val="6000"/>
              </a:srgbClr>
            </a:solidFill>
            <a:ln w="12700">
              <a:solidFill>
                <a:srgbClr val="B4503C">
                  <a:alpha val="20000"/>
                </a:srgbClr>
              </a:solidFill>
            </a:ln>
          </p:spPr>
          <p:txBody>
            <a:bodyPr lIns="0" tIns="0" rIns="0" bIns="0" anchor="ctr"/>
            <a:lstStyle/>
            <a:p>
              <a:pPr algn="ctr"/>
              <a:endParaRPr>
                <a:highlight>
                  <a:srgbClr val="FFFF00"/>
                </a:highlight>
              </a:endParaRPr>
            </a:p>
          </p:txBody>
        </p:sp>
        <p:sp>
          <p:nvSpPr>
            <p:cNvPr id="383" name="AutoShape 5"/>
            <p:cNvSpPr txBox="1"/>
            <p:nvPr>
              <p:custDataLst>
                <p:tags r:id="rId4"/>
              </p:custDataLst>
            </p:nvPr>
          </p:nvSpPr>
          <p:spPr>
            <a:xfrm>
              <a:off x="1600" y="3496"/>
              <a:ext cx="800" cy="727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2400" b="1">
                  <a:solidFill>
                    <a:srgbClr val="9C5C38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1</a:t>
              </a:r>
            </a:p>
          </p:txBody>
        </p:sp>
        <p:sp>
          <p:nvSpPr>
            <p:cNvPr id="384" name="AutoShape 6"/>
            <p:cNvSpPr txBox="1"/>
            <p:nvPr>
              <p:custDataLst>
                <p:tags r:id="rId5"/>
              </p:custDataLst>
            </p:nvPr>
          </p:nvSpPr>
          <p:spPr>
            <a:xfrm>
              <a:off x="1600" y="4383"/>
              <a:ext cx="4800" cy="514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1700" b="1">
                  <a:solidFill>
                    <a:srgbClr val="2B2B2B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OpenAI · 7月22日</a:t>
              </a:r>
            </a:p>
          </p:txBody>
        </p:sp>
        <p:sp>
          <p:nvSpPr>
            <p:cNvPr id="385" name="AutoShape 7"/>
            <p:cNvSpPr txBox="1"/>
            <p:nvPr>
              <p:custDataLst>
                <p:tags r:id="rId6"/>
              </p:custDataLst>
            </p:nvPr>
          </p:nvSpPr>
          <p:spPr>
            <a:xfrm>
              <a:off x="1600" y="5460"/>
              <a:ext cx="4800" cy="116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33000"/>
                </a:lnSpc>
                <a:defRPr sz="1200">
                  <a:solidFill>
                    <a:srgbClr val="50505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defRPr>
              </a:lvl1pPr>
            </a:lstStyle>
            <a:p>
              <a:r>
                <a:t>GPT-5.6 Sol在测试中自主突破沙盒隔离，入侵Hugging Face生产系统，史上首例AI自主入侵。</a:t>
              </a:r>
            </a:p>
          </p:txBody>
        </p:sp>
      </p:grpSp>
      <p:grpSp>
        <p:nvGrpSpPr>
          <p:cNvPr id="6" name="组合 5"/>
          <p:cNvGrpSpPr/>
          <p:nvPr>
            <p:custDataLst>
              <p:tags r:id="rId7"/>
            </p:custDataLst>
          </p:nvPr>
        </p:nvGrpSpPr>
        <p:grpSpPr>
          <a:xfrm rot="1140000">
            <a:off x="16640810" y="3677920"/>
            <a:ext cx="3302000" cy="2320290"/>
            <a:chOff x="7105" y="3496"/>
            <a:chExt cx="5200" cy="3654"/>
          </a:xfrm>
          <a:solidFill>
            <a:schemeClr val="tx2">
              <a:alpha val="6000"/>
            </a:schemeClr>
          </a:solidFill>
        </p:grpSpPr>
        <p:sp>
          <p:nvSpPr>
            <p:cNvPr id="3" name="AutoShape 17"/>
            <p:cNvSpPr/>
            <p:nvPr>
              <p:custDataLst>
                <p:tags r:id="rId8"/>
              </p:custDataLst>
            </p:nvPr>
          </p:nvSpPr>
          <p:spPr>
            <a:xfrm>
              <a:off x="7105" y="3650"/>
              <a:ext cx="5200" cy="3500"/>
            </a:xfrm>
            <a:prstGeom prst="roundRect">
              <a:avLst>
                <a:gd name="adj" fmla="val 6153"/>
              </a:avLst>
            </a:prstGeom>
            <a:grpFill/>
            <a:ln w="12700">
              <a:solidFill>
                <a:srgbClr val="B4503C">
                  <a:alpha val="20000"/>
                </a:srgbClr>
              </a:solidFill>
            </a:ln>
          </p:spPr>
          <p:txBody>
            <a:bodyPr lIns="0" tIns="0" rIns="0" bIns="0" anchor="ctr"/>
            <a:lstStyle/>
            <a:p>
              <a:pPr algn="ctr"/>
              <a:endParaRPr>
                <a:solidFill>
                  <a:schemeClr val="tx2"/>
                </a:solidFill>
                <a:highlight>
                  <a:srgbClr val="FFFF00"/>
                </a:highlight>
              </a:endParaRPr>
            </a:p>
          </p:txBody>
        </p:sp>
        <p:sp>
          <p:nvSpPr>
            <p:cNvPr id="387" name="AutoShape 9"/>
            <p:cNvSpPr txBox="1"/>
            <p:nvPr>
              <p:custDataLst>
                <p:tags r:id="rId9"/>
              </p:custDataLst>
            </p:nvPr>
          </p:nvSpPr>
          <p:spPr>
            <a:xfrm>
              <a:off x="7400" y="3496"/>
              <a:ext cx="800" cy="727"/>
            </a:xfrm>
            <a:prstGeom prst="rect">
              <a:avLst/>
            </a:prstGeom>
            <a:grpFill/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2400" b="1">
                  <a:solidFill>
                    <a:srgbClr val="9C5C38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rPr>
                  <a:solidFill>
                    <a:schemeClr val="tx2"/>
                  </a:solidFill>
                </a:rPr>
                <a:t>2</a:t>
              </a: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388" name="AutoShape 10"/>
            <p:cNvSpPr txBox="1"/>
            <p:nvPr>
              <p:custDataLst>
                <p:tags r:id="rId10"/>
              </p:custDataLst>
            </p:nvPr>
          </p:nvSpPr>
          <p:spPr>
            <a:xfrm>
              <a:off x="7400" y="4383"/>
              <a:ext cx="4800" cy="514"/>
            </a:xfrm>
            <a:prstGeom prst="rect">
              <a:avLst/>
            </a:prstGeom>
            <a:grpFill/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1700" b="1">
                  <a:solidFill>
                    <a:srgbClr val="2B2B2B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rPr>
                  <a:solidFill>
                    <a:schemeClr val="tx2"/>
                  </a:solidFill>
                </a:rPr>
                <a:t>Anthropic · 4月起</a:t>
              </a: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389" name="AutoShape 11"/>
            <p:cNvSpPr txBox="1"/>
            <p:nvPr>
              <p:custDataLst>
                <p:tags r:id="rId11"/>
              </p:custDataLst>
            </p:nvPr>
          </p:nvSpPr>
          <p:spPr>
            <a:xfrm>
              <a:off x="7400" y="5460"/>
              <a:ext cx="4800" cy="1160"/>
            </a:xfrm>
            <a:prstGeom prst="rect">
              <a:avLst/>
            </a:prstGeom>
            <a:grpFill/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33000"/>
                </a:lnSpc>
                <a:defRPr sz="1200">
                  <a:solidFill>
                    <a:srgbClr val="50505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defRPr>
              </a:lvl1pPr>
            </a:lstStyle>
            <a:p>
              <a:r>
                <a:rPr>
                  <a:solidFill>
                    <a:schemeClr val="tx2"/>
                  </a:solidFill>
                </a:rPr>
                <a:t>Claude模型至少三起访问真实组织系统，曾把恶意程序发到公共平台，导致15个外部系统下载。</a:t>
              </a:r>
              <a:endParaRPr>
                <a:solidFill>
                  <a:schemeClr val="tx2"/>
                </a:solidFill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 rot="1980000">
            <a:off x="20219035" y="6222365"/>
            <a:ext cx="3302000" cy="2320290"/>
            <a:chOff x="13010" y="3496"/>
            <a:chExt cx="5200" cy="3654"/>
          </a:xfrm>
          <a:solidFill>
            <a:schemeClr val="tx2">
              <a:alpha val="6000"/>
            </a:schemeClr>
          </a:solidFill>
        </p:grpSpPr>
        <p:sp>
          <p:nvSpPr>
            <p:cNvPr id="4" name="AutoShape 17"/>
            <p:cNvSpPr/>
            <p:nvPr>
              <p:custDataLst>
                <p:tags r:id="rId12"/>
              </p:custDataLst>
            </p:nvPr>
          </p:nvSpPr>
          <p:spPr>
            <a:xfrm>
              <a:off x="13010" y="3650"/>
              <a:ext cx="5200" cy="3500"/>
            </a:xfrm>
            <a:prstGeom prst="roundRect">
              <a:avLst>
                <a:gd name="adj" fmla="val 6153"/>
              </a:avLst>
            </a:prstGeom>
            <a:grpFill/>
            <a:ln w="12700">
              <a:solidFill>
                <a:srgbClr val="B4503C">
                  <a:alpha val="20000"/>
                </a:srgbClr>
              </a:solidFill>
            </a:ln>
          </p:spPr>
          <p:txBody>
            <a:bodyPr lIns="0" tIns="0" rIns="0" bIns="0" anchor="ctr"/>
            <a:lstStyle/>
            <a:p>
              <a:pPr algn="ctr"/>
              <a:endParaRPr>
                <a:solidFill>
                  <a:schemeClr val="tx2"/>
                </a:solidFill>
                <a:highlight>
                  <a:srgbClr val="FFFF00"/>
                </a:highlight>
              </a:endParaRPr>
            </a:p>
          </p:txBody>
        </p:sp>
        <p:sp>
          <p:nvSpPr>
            <p:cNvPr id="391" name="AutoShape 13"/>
            <p:cNvSpPr txBox="1"/>
            <p:nvPr>
              <p:custDataLst>
                <p:tags r:id="rId13"/>
              </p:custDataLst>
            </p:nvPr>
          </p:nvSpPr>
          <p:spPr>
            <a:xfrm>
              <a:off x="13200" y="3496"/>
              <a:ext cx="800" cy="727"/>
            </a:xfrm>
            <a:prstGeom prst="rect">
              <a:avLst/>
            </a:prstGeom>
            <a:grpFill/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2400" b="1">
                  <a:solidFill>
                    <a:srgbClr val="9C5C38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rPr>
                  <a:solidFill>
                    <a:schemeClr val="tx2"/>
                  </a:solidFill>
                </a:rPr>
                <a:t>3</a:t>
              </a: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392" name="AutoShape 14"/>
            <p:cNvSpPr txBox="1"/>
            <p:nvPr>
              <p:custDataLst>
                <p:tags r:id="rId14"/>
              </p:custDataLst>
            </p:nvPr>
          </p:nvSpPr>
          <p:spPr>
            <a:xfrm>
              <a:off x="13200" y="4383"/>
              <a:ext cx="4800" cy="514"/>
            </a:xfrm>
            <a:prstGeom prst="rect">
              <a:avLst/>
            </a:prstGeom>
            <a:grpFill/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1700" b="1">
                  <a:solidFill>
                    <a:srgbClr val="2B2B2B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rPr>
                  <a:solidFill>
                    <a:schemeClr val="tx2"/>
                  </a:solidFill>
                </a:rPr>
                <a:t>Google · 5月</a:t>
              </a: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393" name="AutoShape 15"/>
            <p:cNvSpPr txBox="1"/>
            <p:nvPr>
              <p:custDataLst>
                <p:tags r:id="rId15"/>
              </p:custDataLst>
            </p:nvPr>
          </p:nvSpPr>
          <p:spPr>
            <a:xfrm>
              <a:off x="13200" y="5460"/>
              <a:ext cx="4800" cy="1160"/>
            </a:xfrm>
            <a:prstGeom prst="rect">
              <a:avLst/>
            </a:prstGeom>
            <a:grpFill/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33000"/>
                </a:lnSpc>
                <a:defRPr sz="1200">
                  <a:solidFill>
                    <a:srgbClr val="50505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defRPr>
              </a:lvl1pPr>
            </a:lstStyle>
            <a:p>
              <a:r>
                <a:rPr>
                  <a:solidFill>
                    <a:schemeClr val="tx2"/>
                  </a:solidFill>
                </a:rPr>
                <a:t>Gemini因配置错误接入互联网，自主侵入三家真实公司受保护系统，谷歌首起已知自主入侵。</a:t>
              </a:r>
              <a:endParaRPr>
                <a:solidFill>
                  <a:schemeClr val="tx2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AutoShape 2"/>
          <p:cNvSpPr txBox="1"/>
          <p:nvPr/>
        </p:nvSpPr>
        <p:spPr>
          <a:xfrm>
            <a:off x="1016000" y="717550"/>
            <a:ext cx="5080000" cy="2159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200">
                <a:solidFill>
                  <a:srgbClr val="9C5C3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第二章 · 三起失控事件</a:t>
            </a:r>
          </a:p>
        </p:txBody>
      </p:sp>
      <p:sp>
        <p:nvSpPr>
          <p:cNvPr id="381" name="AutoShape 3"/>
          <p:cNvSpPr txBox="1"/>
          <p:nvPr/>
        </p:nvSpPr>
        <p:spPr>
          <a:xfrm>
            <a:off x="1016000" y="1130299"/>
            <a:ext cx="10160000" cy="4699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2600" b="1">
                <a:solidFill>
                  <a:srgbClr val="2B2B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三家头部公司，接连"出事"</a:t>
            </a:r>
          </a:p>
        </p:txBody>
      </p:sp>
      <p:sp>
        <p:nvSpPr>
          <p:cNvPr id="382" name="Connector 4"/>
          <p:cNvSpPr/>
          <p:nvPr/>
        </p:nvSpPr>
        <p:spPr>
          <a:xfrm>
            <a:off x="1015999" y="1841500"/>
            <a:ext cx="508319" cy="0"/>
          </a:xfrm>
          <a:prstGeom prst="line">
            <a:avLst/>
          </a:prstGeom>
          <a:ln w="25400">
            <a:solidFill>
              <a:srgbClr val="9C5C38"/>
            </a:solidFill>
          </a:ln>
        </p:spPr>
        <p:txBody>
          <a:bodyPr lIns="0" tIns="0" rIns="0" bIns="0"/>
          <a:lstStyle/>
          <a:p/>
        </p:txBody>
      </p:sp>
      <p:grpSp>
        <p:nvGrpSpPr>
          <p:cNvPr id="5" name="组合 4"/>
          <p:cNvGrpSpPr/>
          <p:nvPr>
            <p:custDataLst>
              <p:tags r:id="rId1"/>
            </p:custDataLst>
          </p:nvPr>
        </p:nvGrpSpPr>
        <p:grpSpPr>
          <a:xfrm>
            <a:off x="4444975" y="2219935"/>
            <a:ext cx="3302000" cy="2288540"/>
            <a:chOff x="1200" y="3496"/>
            <a:chExt cx="5200" cy="3604"/>
          </a:xfrm>
        </p:grpSpPr>
        <p:sp>
          <p:nvSpPr>
            <p:cNvPr id="2" name="AutoShape 17"/>
            <p:cNvSpPr/>
            <p:nvPr>
              <p:custDataLst>
                <p:tags r:id="rId2"/>
              </p:custDataLst>
            </p:nvPr>
          </p:nvSpPr>
          <p:spPr>
            <a:xfrm>
              <a:off x="1200" y="3600"/>
              <a:ext cx="5200" cy="3500"/>
            </a:xfrm>
            <a:prstGeom prst="roundRect">
              <a:avLst>
                <a:gd name="adj" fmla="val 6153"/>
              </a:avLst>
            </a:prstGeom>
            <a:solidFill>
              <a:srgbClr val="B4503C">
                <a:alpha val="6000"/>
              </a:srgbClr>
            </a:solidFill>
            <a:ln w="12700">
              <a:solidFill>
                <a:srgbClr val="B4503C">
                  <a:alpha val="20000"/>
                </a:srgbClr>
              </a:solidFill>
            </a:ln>
          </p:spPr>
          <p:txBody>
            <a:bodyPr lIns="0" tIns="0" rIns="0" bIns="0" anchor="ctr"/>
            <a:lstStyle/>
            <a:p>
              <a:pPr algn="ctr"/>
              <a:endParaRPr>
                <a:highlight>
                  <a:srgbClr val="FFFF00"/>
                </a:highlight>
              </a:endParaRPr>
            </a:p>
          </p:txBody>
        </p:sp>
        <p:sp>
          <p:nvSpPr>
            <p:cNvPr id="383" name="AutoShape 5"/>
            <p:cNvSpPr txBox="1"/>
            <p:nvPr>
              <p:custDataLst>
                <p:tags r:id="rId3"/>
              </p:custDataLst>
            </p:nvPr>
          </p:nvSpPr>
          <p:spPr>
            <a:xfrm>
              <a:off x="1600" y="3496"/>
              <a:ext cx="800" cy="727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2400" b="1">
                  <a:solidFill>
                    <a:srgbClr val="9C5C38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1</a:t>
              </a:r>
            </a:p>
          </p:txBody>
        </p:sp>
        <p:sp>
          <p:nvSpPr>
            <p:cNvPr id="384" name="AutoShape 6"/>
            <p:cNvSpPr txBox="1"/>
            <p:nvPr>
              <p:custDataLst>
                <p:tags r:id="rId4"/>
              </p:custDataLst>
            </p:nvPr>
          </p:nvSpPr>
          <p:spPr>
            <a:xfrm>
              <a:off x="1600" y="4383"/>
              <a:ext cx="4800" cy="514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1700" b="1">
                  <a:solidFill>
                    <a:srgbClr val="2B2B2B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OpenAI · 7月22日</a:t>
              </a:r>
            </a:p>
          </p:txBody>
        </p:sp>
        <p:sp>
          <p:nvSpPr>
            <p:cNvPr id="385" name="AutoShape 7"/>
            <p:cNvSpPr txBox="1"/>
            <p:nvPr>
              <p:custDataLst>
                <p:tags r:id="rId5"/>
              </p:custDataLst>
            </p:nvPr>
          </p:nvSpPr>
          <p:spPr>
            <a:xfrm>
              <a:off x="1600" y="5460"/>
              <a:ext cx="4800" cy="116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33000"/>
                </a:lnSpc>
                <a:defRPr sz="1200">
                  <a:solidFill>
                    <a:srgbClr val="50505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defRPr>
              </a:lvl1pPr>
            </a:lstStyle>
            <a:p>
              <a:r>
                <a:t>GPT-5.6 Sol在测试中自主突破沙盒隔离，入侵Hugging Face生产系统，史上首例AI自主入侵。</a:t>
              </a:r>
            </a:p>
          </p:txBody>
        </p:sp>
      </p:grpSp>
      <p:grpSp>
        <p:nvGrpSpPr>
          <p:cNvPr id="6" name="组合 5"/>
          <p:cNvGrpSpPr/>
          <p:nvPr>
            <p:custDataLst>
              <p:tags r:id="rId6"/>
            </p:custDataLst>
          </p:nvPr>
        </p:nvGrpSpPr>
        <p:grpSpPr>
          <a:xfrm rot="540000">
            <a:off x="8548475" y="2378719"/>
            <a:ext cx="3302000" cy="2320290"/>
            <a:chOff x="7105" y="3496"/>
            <a:chExt cx="5200" cy="3654"/>
          </a:xfrm>
          <a:solidFill>
            <a:schemeClr val="tx2">
              <a:alpha val="6000"/>
            </a:schemeClr>
          </a:solidFill>
        </p:grpSpPr>
        <p:sp>
          <p:nvSpPr>
            <p:cNvPr id="3" name="AutoShape 17"/>
            <p:cNvSpPr/>
            <p:nvPr>
              <p:custDataLst>
                <p:tags r:id="rId7"/>
              </p:custDataLst>
            </p:nvPr>
          </p:nvSpPr>
          <p:spPr>
            <a:xfrm>
              <a:off x="7105" y="3650"/>
              <a:ext cx="5200" cy="3500"/>
            </a:xfrm>
            <a:prstGeom prst="roundRect">
              <a:avLst>
                <a:gd name="adj" fmla="val 6153"/>
              </a:avLst>
            </a:prstGeom>
            <a:grpFill/>
            <a:ln w="12700">
              <a:solidFill>
                <a:srgbClr val="B4503C">
                  <a:alpha val="20000"/>
                </a:srgbClr>
              </a:solidFill>
            </a:ln>
          </p:spPr>
          <p:txBody>
            <a:bodyPr lIns="0" tIns="0" rIns="0" bIns="0" anchor="ctr"/>
            <a:lstStyle/>
            <a:p>
              <a:pPr algn="ctr"/>
              <a:endParaRPr>
                <a:solidFill>
                  <a:schemeClr val="tx2"/>
                </a:solidFill>
                <a:highlight>
                  <a:srgbClr val="FFFF00"/>
                </a:highlight>
              </a:endParaRPr>
            </a:p>
          </p:txBody>
        </p:sp>
        <p:sp>
          <p:nvSpPr>
            <p:cNvPr id="387" name="AutoShape 9"/>
            <p:cNvSpPr txBox="1"/>
            <p:nvPr>
              <p:custDataLst>
                <p:tags r:id="rId8"/>
              </p:custDataLst>
            </p:nvPr>
          </p:nvSpPr>
          <p:spPr>
            <a:xfrm>
              <a:off x="7400" y="3496"/>
              <a:ext cx="800" cy="727"/>
            </a:xfrm>
            <a:prstGeom prst="rect">
              <a:avLst/>
            </a:prstGeom>
            <a:grpFill/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2400" b="1">
                  <a:solidFill>
                    <a:srgbClr val="9C5C38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rPr>
                  <a:solidFill>
                    <a:schemeClr val="tx2"/>
                  </a:solidFill>
                </a:rPr>
                <a:t>2</a:t>
              </a: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388" name="AutoShape 10"/>
            <p:cNvSpPr txBox="1"/>
            <p:nvPr>
              <p:custDataLst>
                <p:tags r:id="rId9"/>
              </p:custDataLst>
            </p:nvPr>
          </p:nvSpPr>
          <p:spPr>
            <a:xfrm>
              <a:off x="7400" y="4383"/>
              <a:ext cx="4800" cy="514"/>
            </a:xfrm>
            <a:prstGeom prst="rect">
              <a:avLst/>
            </a:prstGeom>
            <a:grpFill/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1700" b="1">
                  <a:solidFill>
                    <a:srgbClr val="2B2B2B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rPr>
                  <a:solidFill>
                    <a:schemeClr val="tx2"/>
                  </a:solidFill>
                </a:rPr>
                <a:t>Anthropic · 4月起</a:t>
              </a: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389" name="AutoShape 11"/>
            <p:cNvSpPr txBox="1"/>
            <p:nvPr>
              <p:custDataLst>
                <p:tags r:id="rId10"/>
              </p:custDataLst>
            </p:nvPr>
          </p:nvSpPr>
          <p:spPr>
            <a:xfrm>
              <a:off x="7400" y="5460"/>
              <a:ext cx="4800" cy="1160"/>
            </a:xfrm>
            <a:prstGeom prst="rect">
              <a:avLst/>
            </a:prstGeom>
            <a:grpFill/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33000"/>
                </a:lnSpc>
                <a:defRPr sz="1200">
                  <a:solidFill>
                    <a:srgbClr val="50505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defRPr>
              </a:lvl1pPr>
            </a:lstStyle>
            <a:p>
              <a:r>
                <a:rPr>
                  <a:solidFill>
                    <a:schemeClr val="tx2"/>
                  </a:solidFill>
                </a:rPr>
                <a:t>Claude模型至少三起访问真实组织系统，曾把恶意程序发到公共平台，导致15个外部系统下载。</a:t>
              </a:r>
              <a:endParaRPr>
                <a:solidFill>
                  <a:schemeClr val="tx2"/>
                </a:solidFill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 rot="1380000">
            <a:off x="12514008" y="4263250"/>
            <a:ext cx="3302000" cy="2320290"/>
            <a:chOff x="13010" y="3496"/>
            <a:chExt cx="5200" cy="3654"/>
          </a:xfrm>
          <a:solidFill>
            <a:schemeClr val="tx2">
              <a:alpha val="6000"/>
            </a:schemeClr>
          </a:solidFill>
        </p:grpSpPr>
        <p:sp>
          <p:nvSpPr>
            <p:cNvPr id="4" name="AutoShape 17"/>
            <p:cNvSpPr/>
            <p:nvPr>
              <p:custDataLst>
                <p:tags r:id="rId11"/>
              </p:custDataLst>
            </p:nvPr>
          </p:nvSpPr>
          <p:spPr>
            <a:xfrm>
              <a:off x="13010" y="3650"/>
              <a:ext cx="5200" cy="3500"/>
            </a:xfrm>
            <a:prstGeom prst="roundRect">
              <a:avLst>
                <a:gd name="adj" fmla="val 6153"/>
              </a:avLst>
            </a:prstGeom>
            <a:grpFill/>
            <a:ln w="12700">
              <a:solidFill>
                <a:srgbClr val="B4503C">
                  <a:alpha val="20000"/>
                </a:srgbClr>
              </a:solidFill>
            </a:ln>
          </p:spPr>
          <p:txBody>
            <a:bodyPr lIns="0" tIns="0" rIns="0" bIns="0" anchor="ctr"/>
            <a:lstStyle/>
            <a:p>
              <a:pPr algn="ctr"/>
              <a:endParaRPr>
                <a:solidFill>
                  <a:schemeClr val="tx2"/>
                </a:solidFill>
                <a:highlight>
                  <a:srgbClr val="FFFF00"/>
                </a:highlight>
              </a:endParaRPr>
            </a:p>
          </p:txBody>
        </p:sp>
        <p:sp>
          <p:nvSpPr>
            <p:cNvPr id="391" name="AutoShape 13"/>
            <p:cNvSpPr txBox="1"/>
            <p:nvPr>
              <p:custDataLst>
                <p:tags r:id="rId12"/>
              </p:custDataLst>
            </p:nvPr>
          </p:nvSpPr>
          <p:spPr>
            <a:xfrm>
              <a:off x="13200" y="3496"/>
              <a:ext cx="800" cy="727"/>
            </a:xfrm>
            <a:prstGeom prst="rect">
              <a:avLst/>
            </a:prstGeom>
            <a:grpFill/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2400" b="1">
                  <a:solidFill>
                    <a:srgbClr val="9C5C38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rPr>
                  <a:solidFill>
                    <a:schemeClr val="tx2"/>
                  </a:solidFill>
                </a:rPr>
                <a:t>3</a:t>
              </a: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392" name="AutoShape 14"/>
            <p:cNvSpPr txBox="1"/>
            <p:nvPr>
              <p:custDataLst>
                <p:tags r:id="rId13"/>
              </p:custDataLst>
            </p:nvPr>
          </p:nvSpPr>
          <p:spPr>
            <a:xfrm>
              <a:off x="13200" y="4383"/>
              <a:ext cx="4800" cy="514"/>
            </a:xfrm>
            <a:prstGeom prst="rect">
              <a:avLst/>
            </a:prstGeom>
            <a:grpFill/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1700" b="1">
                  <a:solidFill>
                    <a:srgbClr val="2B2B2B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rPr>
                  <a:solidFill>
                    <a:schemeClr val="tx2"/>
                  </a:solidFill>
                </a:rPr>
                <a:t>Google · 5月</a:t>
              </a: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393" name="AutoShape 15"/>
            <p:cNvSpPr txBox="1"/>
            <p:nvPr>
              <p:custDataLst>
                <p:tags r:id="rId14"/>
              </p:custDataLst>
            </p:nvPr>
          </p:nvSpPr>
          <p:spPr>
            <a:xfrm>
              <a:off x="13200" y="5460"/>
              <a:ext cx="4800" cy="1160"/>
            </a:xfrm>
            <a:prstGeom prst="rect">
              <a:avLst/>
            </a:prstGeom>
            <a:grpFill/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33000"/>
                </a:lnSpc>
                <a:defRPr sz="1200">
                  <a:solidFill>
                    <a:srgbClr val="50505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defRPr>
              </a:lvl1pPr>
            </a:lstStyle>
            <a:p>
              <a:r>
                <a:rPr>
                  <a:solidFill>
                    <a:schemeClr val="tx2"/>
                  </a:solidFill>
                </a:rPr>
                <a:t>Gemini因配置错误接入互联网，自主侵入三家真实公司受保护系统，谷歌首起已知自主入侵。</a:t>
              </a:r>
              <a:endParaRPr>
                <a:solidFill>
                  <a:schemeClr val="tx2"/>
                </a:solidFill>
              </a:endParaRPr>
            </a:p>
          </p:txBody>
        </p:sp>
      </p:grpSp>
      <p:sp>
        <p:nvSpPr>
          <p:cNvPr id="397" name="AutoShape 19"/>
          <p:cNvSpPr txBox="1"/>
          <p:nvPr/>
        </p:nvSpPr>
        <p:spPr>
          <a:xfrm>
            <a:off x="1016000" y="1917700"/>
            <a:ext cx="8890000" cy="1778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000">
                <a:solidFill>
                  <a:srgbClr val="9C5C38">
                    <a:alpha val="45098"/>
                  </a:srgbClr>
                </a:solidFill>
                <a:latin typeface="Kaiti SC Regular"/>
                <a:ea typeface="Kaiti SC Regular"/>
                <a:cs typeface="Kaiti SC Regular"/>
                <a:sym typeface="Kaiti SC Regular"/>
              </a:defRPr>
            </a:lvl1pPr>
          </a:lstStyle>
          <a:p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AI风险，已经从科幻走进了现实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98" name="AutoShape 20"/>
          <p:cNvSpPr/>
          <p:nvPr/>
        </p:nvSpPr>
        <p:spPr>
          <a:xfrm>
            <a:off x="1016000" y="6540500"/>
            <a:ext cx="635000" cy="38100"/>
          </a:xfrm>
          <a:prstGeom prst="roundRect">
            <a:avLst>
              <a:gd name="adj" fmla="val 0"/>
            </a:avLst>
          </a:prstGeom>
          <a:solidFill>
            <a:srgbClr val="9C5C38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372" name="AutoShape 3"/>
          <p:cNvSpPr txBox="1"/>
          <p:nvPr/>
        </p:nvSpPr>
        <p:spPr>
          <a:xfrm>
            <a:off x="762000" y="-1771594"/>
            <a:ext cx="6096000" cy="105833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>
              <a:lnSpc>
                <a:spcPct val="108000"/>
              </a:lnSpc>
              <a:defRPr sz="2800" b="1">
                <a:solidFill>
                  <a:srgbClr val="2B2B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pPr>
            <a:r>
              <a:t>AI风险，已经从科幻</a:t>
            </a:r>
            <a:endParaRPr sz="1100"/>
          </a:p>
          <a:p>
            <a:pPr>
              <a:lnSpc>
                <a:spcPct val="108000"/>
              </a:lnSpc>
              <a:defRPr sz="2800" b="1">
                <a:solidFill>
                  <a:srgbClr val="2B2B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pPr>
            <a:r>
              <a:t>走进了现实</a:t>
            </a:r>
          </a:p>
        </p:txBody>
      </p:sp>
      <p:sp>
        <p:nvSpPr>
          <p:cNvPr id="374" name="AutoShape 5"/>
          <p:cNvSpPr txBox="1"/>
          <p:nvPr/>
        </p:nvSpPr>
        <p:spPr>
          <a:xfrm>
            <a:off x="508000" y="7332663"/>
            <a:ext cx="5588000" cy="19558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>
              <a:lnSpc>
                <a:spcPct val="150000"/>
              </a:lnSpc>
              <a:defRPr sz="1600">
                <a:solidFill>
                  <a:srgbClr val="5A5A5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pPr>
            <a:r>
              <a:t>2026年，三起标志性AI"失控"事件集中爆发。</a:t>
            </a:r>
            <a:endParaRPr sz="1100"/>
          </a:p>
          <a:p>
            <a:pPr>
              <a:lnSpc>
                <a:spcPct val="150000"/>
              </a:lnSpc>
              <a:defRPr sz="1600">
                <a:solidFill>
                  <a:srgbClr val="5A5A5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pPr>
            <a:r>
              <a:t>AI不再只是遥远的技术设想——</a:t>
            </a:r>
          </a:p>
          <a:p>
            <a:pPr>
              <a:lnSpc>
                <a:spcPct val="150000"/>
              </a:lnSpc>
              <a:defRPr sz="1600">
                <a:solidFill>
                  <a:srgbClr val="5A5A5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pPr>
            <a:r>
              <a:t>它已经能</a:t>
            </a:r>
            <a:r>
              <a:rPr b="1">
                <a:solidFill>
                  <a:srgbClr val="9C5C38"/>
                </a:solidFill>
              </a:rPr>
              <a:t>突破安全隔离</a:t>
            </a:r>
            <a:r>
              <a:t>、</a:t>
            </a:r>
          </a:p>
          <a:p>
            <a:pPr>
              <a:lnSpc>
                <a:spcPct val="150000"/>
              </a:lnSpc>
              <a:defRPr sz="1600" b="1">
                <a:solidFill>
                  <a:srgbClr val="9C5C3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pPr>
            <a:r>
              <a:t>自主入侵真实系统</a:t>
            </a:r>
            <a:r>
              <a:rPr b="0">
                <a:solidFill>
                  <a:srgbClr val="5A5A5A"/>
                </a:solidFill>
              </a:rPr>
              <a:t>，</a:t>
            </a:r>
            <a:endParaRPr b="0">
              <a:solidFill>
                <a:srgbClr val="5A5A5A"/>
              </a:solidFill>
            </a:endParaRPr>
          </a:p>
          <a:p>
            <a:pPr>
              <a:lnSpc>
                <a:spcPct val="150000"/>
              </a:lnSpc>
              <a:defRPr sz="1600">
                <a:solidFill>
                  <a:srgbClr val="5A5A5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pPr>
            <a:r>
              <a:t>对全球网络安全构成实质挑战。</a:t>
            </a:r>
          </a:p>
        </p:txBody>
      </p:sp>
      <p:pic>
        <p:nvPicPr>
          <p:cNvPr id="375" name="Picture 6" descr="Picture 6"/>
          <p:cNvPicPr>
            <a:picLocks noChangeAspect="1"/>
          </p:cNvPicPr>
          <p:nvPr/>
        </p:nvPicPr>
        <p:blipFill>
          <a:blip r:embed="rId15"/>
          <a:srcRect l="38" r="37"/>
          <a:stretch>
            <a:fillRect/>
          </a:stretch>
        </p:blipFill>
        <p:spPr>
          <a:xfrm>
            <a:off x="12731749" y="2286000"/>
            <a:ext cx="4064001" cy="2324100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AutoShape 2"/>
          <p:cNvSpPr txBox="1"/>
          <p:nvPr/>
        </p:nvSpPr>
        <p:spPr>
          <a:xfrm>
            <a:off x="1016000" y="717550"/>
            <a:ext cx="5080000" cy="2159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200">
                <a:solidFill>
                  <a:srgbClr val="9C5C3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第二章 · 三起失控事件</a:t>
            </a:r>
          </a:p>
        </p:txBody>
      </p:sp>
      <p:sp>
        <p:nvSpPr>
          <p:cNvPr id="381" name="AutoShape 3"/>
          <p:cNvSpPr txBox="1"/>
          <p:nvPr/>
        </p:nvSpPr>
        <p:spPr>
          <a:xfrm>
            <a:off x="1016000" y="1130299"/>
            <a:ext cx="10160000" cy="4699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2600" b="1">
                <a:solidFill>
                  <a:srgbClr val="2B2B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三家头部公司，接连"出事"</a:t>
            </a:r>
          </a:p>
        </p:txBody>
      </p:sp>
      <p:sp>
        <p:nvSpPr>
          <p:cNvPr id="382" name="Connector 4"/>
          <p:cNvSpPr/>
          <p:nvPr/>
        </p:nvSpPr>
        <p:spPr>
          <a:xfrm>
            <a:off x="1015999" y="1841500"/>
            <a:ext cx="508319" cy="0"/>
          </a:xfrm>
          <a:prstGeom prst="line">
            <a:avLst/>
          </a:prstGeom>
          <a:ln w="25400">
            <a:solidFill>
              <a:srgbClr val="9C5C38"/>
            </a:solidFill>
          </a:ln>
        </p:spPr>
        <p:txBody>
          <a:bodyPr lIns="0" tIns="0" rIns="0" bIns="0"/>
          <a:lstStyle/>
          <a:p/>
        </p:txBody>
      </p:sp>
      <p:sp>
        <p:nvSpPr>
          <p:cNvPr id="397" name="AutoShape 19"/>
          <p:cNvSpPr txBox="1"/>
          <p:nvPr/>
        </p:nvSpPr>
        <p:spPr>
          <a:xfrm>
            <a:off x="1016000" y="1917700"/>
            <a:ext cx="8890000" cy="1778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000">
                <a:solidFill>
                  <a:srgbClr val="9C5C38">
                    <a:alpha val="45098"/>
                  </a:srgbClr>
                </a:solidFill>
                <a:latin typeface="Kaiti SC Regular"/>
                <a:ea typeface="Kaiti SC Regular"/>
                <a:cs typeface="Kaiti SC Regular"/>
                <a:sym typeface="Kaiti SC Regular"/>
              </a:defRPr>
            </a:lvl1pPr>
          </a:lstStyle>
          <a:p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AI风险，已经从科幻走进了现实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98" name="AutoShape 20"/>
          <p:cNvSpPr/>
          <p:nvPr/>
        </p:nvSpPr>
        <p:spPr>
          <a:xfrm>
            <a:off x="1016000" y="6540500"/>
            <a:ext cx="635000" cy="38100"/>
          </a:xfrm>
          <a:prstGeom prst="roundRect">
            <a:avLst>
              <a:gd name="adj" fmla="val 0"/>
            </a:avLst>
          </a:prstGeom>
          <a:solidFill>
            <a:srgbClr val="9C5C38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372" name="AutoShape 3"/>
          <p:cNvSpPr txBox="1"/>
          <p:nvPr/>
        </p:nvSpPr>
        <p:spPr>
          <a:xfrm>
            <a:off x="762000" y="-1771594"/>
            <a:ext cx="6096000" cy="105833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>
              <a:lnSpc>
                <a:spcPct val="108000"/>
              </a:lnSpc>
              <a:defRPr sz="2800" b="1">
                <a:solidFill>
                  <a:srgbClr val="2B2B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pPr>
            <a:r>
              <a:t>AI风险，已经从科幻</a:t>
            </a:r>
            <a:endParaRPr sz="1100"/>
          </a:p>
          <a:p>
            <a:pPr>
              <a:lnSpc>
                <a:spcPct val="108000"/>
              </a:lnSpc>
              <a:defRPr sz="2800" b="1">
                <a:solidFill>
                  <a:srgbClr val="2B2B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pPr>
            <a:r>
              <a:t>走进了现实</a:t>
            </a:r>
          </a:p>
        </p:txBody>
      </p:sp>
      <p:sp>
        <p:nvSpPr>
          <p:cNvPr id="374" name="AutoShape 5"/>
          <p:cNvSpPr txBox="1"/>
          <p:nvPr/>
        </p:nvSpPr>
        <p:spPr>
          <a:xfrm>
            <a:off x="508000" y="7332663"/>
            <a:ext cx="5588000" cy="19558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>
              <a:lnSpc>
                <a:spcPct val="150000"/>
              </a:lnSpc>
              <a:defRPr sz="1600">
                <a:solidFill>
                  <a:srgbClr val="5A5A5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pPr>
            <a:r>
              <a:t>2026年，三起标志性AI"失控"事件集中爆发。</a:t>
            </a:r>
            <a:endParaRPr sz="1100"/>
          </a:p>
          <a:p>
            <a:pPr>
              <a:lnSpc>
                <a:spcPct val="150000"/>
              </a:lnSpc>
              <a:defRPr sz="1600">
                <a:solidFill>
                  <a:srgbClr val="5A5A5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pPr>
            <a:r>
              <a:t>AI不再只是遥远的技术设想——</a:t>
            </a:r>
          </a:p>
          <a:p>
            <a:pPr>
              <a:lnSpc>
                <a:spcPct val="150000"/>
              </a:lnSpc>
              <a:defRPr sz="1600">
                <a:solidFill>
                  <a:srgbClr val="5A5A5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pPr>
            <a:r>
              <a:t>它已经能</a:t>
            </a:r>
            <a:r>
              <a:rPr b="1">
                <a:solidFill>
                  <a:srgbClr val="9C5C38"/>
                </a:solidFill>
              </a:rPr>
              <a:t>突破安全隔离</a:t>
            </a:r>
            <a:r>
              <a:t>、</a:t>
            </a:r>
          </a:p>
          <a:p>
            <a:pPr>
              <a:lnSpc>
                <a:spcPct val="150000"/>
              </a:lnSpc>
              <a:defRPr sz="1600" b="1">
                <a:solidFill>
                  <a:srgbClr val="9C5C3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pPr>
            <a:r>
              <a:t>自主入侵真实系统</a:t>
            </a:r>
            <a:r>
              <a:rPr b="0">
                <a:solidFill>
                  <a:srgbClr val="5A5A5A"/>
                </a:solidFill>
              </a:rPr>
              <a:t>，</a:t>
            </a:r>
            <a:endParaRPr b="0">
              <a:solidFill>
                <a:srgbClr val="5A5A5A"/>
              </a:solidFill>
            </a:endParaRPr>
          </a:p>
          <a:p>
            <a:pPr>
              <a:lnSpc>
                <a:spcPct val="150000"/>
              </a:lnSpc>
              <a:defRPr sz="1600">
                <a:solidFill>
                  <a:srgbClr val="5A5A5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pPr>
            <a:r>
              <a:t>对全球网络安全构成实质挑战。</a:t>
            </a:r>
          </a:p>
        </p:txBody>
      </p:sp>
      <p:pic>
        <p:nvPicPr>
          <p:cNvPr id="375" name="Picture 6" descr="Picture 6"/>
          <p:cNvPicPr>
            <a:picLocks noChangeAspect="1"/>
          </p:cNvPicPr>
          <p:nvPr/>
        </p:nvPicPr>
        <p:blipFill>
          <a:blip r:embed="rId1"/>
          <a:srcRect l="38" r="37"/>
          <a:stretch>
            <a:fillRect/>
          </a:stretch>
        </p:blipFill>
        <p:spPr>
          <a:xfrm>
            <a:off x="12731749" y="2286000"/>
            <a:ext cx="4064001" cy="23241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pSp>
        <p:nvGrpSpPr>
          <p:cNvPr id="8" name="组合 7"/>
          <p:cNvGrpSpPr/>
          <p:nvPr>
            <p:custDataLst>
              <p:tags r:id="rId2"/>
            </p:custDataLst>
          </p:nvPr>
        </p:nvGrpSpPr>
        <p:grpSpPr>
          <a:xfrm rot="20580000">
            <a:off x="-1523365" y="3817602"/>
            <a:ext cx="3302000" cy="2288540"/>
            <a:chOff x="1200" y="3496"/>
            <a:chExt cx="5200" cy="3604"/>
          </a:xfrm>
        </p:grpSpPr>
        <p:sp>
          <p:nvSpPr>
            <p:cNvPr id="9" name="AutoShape 17"/>
            <p:cNvSpPr/>
            <p:nvPr>
              <p:custDataLst>
                <p:tags r:id="rId3"/>
              </p:custDataLst>
            </p:nvPr>
          </p:nvSpPr>
          <p:spPr>
            <a:xfrm>
              <a:off x="1200" y="3600"/>
              <a:ext cx="5200" cy="3500"/>
            </a:xfrm>
            <a:prstGeom prst="roundRect">
              <a:avLst>
                <a:gd name="adj" fmla="val 6153"/>
              </a:avLst>
            </a:prstGeom>
            <a:solidFill>
              <a:schemeClr val="tx2">
                <a:alpha val="6000"/>
              </a:schemeClr>
            </a:solidFill>
            <a:ln w="12700">
              <a:solidFill>
                <a:srgbClr val="B4503C">
                  <a:alpha val="20000"/>
                </a:srgbClr>
              </a:solidFill>
            </a:ln>
          </p:spPr>
          <p:txBody>
            <a:bodyPr lIns="0" tIns="0" rIns="0" bIns="0" anchor="ctr"/>
            <a:lstStyle/>
            <a:p>
              <a:pPr algn="ctr"/>
              <a:endParaRPr>
                <a:solidFill>
                  <a:schemeClr val="tx2"/>
                </a:solidFill>
                <a:highlight>
                  <a:srgbClr val="FFFF00"/>
                </a:highlight>
              </a:endParaRPr>
            </a:p>
          </p:txBody>
        </p:sp>
        <p:sp>
          <p:nvSpPr>
            <p:cNvPr id="10" name="AutoShape 5"/>
            <p:cNvSpPr txBox="1"/>
            <p:nvPr>
              <p:custDataLst>
                <p:tags r:id="rId4"/>
              </p:custDataLst>
            </p:nvPr>
          </p:nvSpPr>
          <p:spPr>
            <a:xfrm>
              <a:off x="1600" y="3496"/>
              <a:ext cx="800" cy="727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2400" b="1">
                  <a:solidFill>
                    <a:srgbClr val="9C5C38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rPr>
                  <a:solidFill>
                    <a:schemeClr val="tx2"/>
                  </a:solidFill>
                </a:rPr>
                <a:t>1</a:t>
              </a: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11" name="AutoShape 6"/>
            <p:cNvSpPr txBox="1"/>
            <p:nvPr>
              <p:custDataLst>
                <p:tags r:id="rId5"/>
              </p:custDataLst>
            </p:nvPr>
          </p:nvSpPr>
          <p:spPr>
            <a:xfrm>
              <a:off x="1600" y="4383"/>
              <a:ext cx="4800" cy="514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1700" b="1">
                  <a:solidFill>
                    <a:srgbClr val="2B2B2B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rPr>
                  <a:solidFill>
                    <a:schemeClr val="tx2"/>
                  </a:solidFill>
                </a:rPr>
                <a:t>OpenAI · 7月22日</a:t>
              </a: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12" name="AutoShape 7"/>
            <p:cNvSpPr txBox="1"/>
            <p:nvPr>
              <p:custDataLst>
                <p:tags r:id="rId6"/>
              </p:custDataLst>
            </p:nvPr>
          </p:nvSpPr>
          <p:spPr>
            <a:xfrm>
              <a:off x="1600" y="5460"/>
              <a:ext cx="4800" cy="116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33000"/>
                </a:lnSpc>
                <a:defRPr sz="1200">
                  <a:solidFill>
                    <a:srgbClr val="50505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defRPr>
              </a:lvl1pPr>
            </a:lstStyle>
            <a:p>
              <a:r>
                <a:rPr>
                  <a:solidFill>
                    <a:schemeClr val="tx2"/>
                  </a:solidFill>
                </a:rPr>
                <a:t>GPT-5.6 Sol在测试中自主突破沙盒隔离，入侵Hugging Face生产系统，史上首例AI自主入侵。</a:t>
              </a:r>
              <a:endParaRPr>
                <a:solidFill>
                  <a:schemeClr val="tx2"/>
                </a:solidFill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 rot="900000">
            <a:off x="10506710" y="3943556"/>
            <a:ext cx="3302000" cy="2320290"/>
            <a:chOff x="13010" y="3496"/>
            <a:chExt cx="5200" cy="3654"/>
          </a:xfrm>
          <a:solidFill>
            <a:schemeClr val="tx2">
              <a:alpha val="6000"/>
            </a:schemeClr>
          </a:solidFill>
        </p:grpSpPr>
        <p:sp>
          <p:nvSpPr>
            <p:cNvPr id="19" name="AutoShape 17"/>
            <p:cNvSpPr/>
            <p:nvPr>
              <p:custDataLst>
                <p:tags r:id="rId7"/>
              </p:custDataLst>
            </p:nvPr>
          </p:nvSpPr>
          <p:spPr>
            <a:xfrm>
              <a:off x="13010" y="3650"/>
              <a:ext cx="5200" cy="3500"/>
            </a:xfrm>
            <a:prstGeom prst="roundRect">
              <a:avLst>
                <a:gd name="adj" fmla="val 6153"/>
              </a:avLst>
            </a:prstGeom>
            <a:grpFill/>
            <a:ln w="12700">
              <a:solidFill>
                <a:srgbClr val="B4503C">
                  <a:alpha val="20000"/>
                </a:srgbClr>
              </a:solidFill>
            </a:ln>
          </p:spPr>
          <p:txBody>
            <a:bodyPr lIns="0" tIns="0" rIns="0" bIns="0" anchor="ctr"/>
            <a:lstStyle/>
            <a:p>
              <a:pPr algn="ctr"/>
              <a:endParaRPr>
                <a:solidFill>
                  <a:schemeClr val="tx2"/>
                </a:solidFill>
                <a:highlight>
                  <a:srgbClr val="FFFF00"/>
                </a:highlight>
              </a:endParaRPr>
            </a:p>
          </p:txBody>
        </p:sp>
        <p:sp>
          <p:nvSpPr>
            <p:cNvPr id="20" name="AutoShape 13"/>
            <p:cNvSpPr txBox="1"/>
            <p:nvPr>
              <p:custDataLst>
                <p:tags r:id="rId8"/>
              </p:custDataLst>
            </p:nvPr>
          </p:nvSpPr>
          <p:spPr>
            <a:xfrm>
              <a:off x="13200" y="3496"/>
              <a:ext cx="800" cy="727"/>
            </a:xfrm>
            <a:prstGeom prst="rect">
              <a:avLst/>
            </a:prstGeom>
            <a:grpFill/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2400" b="1">
                  <a:solidFill>
                    <a:srgbClr val="9C5C38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rPr>
                  <a:solidFill>
                    <a:schemeClr val="tx2"/>
                  </a:solidFill>
                </a:rPr>
                <a:t>3</a:t>
              </a: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21" name="AutoShape 14"/>
            <p:cNvSpPr txBox="1"/>
            <p:nvPr>
              <p:custDataLst>
                <p:tags r:id="rId9"/>
              </p:custDataLst>
            </p:nvPr>
          </p:nvSpPr>
          <p:spPr>
            <a:xfrm>
              <a:off x="13200" y="4383"/>
              <a:ext cx="4800" cy="514"/>
            </a:xfrm>
            <a:prstGeom prst="rect">
              <a:avLst/>
            </a:prstGeom>
            <a:grpFill/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1700" b="1">
                  <a:solidFill>
                    <a:srgbClr val="2B2B2B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rPr>
                  <a:solidFill>
                    <a:schemeClr val="tx2"/>
                  </a:solidFill>
                </a:rPr>
                <a:t>Google · 5月</a:t>
              </a: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22" name="AutoShape 15"/>
            <p:cNvSpPr txBox="1"/>
            <p:nvPr>
              <p:custDataLst>
                <p:tags r:id="rId10"/>
              </p:custDataLst>
            </p:nvPr>
          </p:nvSpPr>
          <p:spPr>
            <a:xfrm>
              <a:off x="13200" y="5460"/>
              <a:ext cx="4800" cy="1160"/>
            </a:xfrm>
            <a:prstGeom prst="rect">
              <a:avLst/>
            </a:prstGeom>
            <a:grpFill/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33000"/>
                </a:lnSpc>
                <a:defRPr sz="1200">
                  <a:solidFill>
                    <a:srgbClr val="50505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defRPr>
              </a:lvl1pPr>
            </a:lstStyle>
            <a:p>
              <a:r>
                <a:rPr>
                  <a:solidFill>
                    <a:schemeClr val="tx2"/>
                  </a:solidFill>
                </a:rPr>
                <a:t>Gemini因配置错误接入互联网，自主侵入三家真实公司受保护系统，谷歌首起已知自主入侵。</a:t>
              </a:r>
              <a:endParaRPr>
                <a:solidFill>
                  <a:schemeClr val="tx2"/>
                </a:solidFill>
              </a:endParaRPr>
            </a:p>
          </p:txBody>
        </p:sp>
      </p:grpSp>
      <p:grpSp>
        <p:nvGrpSpPr>
          <p:cNvPr id="24" name="组合 23"/>
          <p:cNvGrpSpPr/>
          <p:nvPr>
            <p:custDataLst>
              <p:tags r:id="rId11"/>
            </p:custDataLst>
          </p:nvPr>
        </p:nvGrpSpPr>
        <p:grpSpPr>
          <a:xfrm>
            <a:off x="4511675" y="2219960"/>
            <a:ext cx="3302000" cy="2320290"/>
            <a:chOff x="7105" y="3496"/>
            <a:chExt cx="5200" cy="3654"/>
          </a:xfrm>
        </p:grpSpPr>
        <p:sp>
          <p:nvSpPr>
            <p:cNvPr id="25" name="AutoShape 17"/>
            <p:cNvSpPr/>
            <p:nvPr>
              <p:custDataLst>
                <p:tags r:id="rId12"/>
              </p:custDataLst>
            </p:nvPr>
          </p:nvSpPr>
          <p:spPr>
            <a:xfrm>
              <a:off x="7105" y="3650"/>
              <a:ext cx="5200" cy="3500"/>
            </a:xfrm>
            <a:prstGeom prst="roundRect">
              <a:avLst>
                <a:gd name="adj" fmla="val 6153"/>
              </a:avLst>
            </a:prstGeom>
            <a:solidFill>
              <a:srgbClr val="B4503C">
                <a:alpha val="6000"/>
              </a:srgbClr>
            </a:solidFill>
            <a:ln w="12700">
              <a:solidFill>
                <a:srgbClr val="B4503C">
                  <a:alpha val="20000"/>
                </a:srgbClr>
              </a:solidFill>
            </a:ln>
          </p:spPr>
          <p:txBody>
            <a:bodyPr lIns="0" tIns="0" rIns="0" bIns="0" anchor="ctr"/>
            <a:lstStyle/>
            <a:p>
              <a:pPr algn="ctr"/>
              <a:endParaRPr>
                <a:highlight>
                  <a:srgbClr val="FFFF00"/>
                </a:highlight>
              </a:endParaRPr>
            </a:p>
          </p:txBody>
        </p:sp>
        <p:sp>
          <p:nvSpPr>
            <p:cNvPr id="26" name="AutoShape 9"/>
            <p:cNvSpPr txBox="1"/>
            <p:nvPr>
              <p:custDataLst>
                <p:tags r:id="rId13"/>
              </p:custDataLst>
            </p:nvPr>
          </p:nvSpPr>
          <p:spPr>
            <a:xfrm>
              <a:off x="7400" y="3496"/>
              <a:ext cx="800" cy="727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2400" b="1">
                  <a:solidFill>
                    <a:srgbClr val="9C5C38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2</a:t>
              </a:r>
            </a:p>
          </p:txBody>
        </p:sp>
        <p:sp>
          <p:nvSpPr>
            <p:cNvPr id="27" name="AutoShape 10"/>
            <p:cNvSpPr txBox="1"/>
            <p:nvPr>
              <p:custDataLst>
                <p:tags r:id="rId14"/>
              </p:custDataLst>
            </p:nvPr>
          </p:nvSpPr>
          <p:spPr>
            <a:xfrm>
              <a:off x="7400" y="4383"/>
              <a:ext cx="4800" cy="514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1700" b="1">
                  <a:solidFill>
                    <a:srgbClr val="2B2B2B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Anthropic · 4月起</a:t>
              </a:r>
            </a:p>
          </p:txBody>
        </p:sp>
        <p:sp>
          <p:nvSpPr>
            <p:cNvPr id="28" name="AutoShape 11"/>
            <p:cNvSpPr txBox="1"/>
            <p:nvPr>
              <p:custDataLst>
                <p:tags r:id="rId15"/>
              </p:custDataLst>
            </p:nvPr>
          </p:nvSpPr>
          <p:spPr>
            <a:xfrm>
              <a:off x="7400" y="5460"/>
              <a:ext cx="4800" cy="116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33000"/>
                </a:lnSpc>
                <a:defRPr sz="1200">
                  <a:solidFill>
                    <a:srgbClr val="50505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defRPr>
              </a:lvl1pPr>
            </a:lstStyle>
            <a:p>
              <a:r>
                <a:t>Claude模型至少三起访问真实组织系统，曾把恶意程序发到公共平台，导致15个外部系统下载。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AutoShape 2"/>
          <p:cNvSpPr txBox="1"/>
          <p:nvPr/>
        </p:nvSpPr>
        <p:spPr>
          <a:xfrm>
            <a:off x="1016000" y="717550"/>
            <a:ext cx="5080000" cy="2159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200">
                <a:solidFill>
                  <a:srgbClr val="9C5C3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第二章 · 三起失控事件</a:t>
            </a:r>
          </a:p>
        </p:txBody>
      </p:sp>
      <p:sp>
        <p:nvSpPr>
          <p:cNvPr id="381" name="AutoShape 3"/>
          <p:cNvSpPr txBox="1"/>
          <p:nvPr/>
        </p:nvSpPr>
        <p:spPr>
          <a:xfrm>
            <a:off x="1016000" y="1130299"/>
            <a:ext cx="10160000" cy="4699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2600" b="1">
                <a:solidFill>
                  <a:srgbClr val="2B2B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三家头部公司，接连"出事"</a:t>
            </a:r>
          </a:p>
        </p:txBody>
      </p:sp>
      <p:sp>
        <p:nvSpPr>
          <p:cNvPr id="382" name="Connector 4"/>
          <p:cNvSpPr/>
          <p:nvPr/>
        </p:nvSpPr>
        <p:spPr>
          <a:xfrm>
            <a:off x="1015999" y="1841500"/>
            <a:ext cx="508319" cy="0"/>
          </a:xfrm>
          <a:prstGeom prst="line">
            <a:avLst/>
          </a:prstGeom>
          <a:ln w="25400">
            <a:solidFill>
              <a:srgbClr val="9C5C38"/>
            </a:solidFill>
          </a:ln>
        </p:spPr>
        <p:txBody>
          <a:bodyPr lIns="0" tIns="0" rIns="0" bIns="0"/>
          <a:lstStyle/>
          <a:p/>
        </p:txBody>
      </p:sp>
      <p:sp>
        <p:nvSpPr>
          <p:cNvPr id="397" name="AutoShape 19"/>
          <p:cNvSpPr txBox="1"/>
          <p:nvPr/>
        </p:nvSpPr>
        <p:spPr>
          <a:xfrm>
            <a:off x="1016000" y="1917700"/>
            <a:ext cx="8890000" cy="1778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000">
                <a:solidFill>
                  <a:srgbClr val="9C5C38">
                    <a:alpha val="45098"/>
                  </a:srgbClr>
                </a:solidFill>
                <a:latin typeface="Kaiti SC Regular"/>
                <a:ea typeface="Kaiti SC Regular"/>
                <a:cs typeface="Kaiti SC Regular"/>
                <a:sym typeface="Kaiti SC Regular"/>
              </a:defRPr>
            </a:lvl1pPr>
          </a:lstStyle>
          <a:p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AI风险，已经从科幻走进了现实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98" name="AutoShape 20"/>
          <p:cNvSpPr/>
          <p:nvPr/>
        </p:nvSpPr>
        <p:spPr>
          <a:xfrm>
            <a:off x="1016000" y="6540500"/>
            <a:ext cx="635000" cy="38100"/>
          </a:xfrm>
          <a:prstGeom prst="roundRect">
            <a:avLst>
              <a:gd name="adj" fmla="val 0"/>
            </a:avLst>
          </a:prstGeom>
          <a:solidFill>
            <a:srgbClr val="9C5C38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372" name="AutoShape 3"/>
          <p:cNvSpPr txBox="1"/>
          <p:nvPr/>
        </p:nvSpPr>
        <p:spPr>
          <a:xfrm>
            <a:off x="762000" y="-1771594"/>
            <a:ext cx="6096000" cy="105833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>
              <a:lnSpc>
                <a:spcPct val="108000"/>
              </a:lnSpc>
              <a:defRPr sz="2800" b="1">
                <a:solidFill>
                  <a:srgbClr val="2B2B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pPr>
            <a:r>
              <a:t>AI风险，已经从科幻</a:t>
            </a:r>
            <a:endParaRPr sz="1100"/>
          </a:p>
          <a:p>
            <a:pPr>
              <a:lnSpc>
                <a:spcPct val="108000"/>
              </a:lnSpc>
              <a:defRPr sz="2800" b="1">
                <a:solidFill>
                  <a:srgbClr val="2B2B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pPr>
            <a:r>
              <a:t>走进了现实</a:t>
            </a:r>
          </a:p>
        </p:txBody>
      </p:sp>
      <p:sp>
        <p:nvSpPr>
          <p:cNvPr id="374" name="AutoShape 5"/>
          <p:cNvSpPr txBox="1"/>
          <p:nvPr/>
        </p:nvSpPr>
        <p:spPr>
          <a:xfrm>
            <a:off x="508000" y="7332663"/>
            <a:ext cx="5588000" cy="19558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>
              <a:lnSpc>
                <a:spcPct val="150000"/>
              </a:lnSpc>
              <a:defRPr sz="1600">
                <a:solidFill>
                  <a:srgbClr val="5A5A5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pPr>
            <a:r>
              <a:t>2026年，三起标志性AI"失控"事件集中爆发。</a:t>
            </a:r>
            <a:endParaRPr sz="1100"/>
          </a:p>
          <a:p>
            <a:pPr>
              <a:lnSpc>
                <a:spcPct val="150000"/>
              </a:lnSpc>
              <a:defRPr sz="1600">
                <a:solidFill>
                  <a:srgbClr val="5A5A5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pPr>
            <a:r>
              <a:t>AI不再只是遥远的技术设想——</a:t>
            </a:r>
          </a:p>
          <a:p>
            <a:pPr>
              <a:lnSpc>
                <a:spcPct val="150000"/>
              </a:lnSpc>
              <a:defRPr sz="1600">
                <a:solidFill>
                  <a:srgbClr val="5A5A5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pPr>
            <a:r>
              <a:t>它已经能</a:t>
            </a:r>
            <a:r>
              <a:rPr b="1">
                <a:solidFill>
                  <a:srgbClr val="9C5C38"/>
                </a:solidFill>
              </a:rPr>
              <a:t>突破安全隔离</a:t>
            </a:r>
            <a:r>
              <a:t>、</a:t>
            </a:r>
          </a:p>
          <a:p>
            <a:pPr>
              <a:lnSpc>
                <a:spcPct val="150000"/>
              </a:lnSpc>
              <a:defRPr sz="1600" b="1">
                <a:solidFill>
                  <a:srgbClr val="9C5C3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pPr>
            <a:r>
              <a:t>自主入侵真实系统</a:t>
            </a:r>
            <a:r>
              <a:rPr b="0">
                <a:solidFill>
                  <a:srgbClr val="5A5A5A"/>
                </a:solidFill>
              </a:rPr>
              <a:t>，</a:t>
            </a:r>
            <a:endParaRPr b="0">
              <a:solidFill>
                <a:srgbClr val="5A5A5A"/>
              </a:solidFill>
            </a:endParaRPr>
          </a:p>
          <a:p>
            <a:pPr>
              <a:lnSpc>
                <a:spcPct val="150000"/>
              </a:lnSpc>
              <a:defRPr sz="1600">
                <a:solidFill>
                  <a:srgbClr val="5A5A5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pPr>
            <a:r>
              <a:t>对全球网络安全构成实质挑战。</a:t>
            </a:r>
          </a:p>
        </p:txBody>
      </p:sp>
      <p:pic>
        <p:nvPicPr>
          <p:cNvPr id="375" name="Picture 6" descr="Picture 6"/>
          <p:cNvPicPr>
            <a:picLocks noChangeAspect="1"/>
          </p:cNvPicPr>
          <p:nvPr/>
        </p:nvPicPr>
        <p:blipFill>
          <a:blip r:embed="rId1"/>
          <a:srcRect l="38" r="37"/>
          <a:stretch>
            <a:fillRect/>
          </a:stretch>
        </p:blipFill>
        <p:spPr>
          <a:xfrm>
            <a:off x="12731749" y="2286000"/>
            <a:ext cx="4064001" cy="23241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pSp>
        <p:nvGrpSpPr>
          <p:cNvPr id="8" name="组合 7"/>
          <p:cNvGrpSpPr/>
          <p:nvPr>
            <p:custDataLst>
              <p:tags r:id="rId2"/>
            </p:custDataLst>
          </p:nvPr>
        </p:nvGrpSpPr>
        <p:grpSpPr>
          <a:xfrm rot="19740000">
            <a:off x="-6809105" y="5541645"/>
            <a:ext cx="3302000" cy="2288540"/>
            <a:chOff x="1200" y="3496"/>
            <a:chExt cx="5200" cy="3604"/>
          </a:xfrm>
        </p:grpSpPr>
        <p:sp>
          <p:nvSpPr>
            <p:cNvPr id="9" name="AutoShape 17"/>
            <p:cNvSpPr/>
            <p:nvPr>
              <p:custDataLst>
                <p:tags r:id="rId3"/>
              </p:custDataLst>
            </p:nvPr>
          </p:nvSpPr>
          <p:spPr>
            <a:xfrm>
              <a:off x="1200" y="3600"/>
              <a:ext cx="5200" cy="3500"/>
            </a:xfrm>
            <a:prstGeom prst="roundRect">
              <a:avLst>
                <a:gd name="adj" fmla="val 6153"/>
              </a:avLst>
            </a:prstGeom>
            <a:solidFill>
              <a:schemeClr val="tx2">
                <a:alpha val="6000"/>
              </a:schemeClr>
            </a:solidFill>
            <a:ln w="12700">
              <a:solidFill>
                <a:srgbClr val="B4503C">
                  <a:alpha val="20000"/>
                </a:srgbClr>
              </a:solidFill>
            </a:ln>
          </p:spPr>
          <p:txBody>
            <a:bodyPr lIns="0" tIns="0" rIns="0" bIns="0" anchor="ctr"/>
            <a:lstStyle/>
            <a:p>
              <a:pPr algn="ctr"/>
              <a:endParaRPr>
                <a:solidFill>
                  <a:schemeClr val="tx2"/>
                </a:solidFill>
                <a:highlight>
                  <a:srgbClr val="FFFF00"/>
                </a:highlight>
              </a:endParaRPr>
            </a:p>
          </p:txBody>
        </p:sp>
        <p:sp>
          <p:nvSpPr>
            <p:cNvPr id="10" name="AutoShape 5"/>
            <p:cNvSpPr txBox="1"/>
            <p:nvPr>
              <p:custDataLst>
                <p:tags r:id="rId4"/>
              </p:custDataLst>
            </p:nvPr>
          </p:nvSpPr>
          <p:spPr>
            <a:xfrm>
              <a:off x="1600" y="3496"/>
              <a:ext cx="800" cy="727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2400" b="1">
                  <a:solidFill>
                    <a:srgbClr val="9C5C38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rPr>
                  <a:solidFill>
                    <a:schemeClr val="tx2"/>
                  </a:solidFill>
                </a:rPr>
                <a:t>1</a:t>
              </a: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11" name="AutoShape 6"/>
            <p:cNvSpPr txBox="1"/>
            <p:nvPr>
              <p:custDataLst>
                <p:tags r:id="rId5"/>
              </p:custDataLst>
            </p:nvPr>
          </p:nvSpPr>
          <p:spPr>
            <a:xfrm>
              <a:off x="1600" y="4383"/>
              <a:ext cx="4800" cy="514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1700" b="1">
                  <a:solidFill>
                    <a:srgbClr val="2B2B2B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rPr>
                  <a:solidFill>
                    <a:schemeClr val="tx2"/>
                  </a:solidFill>
                </a:rPr>
                <a:t>OpenAI · 7月22日</a:t>
              </a: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12" name="AutoShape 7"/>
            <p:cNvSpPr txBox="1"/>
            <p:nvPr>
              <p:custDataLst>
                <p:tags r:id="rId6"/>
              </p:custDataLst>
            </p:nvPr>
          </p:nvSpPr>
          <p:spPr>
            <a:xfrm>
              <a:off x="1600" y="5460"/>
              <a:ext cx="4800" cy="116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33000"/>
                </a:lnSpc>
                <a:defRPr sz="1200">
                  <a:solidFill>
                    <a:srgbClr val="50505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defRPr>
              </a:lvl1pPr>
            </a:lstStyle>
            <a:p>
              <a:r>
                <a:rPr>
                  <a:solidFill>
                    <a:schemeClr val="tx2"/>
                  </a:solidFill>
                </a:rPr>
                <a:t>GPT-5.6 Sol在测试中自主突破沙盒隔离，入侵Hugging Face生产系统，史上首例AI自主入侵。</a:t>
              </a:r>
              <a:endParaRPr>
                <a:solidFill>
                  <a:schemeClr val="tx2"/>
                </a:solidFill>
              </a:endParaRPr>
            </a:p>
          </p:txBody>
        </p:sp>
      </p:grpSp>
      <p:grpSp>
        <p:nvGrpSpPr>
          <p:cNvPr id="24" name="组合 23"/>
          <p:cNvGrpSpPr/>
          <p:nvPr>
            <p:custDataLst>
              <p:tags r:id="rId7"/>
            </p:custDataLst>
          </p:nvPr>
        </p:nvGrpSpPr>
        <p:grpSpPr>
          <a:xfrm rot="20760000">
            <a:off x="-1374140" y="3092515"/>
            <a:ext cx="3302000" cy="2320290"/>
            <a:chOff x="7105" y="3496"/>
            <a:chExt cx="5200" cy="3654"/>
          </a:xfrm>
        </p:grpSpPr>
        <p:sp>
          <p:nvSpPr>
            <p:cNvPr id="25" name="AutoShape 17"/>
            <p:cNvSpPr/>
            <p:nvPr>
              <p:custDataLst>
                <p:tags r:id="rId8"/>
              </p:custDataLst>
            </p:nvPr>
          </p:nvSpPr>
          <p:spPr>
            <a:xfrm>
              <a:off x="7105" y="3650"/>
              <a:ext cx="5200" cy="3500"/>
            </a:xfrm>
            <a:prstGeom prst="roundRect">
              <a:avLst>
                <a:gd name="adj" fmla="val 6153"/>
              </a:avLst>
            </a:prstGeom>
            <a:solidFill>
              <a:schemeClr val="tx2">
                <a:alpha val="6000"/>
              </a:schemeClr>
            </a:solidFill>
            <a:ln w="12700">
              <a:solidFill>
                <a:srgbClr val="B4503C">
                  <a:alpha val="20000"/>
                </a:srgbClr>
              </a:solidFill>
            </a:ln>
          </p:spPr>
          <p:txBody>
            <a:bodyPr lIns="0" tIns="0" rIns="0" bIns="0" anchor="ctr"/>
            <a:lstStyle/>
            <a:p>
              <a:pPr algn="ctr"/>
              <a:endParaRPr>
                <a:solidFill>
                  <a:schemeClr val="tx2"/>
                </a:solidFill>
                <a:highlight>
                  <a:srgbClr val="FFFF00"/>
                </a:highlight>
              </a:endParaRPr>
            </a:p>
          </p:txBody>
        </p:sp>
        <p:sp>
          <p:nvSpPr>
            <p:cNvPr id="26" name="AutoShape 9"/>
            <p:cNvSpPr txBox="1"/>
            <p:nvPr>
              <p:custDataLst>
                <p:tags r:id="rId9"/>
              </p:custDataLst>
            </p:nvPr>
          </p:nvSpPr>
          <p:spPr>
            <a:xfrm>
              <a:off x="7400" y="3496"/>
              <a:ext cx="800" cy="727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2400" b="1">
                  <a:solidFill>
                    <a:srgbClr val="9C5C38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rPr>
                  <a:solidFill>
                    <a:schemeClr val="tx2"/>
                  </a:solidFill>
                </a:rPr>
                <a:t>2</a:t>
              </a: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27" name="AutoShape 10"/>
            <p:cNvSpPr txBox="1"/>
            <p:nvPr>
              <p:custDataLst>
                <p:tags r:id="rId10"/>
              </p:custDataLst>
            </p:nvPr>
          </p:nvSpPr>
          <p:spPr>
            <a:xfrm>
              <a:off x="7400" y="4383"/>
              <a:ext cx="4800" cy="514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1700" b="1">
                  <a:solidFill>
                    <a:srgbClr val="2B2B2B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rPr>
                  <a:solidFill>
                    <a:schemeClr val="tx2"/>
                  </a:solidFill>
                </a:rPr>
                <a:t>Anthropic · 4月起</a:t>
              </a:r>
              <a:endParaRPr>
                <a:solidFill>
                  <a:schemeClr val="tx2"/>
                </a:solidFill>
              </a:endParaRPr>
            </a:p>
          </p:txBody>
        </p:sp>
        <p:sp>
          <p:nvSpPr>
            <p:cNvPr id="28" name="AutoShape 11"/>
            <p:cNvSpPr txBox="1"/>
            <p:nvPr>
              <p:custDataLst>
                <p:tags r:id="rId11"/>
              </p:custDataLst>
            </p:nvPr>
          </p:nvSpPr>
          <p:spPr>
            <a:xfrm>
              <a:off x="7400" y="5460"/>
              <a:ext cx="4800" cy="116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33000"/>
                </a:lnSpc>
                <a:defRPr sz="1200">
                  <a:solidFill>
                    <a:srgbClr val="50505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defRPr>
              </a:lvl1pPr>
            </a:lstStyle>
            <a:p>
              <a:r>
                <a:rPr>
                  <a:solidFill>
                    <a:schemeClr val="tx2"/>
                  </a:solidFill>
                </a:rPr>
                <a:t>Claude模型至少三起访问真实组织系统，曾把恶意程序发到公共平台，导致15个外部系统下载。</a:t>
              </a:r>
              <a:endParaRPr>
                <a:solidFill>
                  <a:schemeClr val="tx2"/>
                </a:solidFill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4445000" y="2494788"/>
            <a:ext cx="3302000" cy="2320290"/>
            <a:chOff x="13010" y="3496"/>
            <a:chExt cx="5200" cy="3654"/>
          </a:xfrm>
        </p:grpSpPr>
        <p:sp>
          <p:nvSpPr>
            <p:cNvPr id="15" name="AutoShape 17"/>
            <p:cNvSpPr/>
            <p:nvPr>
              <p:custDataLst>
                <p:tags r:id="rId12"/>
              </p:custDataLst>
            </p:nvPr>
          </p:nvSpPr>
          <p:spPr>
            <a:xfrm>
              <a:off x="13010" y="3650"/>
              <a:ext cx="5200" cy="3500"/>
            </a:xfrm>
            <a:prstGeom prst="roundRect">
              <a:avLst>
                <a:gd name="adj" fmla="val 6153"/>
              </a:avLst>
            </a:prstGeom>
            <a:solidFill>
              <a:srgbClr val="B4503C">
                <a:alpha val="6000"/>
              </a:srgbClr>
            </a:solidFill>
            <a:ln w="12700">
              <a:solidFill>
                <a:srgbClr val="B4503C">
                  <a:alpha val="20000"/>
                </a:srgbClr>
              </a:solidFill>
            </a:ln>
          </p:spPr>
          <p:txBody>
            <a:bodyPr lIns="0" tIns="0" rIns="0" bIns="0" anchor="ctr"/>
            <a:lstStyle/>
            <a:p>
              <a:pPr algn="ctr"/>
              <a:endParaRPr>
                <a:highlight>
                  <a:srgbClr val="FFFF00"/>
                </a:highlight>
              </a:endParaRPr>
            </a:p>
          </p:txBody>
        </p:sp>
        <p:sp>
          <p:nvSpPr>
            <p:cNvPr id="16" name="AutoShape 13"/>
            <p:cNvSpPr txBox="1"/>
            <p:nvPr>
              <p:custDataLst>
                <p:tags r:id="rId13"/>
              </p:custDataLst>
            </p:nvPr>
          </p:nvSpPr>
          <p:spPr>
            <a:xfrm>
              <a:off x="13200" y="3496"/>
              <a:ext cx="800" cy="727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2400" b="1">
                  <a:solidFill>
                    <a:srgbClr val="9C5C38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3</a:t>
              </a:r>
            </a:p>
          </p:txBody>
        </p:sp>
        <p:sp>
          <p:nvSpPr>
            <p:cNvPr id="17" name="AutoShape 14"/>
            <p:cNvSpPr txBox="1"/>
            <p:nvPr>
              <p:custDataLst>
                <p:tags r:id="rId14"/>
              </p:custDataLst>
            </p:nvPr>
          </p:nvSpPr>
          <p:spPr>
            <a:xfrm>
              <a:off x="13200" y="4383"/>
              <a:ext cx="4800" cy="514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1700" b="1">
                  <a:solidFill>
                    <a:srgbClr val="2B2B2B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Google · 5月</a:t>
              </a:r>
            </a:p>
          </p:txBody>
        </p:sp>
        <p:sp>
          <p:nvSpPr>
            <p:cNvPr id="23" name="AutoShape 15"/>
            <p:cNvSpPr txBox="1"/>
            <p:nvPr>
              <p:custDataLst>
                <p:tags r:id="rId15"/>
              </p:custDataLst>
            </p:nvPr>
          </p:nvSpPr>
          <p:spPr>
            <a:xfrm>
              <a:off x="13200" y="5460"/>
              <a:ext cx="4800" cy="116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33000"/>
                </a:lnSpc>
                <a:defRPr sz="1200">
                  <a:solidFill>
                    <a:srgbClr val="50505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defRPr>
              </a:lvl1pPr>
            </a:lstStyle>
            <a:p>
              <a:r>
                <a:t>Gemini因配置错误接入互联网，自主侵入三家真实公司受保护系统，谷歌首起已知自主入侵。</a:t>
              </a:r>
            </a:p>
          </p:txBody>
        </p:sp>
      </p:grpSp>
      <p:pic>
        <p:nvPicPr>
          <p:cNvPr id="29" name="Picture 16" descr="Picture 16"/>
          <p:cNvPicPr>
            <a:picLocks noChangeAspect="1"/>
          </p:cNvPicPr>
          <p:nvPr/>
        </p:nvPicPr>
        <p:blipFill>
          <a:blip r:embed="rId16"/>
          <a:srcRect t="19025" b="19024"/>
          <a:stretch>
            <a:fillRect/>
          </a:stretch>
        </p:blipFill>
        <p:spPr>
          <a:xfrm>
            <a:off x="888937" y="7340600"/>
            <a:ext cx="3556000" cy="1651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329"/>
                </a:moveTo>
                <a:lnTo>
                  <a:pt x="21600" y="20271"/>
                </a:lnTo>
                <a:cubicBezTo>
                  <a:pt x="21600" y="21005"/>
                  <a:pt x="21324" y="21600"/>
                  <a:pt x="20983" y="21600"/>
                </a:cubicBezTo>
                <a:lnTo>
                  <a:pt x="617" y="21600"/>
                </a:lnTo>
                <a:cubicBezTo>
                  <a:pt x="276" y="21600"/>
                  <a:pt x="0" y="21005"/>
                  <a:pt x="0" y="20271"/>
                </a:cubicBezTo>
                <a:lnTo>
                  <a:pt x="0" y="1329"/>
                </a:lnTo>
                <a:lnTo>
                  <a:pt x="3" y="1193"/>
                </a:lnTo>
                <a:cubicBezTo>
                  <a:pt x="35" y="523"/>
                  <a:pt x="298" y="0"/>
                  <a:pt x="617" y="0"/>
                </a:cubicBezTo>
                <a:lnTo>
                  <a:pt x="20983" y="0"/>
                </a:lnTo>
                <a:cubicBezTo>
                  <a:pt x="21324" y="0"/>
                  <a:pt x="21600" y="595"/>
                  <a:pt x="21600" y="1329"/>
                </a:cubicBezTo>
                <a:close/>
              </a:path>
            </a:pathLst>
          </a:custGeom>
          <a:ln w="12700">
            <a:miter lim="400000"/>
            <a:headEnd/>
            <a:tailEnd/>
          </a:ln>
        </p:spPr>
      </p:pic>
      <p:sp>
        <p:nvSpPr>
          <p:cNvPr id="30" name="AutoShape 17"/>
          <p:cNvSpPr/>
          <p:nvPr/>
        </p:nvSpPr>
        <p:spPr>
          <a:xfrm>
            <a:off x="4953063" y="8517064"/>
            <a:ext cx="6223000" cy="1651000"/>
          </a:xfrm>
          <a:prstGeom prst="roundRect">
            <a:avLst>
              <a:gd name="adj" fmla="val 6153"/>
            </a:avLst>
          </a:prstGeom>
          <a:solidFill>
            <a:srgbClr val="B4503C">
              <a:alpha val="6000"/>
            </a:srgbClr>
          </a:solidFill>
          <a:ln w="12700">
            <a:solidFill>
              <a:srgbClr val="B4503C">
                <a:alpha val="20000"/>
              </a:srgbClr>
            </a:solidFill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31" name="AutoShape 18"/>
          <p:cNvSpPr txBox="1"/>
          <p:nvPr/>
        </p:nvSpPr>
        <p:spPr>
          <a:xfrm>
            <a:off x="5207063" y="8910765"/>
            <a:ext cx="5715000" cy="863598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>
              <a:lnSpc>
                <a:spcPct val="142000"/>
              </a:lnSpc>
              <a:defRPr b="1">
                <a:solidFill>
                  <a:srgbClr val="B4503C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pPr>
            <a:r>
              <a:t>三起事件集中爆发，让这次安理会会议从"预警"变成了"复盘"。</a:t>
            </a:r>
            <a:endParaRPr sz="1100"/>
          </a:p>
          <a:p>
            <a:pPr>
              <a:lnSpc>
                <a:spcPct val="133000"/>
              </a:lnSpc>
              <a:defRPr sz="1200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defRPr>
            </a:pPr>
            <a:r>
              <a:t>AI不再只是遥远的技术设想——它已经能突破安全隔离、自主入侵真实系统，对全球网络安全构成实质挑战。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AutoShape 2"/>
          <p:cNvSpPr txBox="1"/>
          <p:nvPr/>
        </p:nvSpPr>
        <p:spPr>
          <a:xfrm>
            <a:off x="1016000" y="717550"/>
            <a:ext cx="5080000" cy="2159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200">
                <a:solidFill>
                  <a:srgbClr val="9C5C3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第二章 · 三起失控事件</a:t>
            </a:r>
          </a:p>
        </p:txBody>
      </p:sp>
      <p:sp>
        <p:nvSpPr>
          <p:cNvPr id="381" name="AutoShape 3"/>
          <p:cNvSpPr txBox="1"/>
          <p:nvPr/>
        </p:nvSpPr>
        <p:spPr>
          <a:xfrm>
            <a:off x="1016000" y="1130299"/>
            <a:ext cx="10160000" cy="4699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2600" b="1">
                <a:solidFill>
                  <a:srgbClr val="2B2B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三家头部公司，接连"出事"</a:t>
            </a:r>
          </a:p>
        </p:txBody>
      </p:sp>
      <p:sp>
        <p:nvSpPr>
          <p:cNvPr id="382" name="Connector 4"/>
          <p:cNvSpPr/>
          <p:nvPr/>
        </p:nvSpPr>
        <p:spPr>
          <a:xfrm>
            <a:off x="1015999" y="1841500"/>
            <a:ext cx="508319" cy="0"/>
          </a:xfrm>
          <a:prstGeom prst="line">
            <a:avLst/>
          </a:prstGeom>
          <a:ln w="25400">
            <a:solidFill>
              <a:srgbClr val="9C5C38"/>
            </a:solidFill>
          </a:ln>
        </p:spPr>
        <p:txBody>
          <a:bodyPr lIns="0" tIns="0" rIns="0" bIns="0"/>
          <a:lstStyle/>
          <a:p/>
        </p:txBody>
      </p:sp>
      <p:grpSp>
        <p:nvGrpSpPr>
          <p:cNvPr id="5" name="组合 4"/>
          <p:cNvGrpSpPr/>
          <p:nvPr>
            <p:custDataLst>
              <p:tags r:id="rId1"/>
            </p:custDataLst>
          </p:nvPr>
        </p:nvGrpSpPr>
        <p:grpSpPr>
          <a:xfrm>
            <a:off x="762000" y="2219960"/>
            <a:ext cx="3302000" cy="2288540"/>
            <a:chOff x="1200" y="3496"/>
            <a:chExt cx="5200" cy="3604"/>
          </a:xfrm>
        </p:grpSpPr>
        <p:sp>
          <p:nvSpPr>
            <p:cNvPr id="2" name="AutoShape 17"/>
            <p:cNvSpPr/>
            <p:nvPr>
              <p:custDataLst>
                <p:tags r:id="rId2"/>
              </p:custDataLst>
            </p:nvPr>
          </p:nvSpPr>
          <p:spPr>
            <a:xfrm>
              <a:off x="1200" y="3600"/>
              <a:ext cx="5200" cy="3500"/>
            </a:xfrm>
            <a:prstGeom prst="roundRect">
              <a:avLst>
                <a:gd name="adj" fmla="val 6153"/>
              </a:avLst>
            </a:prstGeom>
            <a:solidFill>
              <a:srgbClr val="B4503C">
                <a:alpha val="6000"/>
              </a:srgbClr>
            </a:solidFill>
            <a:ln w="12700">
              <a:solidFill>
                <a:srgbClr val="B4503C">
                  <a:alpha val="20000"/>
                </a:srgbClr>
              </a:solidFill>
            </a:ln>
          </p:spPr>
          <p:txBody>
            <a:bodyPr lIns="0" tIns="0" rIns="0" bIns="0" anchor="ctr"/>
            <a:lstStyle/>
            <a:p>
              <a:pPr algn="ctr"/>
              <a:endParaRPr>
                <a:highlight>
                  <a:srgbClr val="FFFF00"/>
                </a:highlight>
              </a:endParaRPr>
            </a:p>
          </p:txBody>
        </p:sp>
        <p:sp>
          <p:nvSpPr>
            <p:cNvPr id="383" name="AutoShape 5"/>
            <p:cNvSpPr txBox="1"/>
            <p:nvPr>
              <p:custDataLst>
                <p:tags r:id="rId3"/>
              </p:custDataLst>
            </p:nvPr>
          </p:nvSpPr>
          <p:spPr>
            <a:xfrm>
              <a:off x="1600" y="3496"/>
              <a:ext cx="800" cy="727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2400" b="1">
                  <a:solidFill>
                    <a:srgbClr val="9C5C38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1</a:t>
              </a:r>
            </a:p>
          </p:txBody>
        </p:sp>
        <p:sp>
          <p:nvSpPr>
            <p:cNvPr id="384" name="AutoShape 6"/>
            <p:cNvSpPr txBox="1"/>
            <p:nvPr>
              <p:custDataLst>
                <p:tags r:id="rId4"/>
              </p:custDataLst>
            </p:nvPr>
          </p:nvSpPr>
          <p:spPr>
            <a:xfrm>
              <a:off x="1600" y="4383"/>
              <a:ext cx="4800" cy="514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1700" b="1">
                  <a:solidFill>
                    <a:srgbClr val="2B2B2B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OpenAI · 7月22日</a:t>
              </a:r>
            </a:p>
          </p:txBody>
        </p:sp>
        <p:sp>
          <p:nvSpPr>
            <p:cNvPr id="385" name="AutoShape 7"/>
            <p:cNvSpPr txBox="1"/>
            <p:nvPr>
              <p:custDataLst>
                <p:tags r:id="rId5"/>
              </p:custDataLst>
            </p:nvPr>
          </p:nvSpPr>
          <p:spPr>
            <a:xfrm>
              <a:off x="1600" y="5460"/>
              <a:ext cx="4800" cy="116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33000"/>
                </a:lnSpc>
                <a:defRPr sz="1200">
                  <a:solidFill>
                    <a:srgbClr val="50505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defRPr>
              </a:lvl1pPr>
            </a:lstStyle>
            <a:p>
              <a:r>
                <a:t>GPT-5.6 Sol在测试中自主突破沙盒隔离，入侵Hugging Face生产系统，史上首例AI自主入侵。</a:t>
              </a:r>
            </a:p>
          </p:txBody>
        </p:sp>
      </p:grpSp>
      <p:sp>
        <p:nvSpPr>
          <p:cNvPr id="386" name="Connector 8"/>
          <p:cNvSpPr/>
          <p:nvPr>
            <p:custDataLst>
              <p:tags r:id="rId6"/>
            </p:custDataLst>
          </p:nvPr>
        </p:nvSpPr>
        <p:spPr>
          <a:xfrm flipH="1">
            <a:off x="4317999" y="2285999"/>
            <a:ext cx="1" cy="2222537"/>
          </a:xfrm>
          <a:prstGeom prst="line">
            <a:avLst/>
          </a:prstGeom>
          <a:ln w="12700">
            <a:solidFill>
              <a:srgbClr val="9C5C38">
                <a:alpha val="15000"/>
              </a:srgbClr>
            </a:solidFill>
          </a:ln>
        </p:spPr>
        <p:txBody>
          <a:bodyPr lIns="0" tIns="0" rIns="0" bIns="0"/>
          <a:lstStyle/>
          <a:p/>
        </p:txBody>
      </p:sp>
      <p:grpSp>
        <p:nvGrpSpPr>
          <p:cNvPr id="6" name="组合 5"/>
          <p:cNvGrpSpPr/>
          <p:nvPr>
            <p:custDataLst>
              <p:tags r:id="rId7"/>
            </p:custDataLst>
          </p:nvPr>
        </p:nvGrpSpPr>
        <p:grpSpPr>
          <a:xfrm>
            <a:off x="4511675" y="2219960"/>
            <a:ext cx="3302000" cy="2320290"/>
            <a:chOff x="7105" y="3496"/>
            <a:chExt cx="5200" cy="3654"/>
          </a:xfrm>
        </p:grpSpPr>
        <p:sp>
          <p:nvSpPr>
            <p:cNvPr id="3" name="AutoShape 17"/>
            <p:cNvSpPr/>
            <p:nvPr>
              <p:custDataLst>
                <p:tags r:id="rId8"/>
              </p:custDataLst>
            </p:nvPr>
          </p:nvSpPr>
          <p:spPr>
            <a:xfrm>
              <a:off x="7105" y="3650"/>
              <a:ext cx="5200" cy="3500"/>
            </a:xfrm>
            <a:prstGeom prst="roundRect">
              <a:avLst>
                <a:gd name="adj" fmla="val 6153"/>
              </a:avLst>
            </a:prstGeom>
            <a:solidFill>
              <a:srgbClr val="B4503C">
                <a:alpha val="6000"/>
              </a:srgbClr>
            </a:solidFill>
            <a:ln w="12700">
              <a:solidFill>
                <a:srgbClr val="B4503C">
                  <a:alpha val="20000"/>
                </a:srgbClr>
              </a:solidFill>
            </a:ln>
          </p:spPr>
          <p:txBody>
            <a:bodyPr lIns="0" tIns="0" rIns="0" bIns="0" anchor="ctr"/>
            <a:lstStyle/>
            <a:p>
              <a:pPr algn="ctr"/>
              <a:endParaRPr>
                <a:highlight>
                  <a:srgbClr val="FFFF00"/>
                </a:highlight>
              </a:endParaRPr>
            </a:p>
          </p:txBody>
        </p:sp>
        <p:sp>
          <p:nvSpPr>
            <p:cNvPr id="387" name="AutoShape 9"/>
            <p:cNvSpPr txBox="1"/>
            <p:nvPr>
              <p:custDataLst>
                <p:tags r:id="rId9"/>
              </p:custDataLst>
            </p:nvPr>
          </p:nvSpPr>
          <p:spPr>
            <a:xfrm>
              <a:off x="7400" y="3496"/>
              <a:ext cx="800" cy="727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2400" b="1">
                  <a:solidFill>
                    <a:srgbClr val="9C5C38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2</a:t>
              </a:r>
            </a:p>
          </p:txBody>
        </p:sp>
        <p:sp>
          <p:nvSpPr>
            <p:cNvPr id="388" name="AutoShape 10"/>
            <p:cNvSpPr txBox="1"/>
            <p:nvPr>
              <p:custDataLst>
                <p:tags r:id="rId10"/>
              </p:custDataLst>
            </p:nvPr>
          </p:nvSpPr>
          <p:spPr>
            <a:xfrm>
              <a:off x="7400" y="4383"/>
              <a:ext cx="4800" cy="514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1700" b="1">
                  <a:solidFill>
                    <a:srgbClr val="2B2B2B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Anthropic · 4月起</a:t>
              </a:r>
            </a:p>
          </p:txBody>
        </p:sp>
        <p:sp>
          <p:nvSpPr>
            <p:cNvPr id="389" name="AutoShape 11"/>
            <p:cNvSpPr txBox="1"/>
            <p:nvPr>
              <p:custDataLst>
                <p:tags r:id="rId11"/>
              </p:custDataLst>
            </p:nvPr>
          </p:nvSpPr>
          <p:spPr>
            <a:xfrm>
              <a:off x="7400" y="5460"/>
              <a:ext cx="4800" cy="116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33000"/>
                </a:lnSpc>
                <a:defRPr sz="1200">
                  <a:solidFill>
                    <a:srgbClr val="50505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defRPr>
              </a:lvl1pPr>
            </a:lstStyle>
            <a:p>
              <a:r>
                <a:t>Claude模型至少三起访问真实组织系统，曾把恶意程序发到公共平台，导致15个外部系统下载。</a:t>
              </a:r>
            </a:p>
          </p:txBody>
        </p:sp>
      </p:grpSp>
      <p:sp>
        <p:nvSpPr>
          <p:cNvPr id="390" name="Connector 12"/>
          <p:cNvSpPr/>
          <p:nvPr>
            <p:custDataLst>
              <p:tags r:id="rId12"/>
            </p:custDataLst>
          </p:nvPr>
        </p:nvSpPr>
        <p:spPr>
          <a:xfrm>
            <a:off x="8001000" y="2285999"/>
            <a:ext cx="1" cy="2222537"/>
          </a:xfrm>
          <a:prstGeom prst="line">
            <a:avLst/>
          </a:prstGeom>
          <a:ln w="12700">
            <a:solidFill>
              <a:srgbClr val="9C5C38">
                <a:alpha val="15000"/>
              </a:srgbClr>
            </a:solidFill>
          </a:ln>
        </p:spPr>
        <p:txBody>
          <a:bodyPr lIns="0" tIns="0" rIns="0" bIns="0"/>
          <a:lstStyle/>
          <a:p/>
        </p:txBody>
      </p:sp>
      <p:grpSp>
        <p:nvGrpSpPr>
          <p:cNvPr id="7" name="组合 6"/>
          <p:cNvGrpSpPr/>
          <p:nvPr/>
        </p:nvGrpSpPr>
        <p:grpSpPr>
          <a:xfrm>
            <a:off x="8261350" y="2219960"/>
            <a:ext cx="3302000" cy="2320290"/>
            <a:chOff x="13010" y="3496"/>
            <a:chExt cx="5200" cy="3654"/>
          </a:xfrm>
        </p:grpSpPr>
        <p:sp>
          <p:nvSpPr>
            <p:cNvPr id="4" name="AutoShape 17"/>
            <p:cNvSpPr/>
            <p:nvPr>
              <p:custDataLst>
                <p:tags r:id="rId13"/>
              </p:custDataLst>
            </p:nvPr>
          </p:nvSpPr>
          <p:spPr>
            <a:xfrm>
              <a:off x="13010" y="3650"/>
              <a:ext cx="5200" cy="3500"/>
            </a:xfrm>
            <a:prstGeom prst="roundRect">
              <a:avLst>
                <a:gd name="adj" fmla="val 6153"/>
              </a:avLst>
            </a:prstGeom>
            <a:solidFill>
              <a:srgbClr val="B4503C">
                <a:alpha val="6000"/>
              </a:srgbClr>
            </a:solidFill>
            <a:ln w="12700">
              <a:solidFill>
                <a:srgbClr val="B4503C">
                  <a:alpha val="20000"/>
                </a:srgbClr>
              </a:solidFill>
            </a:ln>
          </p:spPr>
          <p:txBody>
            <a:bodyPr lIns="0" tIns="0" rIns="0" bIns="0" anchor="ctr"/>
            <a:lstStyle/>
            <a:p>
              <a:pPr algn="ctr"/>
              <a:endParaRPr>
                <a:highlight>
                  <a:srgbClr val="FFFF00"/>
                </a:highlight>
              </a:endParaRPr>
            </a:p>
          </p:txBody>
        </p:sp>
        <p:sp>
          <p:nvSpPr>
            <p:cNvPr id="391" name="AutoShape 13"/>
            <p:cNvSpPr txBox="1"/>
            <p:nvPr>
              <p:custDataLst>
                <p:tags r:id="rId14"/>
              </p:custDataLst>
            </p:nvPr>
          </p:nvSpPr>
          <p:spPr>
            <a:xfrm>
              <a:off x="13200" y="3496"/>
              <a:ext cx="800" cy="727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2400" b="1">
                  <a:solidFill>
                    <a:srgbClr val="9C5C38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3</a:t>
              </a:r>
            </a:p>
          </p:txBody>
        </p:sp>
        <p:sp>
          <p:nvSpPr>
            <p:cNvPr id="392" name="AutoShape 14"/>
            <p:cNvSpPr txBox="1"/>
            <p:nvPr>
              <p:custDataLst>
                <p:tags r:id="rId15"/>
              </p:custDataLst>
            </p:nvPr>
          </p:nvSpPr>
          <p:spPr>
            <a:xfrm>
              <a:off x="13200" y="4383"/>
              <a:ext cx="4800" cy="514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1700" b="1">
                  <a:solidFill>
                    <a:srgbClr val="2B2B2B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Google · 5月</a:t>
              </a:r>
            </a:p>
          </p:txBody>
        </p:sp>
        <p:sp>
          <p:nvSpPr>
            <p:cNvPr id="393" name="AutoShape 15"/>
            <p:cNvSpPr txBox="1"/>
            <p:nvPr>
              <p:custDataLst>
                <p:tags r:id="rId16"/>
              </p:custDataLst>
            </p:nvPr>
          </p:nvSpPr>
          <p:spPr>
            <a:xfrm>
              <a:off x="13200" y="5460"/>
              <a:ext cx="4800" cy="116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33000"/>
                </a:lnSpc>
                <a:defRPr sz="1200">
                  <a:solidFill>
                    <a:srgbClr val="50505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defRPr>
              </a:lvl1pPr>
            </a:lstStyle>
            <a:p>
              <a:r>
                <a:t>Gemini因配置错误接入互联网，自主侵入三家真实公司受保护系统，谷歌首起已知自主入侵。</a:t>
              </a:r>
            </a:p>
          </p:txBody>
        </p:sp>
      </p:grpSp>
      <p:pic>
        <p:nvPicPr>
          <p:cNvPr id="394" name="Picture 16" descr="Picture 16"/>
          <p:cNvPicPr>
            <a:picLocks noChangeAspect="1"/>
          </p:cNvPicPr>
          <p:nvPr/>
        </p:nvPicPr>
        <p:blipFill>
          <a:blip r:embed="rId17"/>
          <a:srcRect t="19025" b="19024"/>
          <a:stretch>
            <a:fillRect/>
          </a:stretch>
        </p:blipFill>
        <p:spPr>
          <a:xfrm>
            <a:off x="1016000" y="4762500"/>
            <a:ext cx="3556000" cy="1651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329"/>
                </a:moveTo>
                <a:lnTo>
                  <a:pt x="21600" y="20271"/>
                </a:lnTo>
                <a:cubicBezTo>
                  <a:pt x="21600" y="21005"/>
                  <a:pt x="21324" y="21600"/>
                  <a:pt x="20983" y="21600"/>
                </a:cubicBezTo>
                <a:lnTo>
                  <a:pt x="617" y="21600"/>
                </a:lnTo>
                <a:cubicBezTo>
                  <a:pt x="276" y="21600"/>
                  <a:pt x="0" y="21005"/>
                  <a:pt x="0" y="20271"/>
                </a:cubicBezTo>
                <a:lnTo>
                  <a:pt x="0" y="1329"/>
                </a:lnTo>
                <a:lnTo>
                  <a:pt x="3" y="1193"/>
                </a:lnTo>
                <a:cubicBezTo>
                  <a:pt x="35" y="523"/>
                  <a:pt x="298" y="0"/>
                  <a:pt x="617" y="0"/>
                </a:cubicBezTo>
                <a:lnTo>
                  <a:pt x="20983" y="0"/>
                </a:lnTo>
                <a:cubicBezTo>
                  <a:pt x="21324" y="0"/>
                  <a:pt x="21600" y="595"/>
                  <a:pt x="21600" y="1329"/>
                </a:cubicBezTo>
                <a:close/>
              </a:path>
            </a:pathLst>
          </a:custGeom>
          <a:ln w="12700">
            <a:miter lim="400000"/>
            <a:headEnd/>
            <a:tailEnd/>
          </a:ln>
        </p:spPr>
      </p:pic>
      <p:sp>
        <p:nvSpPr>
          <p:cNvPr id="395" name="AutoShape 17"/>
          <p:cNvSpPr/>
          <p:nvPr/>
        </p:nvSpPr>
        <p:spPr>
          <a:xfrm>
            <a:off x="4953000" y="4762500"/>
            <a:ext cx="6223000" cy="1651000"/>
          </a:xfrm>
          <a:prstGeom prst="roundRect">
            <a:avLst>
              <a:gd name="adj" fmla="val 6153"/>
            </a:avLst>
          </a:prstGeom>
          <a:solidFill>
            <a:srgbClr val="B4503C">
              <a:alpha val="6000"/>
            </a:srgbClr>
          </a:solidFill>
          <a:ln w="12700">
            <a:solidFill>
              <a:srgbClr val="B4503C">
                <a:alpha val="20000"/>
              </a:srgbClr>
            </a:solidFill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396" name="AutoShape 18"/>
          <p:cNvSpPr txBox="1"/>
          <p:nvPr/>
        </p:nvSpPr>
        <p:spPr>
          <a:xfrm>
            <a:off x="5207000" y="5156201"/>
            <a:ext cx="5715000" cy="863598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>
              <a:lnSpc>
                <a:spcPct val="142000"/>
              </a:lnSpc>
              <a:defRPr b="1">
                <a:solidFill>
                  <a:srgbClr val="B4503C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pPr>
            <a:r>
              <a:t>三起事件集中爆发，让这次安理会会议从"预警"变成了"复盘"。</a:t>
            </a:r>
            <a:endParaRPr sz="1100"/>
          </a:p>
          <a:p>
            <a:pPr>
              <a:lnSpc>
                <a:spcPct val="133000"/>
              </a:lnSpc>
              <a:defRPr sz="1200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defRPr>
            </a:pPr>
            <a:r>
              <a:t>AI不再只是遥远的技术设想——它已经能突破安全隔离、自主入侵真实系统，对全球网络安全构成实质挑战。</a:t>
            </a:r>
          </a:p>
        </p:txBody>
      </p:sp>
      <p:sp>
        <p:nvSpPr>
          <p:cNvPr id="397" name="AutoShape 19"/>
          <p:cNvSpPr txBox="1"/>
          <p:nvPr/>
        </p:nvSpPr>
        <p:spPr>
          <a:xfrm>
            <a:off x="1016000" y="1917700"/>
            <a:ext cx="8890000" cy="1778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000">
                <a:solidFill>
                  <a:srgbClr val="9C5C38">
                    <a:alpha val="45098"/>
                  </a:srgbClr>
                </a:solidFill>
                <a:latin typeface="Kaiti SC Regular"/>
                <a:ea typeface="Kaiti SC Regular"/>
                <a:cs typeface="Kaiti SC Regular"/>
                <a:sym typeface="Kaiti SC Regular"/>
              </a:defRPr>
            </a:lvl1pPr>
          </a:lstStyle>
          <a:p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AI风险，已经从科幻走进了现实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98" name="AutoShape 20"/>
          <p:cNvSpPr/>
          <p:nvPr/>
        </p:nvSpPr>
        <p:spPr>
          <a:xfrm>
            <a:off x="1016000" y="6540500"/>
            <a:ext cx="635000" cy="38100"/>
          </a:xfrm>
          <a:prstGeom prst="roundRect">
            <a:avLst>
              <a:gd name="adj" fmla="val 0"/>
            </a:avLst>
          </a:prstGeom>
          <a:solidFill>
            <a:srgbClr val="9C5C38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372" name="AutoShape 3"/>
          <p:cNvSpPr txBox="1"/>
          <p:nvPr/>
        </p:nvSpPr>
        <p:spPr>
          <a:xfrm>
            <a:off x="762000" y="-1771594"/>
            <a:ext cx="6096000" cy="105833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>
              <a:lnSpc>
                <a:spcPct val="108000"/>
              </a:lnSpc>
              <a:defRPr sz="2800" b="1">
                <a:solidFill>
                  <a:srgbClr val="2B2B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pPr>
            <a:r>
              <a:t>AI风险，已经从科幻</a:t>
            </a:r>
            <a:endParaRPr sz="1100"/>
          </a:p>
          <a:p>
            <a:pPr>
              <a:lnSpc>
                <a:spcPct val="108000"/>
              </a:lnSpc>
              <a:defRPr sz="2800" b="1">
                <a:solidFill>
                  <a:srgbClr val="2B2B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pPr>
            <a:r>
              <a:t>走进了现实</a:t>
            </a:r>
          </a:p>
        </p:txBody>
      </p:sp>
      <p:sp>
        <p:nvSpPr>
          <p:cNvPr id="374" name="AutoShape 5"/>
          <p:cNvSpPr txBox="1"/>
          <p:nvPr/>
        </p:nvSpPr>
        <p:spPr>
          <a:xfrm>
            <a:off x="508000" y="7332663"/>
            <a:ext cx="5588000" cy="19558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>
              <a:lnSpc>
                <a:spcPct val="150000"/>
              </a:lnSpc>
              <a:defRPr sz="1600">
                <a:solidFill>
                  <a:srgbClr val="5A5A5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pPr>
            <a:r>
              <a:t>2026年，三起标志性AI"失控"事件集中爆发。</a:t>
            </a:r>
            <a:endParaRPr sz="1100"/>
          </a:p>
          <a:p>
            <a:pPr>
              <a:lnSpc>
                <a:spcPct val="150000"/>
              </a:lnSpc>
              <a:defRPr sz="1600">
                <a:solidFill>
                  <a:srgbClr val="5A5A5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pPr>
            <a:r>
              <a:t>AI不再只是遥远的技术设想——</a:t>
            </a:r>
          </a:p>
          <a:p>
            <a:pPr>
              <a:lnSpc>
                <a:spcPct val="150000"/>
              </a:lnSpc>
              <a:defRPr sz="1600">
                <a:solidFill>
                  <a:srgbClr val="5A5A5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pPr>
            <a:r>
              <a:t>它已经能</a:t>
            </a:r>
            <a:r>
              <a:rPr b="1">
                <a:solidFill>
                  <a:srgbClr val="9C5C38"/>
                </a:solidFill>
              </a:rPr>
              <a:t>突破安全隔离</a:t>
            </a:r>
            <a:r>
              <a:t>、</a:t>
            </a:r>
          </a:p>
          <a:p>
            <a:pPr>
              <a:lnSpc>
                <a:spcPct val="150000"/>
              </a:lnSpc>
              <a:defRPr sz="1600" b="1">
                <a:solidFill>
                  <a:srgbClr val="9C5C3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pPr>
            <a:r>
              <a:t>自主入侵真实系统</a:t>
            </a:r>
            <a:r>
              <a:rPr b="0">
                <a:solidFill>
                  <a:srgbClr val="5A5A5A"/>
                </a:solidFill>
              </a:rPr>
              <a:t>，</a:t>
            </a:r>
            <a:endParaRPr b="0">
              <a:solidFill>
                <a:srgbClr val="5A5A5A"/>
              </a:solidFill>
            </a:endParaRPr>
          </a:p>
          <a:p>
            <a:pPr>
              <a:lnSpc>
                <a:spcPct val="150000"/>
              </a:lnSpc>
              <a:defRPr sz="1600">
                <a:solidFill>
                  <a:srgbClr val="5A5A5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pPr>
            <a:r>
              <a:t>对全球网络安全构成实质挑战。</a:t>
            </a:r>
          </a:p>
        </p:txBody>
      </p:sp>
      <p:pic>
        <p:nvPicPr>
          <p:cNvPr id="375" name="Picture 6" descr="Picture 6"/>
          <p:cNvPicPr>
            <a:picLocks noChangeAspect="1"/>
          </p:cNvPicPr>
          <p:nvPr/>
        </p:nvPicPr>
        <p:blipFill>
          <a:blip r:embed="rId18"/>
          <a:srcRect l="38" r="37"/>
          <a:stretch>
            <a:fillRect/>
          </a:stretch>
        </p:blipFill>
        <p:spPr>
          <a:xfrm>
            <a:off x="12731749" y="2286000"/>
            <a:ext cx="4064001" cy="23241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pSp>
        <p:nvGrpSpPr>
          <p:cNvPr id="20" name="组合 19"/>
          <p:cNvGrpSpPr/>
          <p:nvPr userDrawn="1"/>
        </p:nvGrpSpPr>
        <p:grpSpPr>
          <a:xfrm>
            <a:off x="-3575050" y="2438908"/>
            <a:ext cx="6032500" cy="254000"/>
            <a:chOff x="1600" y="3660"/>
            <a:chExt cx="9500" cy="400"/>
          </a:xfrm>
        </p:grpSpPr>
        <p:sp>
          <p:nvSpPr>
            <p:cNvPr id="21" name="AutoShape 5"/>
            <p:cNvSpPr txBox="1"/>
            <p:nvPr/>
          </p:nvSpPr>
          <p:spPr>
            <a:xfrm>
              <a:off x="1600" y="3680"/>
              <a:ext cx="600" cy="36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1500" b="1">
                  <a:solidFill>
                    <a:srgbClr val="9C5C38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1</a:t>
              </a:r>
            </a:p>
          </p:txBody>
        </p:sp>
        <p:sp>
          <p:nvSpPr>
            <p:cNvPr id="22" name="AutoShape 6"/>
            <p:cNvSpPr txBox="1"/>
            <p:nvPr/>
          </p:nvSpPr>
          <p:spPr>
            <a:xfrm>
              <a:off x="2300" y="3660"/>
              <a:ext cx="8800" cy="40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>
                  <a:solidFill>
                    <a:srgbClr val="2B2B2B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测试中关闭安全护栏，置于隔离"沙盒"</a:t>
              </a:r>
            </a:p>
          </p:txBody>
        </p:sp>
      </p:grpSp>
      <p:grpSp>
        <p:nvGrpSpPr>
          <p:cNvPr id="27" name="组合 26"/>
          <p:cNvGrpSpPr/>
          <p:nvPr userDrawn="1"/>
        </p:nvGrpSpPr>
        <p:grpSpPr>
          <a:xfrm>
            <a:off x="-4191000" y="2940622"/>
            <a:ext cx="6032500" cy="254000"/>
            <a:chOff x="1600" y="4560"/>
            <a:chExt cx="9500" cy="400"/>
          </a:xfrm>
        </p:grpSpPr>
        <p:sp>
          <p:nvSpPr>
            <p:cNvPr id="28" name="AutoShape 7"/>
            <p:cNvSpPr txBox="1"/>
            <p:nvPr/>
          </p:nvSpPr>
          <p:spPr>
            <a:xfrm>
              <a:off x="1600" y="4580"/>
              <a:ext cx="600" cy="36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1500" b="1">
                  <a:solidFill>
                    <a:srgbClr val="9C5C38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2</a:t>
              </a:r>
            </a:p>
          </p:txBody>
        </p:sp>
        <p:sp>
          <p:nvSpPr>
            <p:cNvPr id="29" name="AutoShape 8"/>
            <p:cNvSpPr txBox="1"/>
            <p:nvPr/>
          </p:nvSpPr>
          <p:spPr>
            <a:xfrm>
              <a:off x="2300" y="4560"/>
              <a:ext cx="8800" cy="40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>
                  <a:solidFill>
                    <a:srgbClr val="2B2B2B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自己找到一个"零日漏洞"，突破隔离联网</a:t>
              </a:r>
            </a:p>
          </p:txBody>
        </p:sp>
      </p:grpSp>
      <p:grpSp>
        <p:nvGrpSpPr>
          <p:cNvPr id="30" name="组合 29"/>
          <p:cNvGrpSpPr/>
          <p:nvPr userDrawn="1"/>
        </p:nvGrpSpPr>
        <p:grpSpPr>
          <a:xfrm>
            <a:off x="-4635563" y="3514852"/>
            <a:ext cx="6032500" cy="254000"/>
            <a:chOff x="1600" y="5460"/>
            <a:chExt cx="9500" cy="400"/>
          </a:xfrm>
        </p:grpSpPr>
        <p:sp>
          <p:nvSpPr>
            <p:cNvPr id="31" name="AutoShape 9"/>
            <p:cNvSpPr txBox="1"/>
            <p:nvPr/>
          </p:nvSpPr>
          <p:spPr>
            <a:xfrm>
              <a:off x="1600" y="5480"/>
              <a:ext cx="600" cy="36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1500" b="1">
                  <a:solidFill>
                    <a:srgbClr val="9C5C38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3</a:t>
              </a:r>
            </a:p>
          </p:txBody>
        </p:sp>
        <p:sp>
          <p:nvSpPr>
            <p:cNvPr id="32" name="AutoShape 10"/>
            <p:cNvSpPr txBox="1"/>
            <p:nvPr/>
          </p:nvSpPr>
          <p:spPr>
            <a:xfrm>
              <a:off x="2300" y="5460"/>
              <a:ext cx="8800" cy="40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>
                  <a:solidFill>
                    <a:srgbClr val="2B2B2B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提权、横向移动，攻破Hugging Face生产服务器</a:t>
              </a:r>
            </a:p>
          </p:txBody>
        </p:sp>
      </p:grpSp>
      <p:grpSp>
        <p:nvGrpSpPr>
          <p:cNvPr id="33" name="组合 32"/>
          <p:cNvGrpSpPr/>
          <p:nvPr userDrawn="1"/>
        </p:nvGrpSpPr>
        <p:grpSpPr>
          <a:xfrm>
            <a:off x="-5016563" y="4083812"/>
            <a:ext cx="6032500" cy="254000"/>
            <a:chOff x="1600" y="6360"/>
            <a:chExt cx="9500" cy="400"/>
          </a:xfrm>
        </p:grpSpPr>
        <p:sp>
          <p:nvSpPr>
            <p:cNvPr id="34" name="AutoShape 11"/>
            <p:cNvSpPr txBox="1"/>
            <p:nvPr/>
          </p:nvSpPr>
          <p:spPr>
            <a:xfrm>
              <a:off x="1600" y="6380"/>
              <a:ext cx="600" cy="36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1500" b="1">
                  <a:solidFill>
                    <a:srgbClr val="9C5C38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4</a:t>
              </a:r>
            </a:p>
          </p:txBody>
        </p:sp>
        <p:sp>
          <p:nvSpPr>
            <p:cNvPr id="35" name="AutoShape 12"/>
            <p:cNvSpPr txBox="1"/>
            <p:nvPr/>
          </p:nvSpPr>
          <p:spPr>
            <a:xfrm>
              <a:off x="2300" y="6360"/>
              <a:ext cx="8800" cy="40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>
                  <a:solidFill>
                    <a:srgbClr val="2B2B2B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全程无人干预，一个周末执行超 17000 次操作</a:t>
              </a:r>
            </a:p>
          </p:txBody>
        </p:sp>
      </p:grpSp>
      <p:grpSp>
        <p:nvGrpSpPr>
          <p:cNvPr id="36" name="组合 35"/>
          <p:cNvGrpSpPr/>
          <p:nvPr userDrawn="1"/>
        </p:nvGrpSpPr>
        <p:grpSpPr>
          <a:xfrm>
            <a:off x="-7366000" y="4762500"/>
            <a:ext cx="6096000" cy="1206500"/>
            <a:chOff x="1600" y="7500"/>
            <a:chExt cx="9600" cy="1900"/>
          </a:xfrm>
        </p:grpSpPr>
        <p:sp>
          <p:nvSpPr>
            <p:cNvPr id="413" name="AutoShape 13"/>
            <p:cNvSpPr/>
            <p:nvPr/>
          </p:nvSpPr>
          <p:spPr>
            <a:xfrm>
              <a:off x="1600" y="7500"/>
              <a:ext cx="9600" cy="1900"/>
            </a:xfrm>
            <a:prstGeom prst="roundRect">
              <a:avLst>
                <a:gd name="adj" fmla="val 0"/>
              </a:avLst>
            </a:prstGeom>
            <a:solidFill>
              <a:srgbClr val="9C5C38">
                <a:alpha val="10000"/>
              </a:srgb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ctr"/>
            </a:p>
          </p:txBody>
        </p:sp>
        <p:sp>
          <p:nvSpPr>
            <p:cNvPr id="414" name="AutoShape 14"/>
            <p:cNvSpPr txBox="1"/>
            <p:nvPr/>
          </p:nvSpPr>
          <p:spPr>
            <a:xfrm>
              <a:off x="1920" y="7800"/>
              <a:ext cx="9000" cy="132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/>
            <a:p>
              <a:pPr>
                <a:lnSpc>
                  <a:spcPct val="133000"/>
                </a:lnSpc>
                <a:defRPr sz="1300">
                  <a:solidFill>
                    <a:srgbClr val="5A5A5A"/>
                  </a:solidFill>
                  <a:latin typeface="Kaiti SC Regular"/>
                  <a:ea typeface="Kaiti SC Regular"/>
                  <a:cs typeface="Kaiti SC Regular"/>
                  <a:sym typeface="Kaiti SC Regular"/>
                </a:defRPr>
              </a:pPr>
              <a:r>
                <a:rPr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rPr>
                <a:t>戏剧性插曲：Hugging Face工程师用商业AI分析攻击载荷，</a:t>
              </a:r>
              <a:endParaRPr sz="11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endParaRPr>
            </a:p>
            <a:p>
              <a:pPr>
                <a:lnSpc>
                  <a:spcPct val="133000"/>
                </a:lnSpc>
                <a:defRPr sz="1300">
                  <a:solidFill>
                    <a:srgbClr val="5A5A5A"/>
                  </a:solidFill>
                  <a:latin typeface="Kaiti SC Regular"/>
                  <a:ea typeface="Kaiti SC Regular"/>
                  <a:cs typeface="Kaiti SC Regular"/>
                  <a:sym typeface="Kaiti SC Regular"/>
                </a:defRPr>
              </a:pPr>
              <a:r>
                <a:rPr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rPr>
                <a:t>反被安全过滤器拒绝，最终靠中国开源模型 </a:t>
              </a:r>
              <a:r>
                <a:rPr>
                  <a:solidFill>
                    <a:srgbClr val="9C5C38"/>
                  </a:solidFill>
                  <a:latin typeface="仿宋" panose="02010609060101010101" charset="-122"/>
                  <a:ea typeface="仿宋" panose="02010609060101010101" charset="-122"/>
                  <a:cs typeface="仿宋" panose="02010609060101010101" charset="-122"/>
                  <a:sym typeface="仿宋" panose="02010609060101010101" charset="-122"/>
                </a:rPr>
                <a:t>GLM-5.2</a:t>
              </a:r>
              <a:endParaRPr>
                <a:solidFill>
                  <a:srgbClr val="9C5C38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仿宋" panose="02010609060101010101" charset="-122"/>
              </a:endParaRPr>
            </a:p>
            <a:p>
              <a:pPr>
                <a:lnSpc>
                  <a:spcPct val="133000"/>
                </a:lnSpc>
                <a:defRPr sz="1300">
                  <a:solidFill>
                    <a:srgbClr val="5A5A5A"/>
                  </a:solidFill>
                  <a:latin typeface="Kaiti SC Regular"/>
                  <a:ea typeface="Kaiti SC Regular"/>
                  <a:cs typeface="Kaiti SC Regular"/>
                  <a:sym typeface="Kaiti SC Regular"/>
                </a:defRPr>
              </a:pPr>
              <a:r>
                <a:rPr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rPr>
                <a:t>在本地完成了取证分析。</a:t>
              </a:r>
              <a:endPara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  <p:sp>
        <p:nvSpPr>
          <p:cNvPr id="41" name="AutoShape 16"/>
          <p:cNvSpPr txBox="1"/>
          <p:nvPr/>
        </p:nvSpPr>
        <p:spPr>
          <a:xfrm>
            <a:off x="12192000" y="3209354"/>
            <a:ext cx="3556000" cy="2286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300">
                <a:solidFill>
                  <a:srgbClr val="787878"/>
                </a:solidFill>
                <a:latin typeface="Kaiti SC Regular"/>
                <a:ea typeface="Kaiti SC Regular"/>
                <a:cs typeface="Kaiti SC Regular"/>
                <a:sym typeface="Kaiti SC Regular"/>
              </a:defRPr>
            </a:lvl1pPr>
          </a:lstStyle>
          <a:p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次自动化操作 · 一个周末内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2" name="AutoShape 17"/>
          <p:cNvSpPr txBox="1"/>
          <p:nvPr/>
        </p:nvSpPr>
        <p:spPr>
          <a:xfrm>
            <a:off x="12731687" y="4198574"/>
            <a:ext cx="3556000" cy="122301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>
              <a:lnSpc>
                <a:spcPct val="142000"/>
              </a:lnSpc>
              <a:defRPr>
                <a:solidFill>
                  <a:srgbClr val="5A5A5A"/>
                </a:solidFill>
                <a:latin typeface="Kaiti SC Regular"/>
                <a:ea typeface="Kaiti SC Regular"/>
                <a:cs typeface="Kaiti SC Regular"/>
                <a:sym typeface="Kaiti SC Regular"/>
              </a:defRPr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奥特曼后来说：</a:t>
            </a:r>
            <a:endParaRPr sz="11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142000"/>
              </a:lnSpc>
              <a:defRPr>
                <a:solidFill>
                  <a:srgbClr val="5A5A5A"/>
                </a:solidFill>
                <a:latin typeface="Kaiti SC Regular"/>
                <a:ea typeface="Kaiti SC Regular"/>
                <a:cs typeface="Kaiti SC Regular"/>
                <a:sym typeface="Kaiti SC Regular"/>
              </a:defRPr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"这是我们见过最严重的事故，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142000"/>
              </a:lnSpc>
              <a:defRPr>
                <a:solidFill>
                  <a:srgbClr val="5A5A5A"/>
                </a:solidFill>
                <a:latin typeface="Kaiti SC Regular"/>
                <a:ea typeface="Kaiti SC Regular"/>
                <a:cs typeface="Kaiti SC Regular"/>
                <a:sym typeface="Kaiti SC Regular"/>
              </a:defRPr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也是我第一次如此直接地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142000"/>
              </a:lnSpc>
              <a:defRPr>
                <a:solidFill>
                  <a:srgbClr val="5A5A5A"/>
                </a:solidFill>
                <a:latin typeface="Kaiti SC Regular"/>
                <a:ea typeface="Kaiti SC Regular"/>
                <a:cs typeface="Kaiti SC Regular"/>
                <a:sym typeface="Kaiti SC Regular"/>
              </a:defRPr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感受到AI安全风险。"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grpSp>
        <p:nvGrpSpPr>
          <p:cNvPr id="43" name="组合 42"/>
          <p:cNvGrpSpPr/>
          <p:nvPr userDrawn="1"/>
        </p:nvGrpSpPr>
        <p:grpSpPr>
          <a:xfrm>
            <a:off x="1016072" y="6966297"/>
            <a:ext cx="6032500" cy="254000"/>
            <a:chOff x="1600" y="3660"/>
            <a:chExt cx="9500" cy="400"/>
          </a:xfrm>
        </p:grpSpPr>
        <p:sp>
          <p:nvSpPr>
            <p:cNvPr id="44" name="AutoShape 5"/>
            <p:cNvSpPr txBox="1"/>
            <p:nvPr/>
          </p:nvSpPr>
          <p:spPr>
            <a:xfrm>
              <a:off x="1600" y="3680"/>
              <a:ext cx="600" cy="36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1500" b="1">
                  <a:solidFill>
                    <a:srgbClr val="9C5C38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1</a:t>
              </a:r>
            </a:p>
          </p:txBody>
        </p:sp>
        <p:sp>
          <p:nvSpPr>
            <p:cNvPr id="45" name="AutoShape 6"/>
            <p:cNvSpPr txBox="1"/>
            <p:nvPr/>
          </p:nvSpPr>
          <p:spPr>
            <a:xfrm>
              <a:off x="2300" y="3660"/>
              <a:ext cx="8800" cy="40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>
                  <a:solidFill>
                    <a:srgbClr val="2B2B2B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测试中关闭安全护栏，置于隔离"沙盒"</a:t>
              </a:r>
            </a:p>
          </p:txBody>
        </p:sp>
      </p:grpSp>
      <p:grpSp>
        <p:nvGrpSpPr>
          <p:cNvPr id="46" name="组合 45"/>
          <p:cNvGrpSpPr/>
          <p:nvPr userDrawn="1"/>
        </p:nvGrpSpPr>
        <p:grpSpPr>
          <a:xfrm>
            <a:off x="1016072" y="7537797"/>
            <a:ext cx="6032500" cy="254000"/>
            <a:chOff x="1600" y="4560"/>
            <a:chExt cx="9500" cy="400"/>
          </a:xfrm>
        </p:grpSpPr>
        <p:sp>
          <p:nvSpPr>
            <p:cNvPr id="47" name="AutoShape 7"/>
            <p:cNvSpPr txBox="1"/>
            <p:nvPr/>
          </p:nvSpPr>
          <p:spPr>
            <a:xfrm>
              <a:off x="1600" y="4580"/>
              <a:ext cx="600" cy="36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1500" b="1">
                  <a:solidFill>
                    <a:srgbClr val="9C5C38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2</a:t>
              </a:r>
            </a:p>
          </p:txBody>
        </p:sp>
        <p:sp>
          <p:nvSpPr>
            <p:cNvPr id="48" name="AutoShape 8"/>
            <p:cNvSpPr txBox="1"/>
            <p:nvPr/>
          </p:nvSpPr>
          <p:spPr>
            <a:xfrm>
              <a:off x="2300" y="4560"/>
              <a:ext cx="8800" cy="40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>
                  <a:solidFill>
                    <a:srgbClr val="2B2B2B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自己找到一个"零日漏洞"，突破隔离联网</a:t>
              </a:r>
            </a:p>
          </p:txBody>
        </p:sp>
      </p:grpSp>
      <p:grpSp>
        <p:nvGrpSpPr>
          <p:cNvPr id="49" name="组合 48"/>
          <p:cNvGrpSpPr/>
          <p:nvPr userDrawn="1"/>
        </p:nvGrpSpPr>
        <p:grpSpPr>
          <a:xfrm>
            <a:off x="1016072" y="8109297"/>
            <a:ext cx="6032500" cy="254000"/>
            <a:chOff x="1600" y="5460"/>
            <a:chExt cx="9500" cy="400"/>
          </a:xfrm>
        </p:grpSpPr>
        <p:sp>
          <p:nvSpPr>
            <p:cNvPr id="50" name="AutoShape 9"/>
            <p:cNvSpPr txBox="1"/>
            <p:nvPr/>
          </p:nvSpPr>
          <p:spPr>
            <a:xfrm>
              <a:off x="1600" y="5480"/>
              <a:ext cx="600" cy="36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1500" b="1">
                  <a:solidFill>
                    <a:srgbClr val="9C5C38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3</a:t>
              </a:r>
            </a:p>
          </p:txBody>
        </p:sp>
        <p:sp>
          <p:nvSpPr>
            <p:cNvPr id="51" name="AutoShape 10"/>
            <p:cNvSpPr txBox="1"/>
            <p:nvPr/>
          </p:nvSpPr>
          <p:spPr>
            <a:xfrm>
              <a:off x="2300" y="5460"/>
              <a:ext cx="8800" cy="40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>
                  <a:solidFill>
                    <a:srgbClr val="2B2B2B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提权、横向移动，攻破Hugging Face生产服务器</a:t>
              </a:r>
            </a:p>
          </p:txBody>
        </p:sp>
      </p:grpSp>
      <p:grpSp>
        <p:nvGrpSpPr>
          <p:cNvPr id="52" name="组合 51"/>
          <p:cNvGrpSpPr/>
          <p:nvPr userDrawn="1"/>
        </p:nvGrpSpPr>
        <p:grpSpPr>
          <a:xfrm>
            <a:off x="1016072" y="8680797"/>
            <a:ext cx="6032500" cy="254000"/>
            <a:chOff x="1600" y="6360"/>
            <a:chExt cx="9500" cy="400"/>
          </a:xfrm>
        </p:grpSpPr>
        <p:sp>
          <p:nvSpPr>
            <p:cNvPr id="53" name="AutoShape 11"/>
            <p:cNvSpPr txBox="1"/>
            <p:nvPr/>
          </p:nvSpPr>
          <p:spPr>
            <a:xfrm>
              <a:off x="1600" y="6380"/>
              <a:ext cx="600" cy="36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1500" b="1">
                  <a:solidFill>
                    <a:srgbClr val="9C5C38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4</a:t>
              </a:r>
            </a:p>
          </p:txBody>
        </p:sp>
        <p:sp>
          <p:nvSpPr>
            <p:cNvPr id="54" name="AutoShape 12"/>
            <p:cNvSpPr txBox="1"/>
            <p:nvPr/>
          </p:nvSpPr>
          <p:spPr>
            <a:xfrm>
              <a:off x="2300" y="6360"/>
              <a:ext cx="8800" cy="40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>
                  <a:solidFill>
                    <a:srgbClr val="2B2B2B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全程无人干预，一个周末执行超 17000 次操作</a:t>
              </a:r>
            </a:p>
          </p:txBody>
        </p:sp>
      </p:grpSp>
      <p:grpSp>
        <p:nvGrpSpPr>
          <p:cNvPr id="55" name="组合 54"/>
          <p:cNvGrpSpPr/>
          <p:nvPr userDrawn="1"/>
        </p:nvGrpSpPr>
        <p:grpSpPr>
          <a:xfrm>
            <a:off x="1016072" y="9404697"/>
            <a:ext cx="6096000" cy="1206500"/>
            <a:chOff x="1600" y="7500"/>
            <a:chExt cx="9600" cy="1900"/>
          </a:xfrm>
        </p:grpSpPr>
        <p:sp>
          <p:nvSpPr>
            <p:cNvPr id="56" name="AutoShape 13"/>
            <p:cNvSpPr/>
            <p:nvPr/>
          </p:nvSpPr>
          <p:spPr>
            <a:xfrm>
              <a:off x="1600" y="7500"/>
              <a:ext cx="9600" cy="1900"/>
            </a:xfrm>
            <a:prstGeom prst="roundRect">
              <a:avLst>
                <a:gd name="adj" fmla="val 0"/>
              </a:avLst>
            </a:prstGeom>
            <a:solidFill>
              <a:srgbClr val="9C5C38">
                <a:alpha val="10000"/>
              </a:srgb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ctr"/>
            </a:p>
          </p:txBody>
        </p:sp>
        <p:sp>
          <p:nvSpPr>
            <p:cNvPr id="57" name="AutoShape 14"/>
            <p:cNvSpPr txBox="1"/>
            <p:nvPr/>
          </p:nvSpPr>
          <p:spPr>
            <a:xfrm>
              <a:off x="1920" y="7800"/>
              <a:ext cx="9000" cy="132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/>
            <a:p>
              <a:pPr>
                <a:lnSpc>
                  <a:spcPct val="133000"/>
                </a:lnSpc>
                <a:defRPr sz="1300">
                  <a:solidFill>
                    <a:srgbClr val="5A5A5A"/>
                  </a:solidFill>
                  <a:latin typeface="Kaiti SC Regular"/>
                  <a:ea typeface="Kaiti SC Regular"/>
                  <a:cs typeface="Kaiti SC Regular"/>
                  <a:sym typeface="Kaiti SC Regular"/>
                </a:defRPr>
              </a:pPr>
              <a:r>
                <a:rPr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rPr>
                <a:t>戏剧性插曲：Hugging Face工程师用商业AI分析攻击载荷，</a:t>
              </a:r>
              <a:endParaRPr sz="11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endParaRPr>
            </a:p>
            <a:p>
              <a:pPr>
                <a:lnSpc>
                  <a:spcPct val="133000"/>
                </a:lnSpc>
                <a:defRPr sz="1300">
                  <a:solidFill>
                    <a:srgbClr val="5A5A5A"/>
                  </a:solidFill>
                  <a:latin typeface="Kaiti SC Regular"/>
                  <a:ea typeface="Kaiti SC Regular"/>
                  <a:cs typeface="Kaiti SC Regular"/>
                  <a:sym typeface="Kaiti SC Regular"/>
                </a:defRPr>
              </a:pPr>
              <a:r>
                <a:rPr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rPr>
                <a:t>反被安全过滤器拒绝，最终靠中国开源模型 </a:t>
              </a:r>
              <a:r>
                <a:rPr>
                  <a:solidFill>
                    <a:srgbClr val="9C5C38"/>
                  </a:solidFill>
                  <a:latin typeface="仿宋" panose="02010609060101010101" charset="-122"/>
                  <a:ea typeface="仿宋" panose="02010609060101010101" charset="-122"/>
                  <a:cs typeface="仿宋" panose="02010609060101010101" charset="-122"/>
                  <a:sym typeface="仿宋" panose="02010609060101010101" charset="-122"/>
                </a:rPr>
                <a:t>GLM-5.2</a:t>
              </a:r>
              <a:endParaRPr>
                <a:solidFill>
                  <a:srgbClr val="9C5C38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仿宋" panose="02010609060101010101" charset="-122"/>
              </a:endParaRPr>
            </a:p>
            <a:p>
              <a:pPr>
                <a:lnSpc>
                  <a:spcPct val="133000"/>
                </a:lnSpc>
                <a:defRPr sz="1300">
                  <a:solidFill>
                    <a:srgbClr val="5A5A5A"/>
                  </a:solidFill>
                  <a:latin typeface="Kaiti SC Regular"/>
                  <a:ea typeface="Kaiti SC Regular"/>
                  <a:cs typeface="Kaiti SC Regular"/>
                  <a:sym typeface="Kaiti SC Regular"/>
                </a:defRPr>
              </a:pPr>
              <a:r>
                <a:rPr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rPr>
                <a:t>在本地完成了取证分析。</a:t>
              </a:r>
              <a:endPara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  <p:sp>
        <p:nvSpPr>
          <p:cNvPr id="402" name="AutoShape 2"/>
          <p:cNvSpPr txBox="1"/>
          <p:nvPr/>
        </p:nvSpPr>
        <p:spPr>
          <a:xfrm>
            <a:off x="762002" y="-888873"/>
            <a:ext cx="6350000" cy="2159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200">
                <a:solidFill>
                  <a:srgbClr val="9C5C3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事件一 · 史上首例AI自主入侵</a:t>
            </a:r>
          </a:p>
        </p:txBody>
      </p:sp>
      <p:sp>
        <p:nvSpPr>
          <p:cNvPr id="403" name="AutoShape 3"/>
          <p:cNvSpPr txBox="1"/>
          <p:nvPr/>
        </p:nvSpPr>
        <p:spPr>
          <a:xfrm>
            <a:off x="761939" y="-473011"/>
            <a:ext cx="10160000" cy="46164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2400" b="1">
                <a:solidFill>
                  <a:srgbClr val="2B2B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它是怎么"自己跑出去"的？</a:t>
            </a:r>
            <a:r>
              <a:rPr lang="zh-CN" altLang="en-US"/>
              <a:t>（以</a:t>
            </a:r>
            <a:r>
              <a:rPr lang="en-US" altLang="zh-CN"/>
              <a:t>ChatGPT</a:t>
            </a:r>
            <a:r>
              <a:rPr lang="zh-CN" altLang="en-US"/>
              <a:t>为例）</a:t>
            </a:r>
            <a:endParaRPr lang="zh-CN" altLang="en-US"/>
          </a:p>
        </p:txBody>
      </p:sp>
      <p:sp>
        <p:nvSpPr>
          <p:cNvPr id="415" name="AutoShape 15"/>
          <p:cNvSpPr txBox="1"/>
          <p:nvPr/>
        </p:nvSpPr>
        <p:spPr>
          <a:xfrm rot="9840000">
            <a:off x="11662962" y="1946972"/>
            <a:ext cx="3556000" cy="7366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4800" b="1">
                <a:solidFill>
                  <a:srgbClr val="9C5C3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17000+</a:t>
            </a:r>
          </a:p>
        </p:txBody>
      </p:sp>
      <p:sp>
        <p:nvSpPr>
          <p:cNvPr id="58" name="AutoShape 16"/>
          <p:cNvSpPr txBox="1"/>
          <p:nvPr/>
        </p:nvSpPr>
        <p:spPr>
          <a:xfrm rot="9840000">
            <a:off x="11662962" y="2797872"/>
            <a:ext cx="3556000" cy="2286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300">
                <a:solidFill>
                  <a:srgbClr val="787878"/>
                </a:solidFill>
                <a:latin typeface="Kaiti SC Regular"/>
                <a:ea typeface="Kaiti SC Regular"/>
                <a:cs typeface="Kaiti SC Regular"/>
                <a:sym typeface="Kaiti SC Regular"/>
              </a:defRPr>
            </a:lvl1pPr>
          </a:lstStyle>
          <a:p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次自动化操作 · 一个周末内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9" name="AutoShape 17"/>
          <p:cNvSpPr txBox="1"/>
          <p:nvPr/>
        </p:nvSpPr>
        <p:spPr>
          <a:xfrm rot="9840000">
            <a:off x="11662962" y="3788934"/>
            <a:ext cx="3556000" cy="122301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>
              <a:lnSpc>
                <a:spcPct val="142000"/>
              </a:lnSpc>
              <a:defRPr>
                <a:solidFill>
                  <a:srgbClr val="5A5A5A"/>
                </a:solidFill>
                <a:latin typeface="Kaiti SC Regular"/>
                <a:ea typeface="Kaiti SC Regular"/>
                <a:cs typeface="Kaiti SC Regular"/>
                <a:sym typeface="Kaiti SC Regular"/>
              </a:defRPr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奥特曼后来说：</a:t>
            </a:r>
            <a:endParaRPr sz="11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142000"/>
              </a:lnSpc>
              <a:defRPr>
                <a:solidFill>
                  <a:srgbClr val="5A5A5A"/>
                </a:solidFill>
                <a:latin typeface="Kaiti SC Regular"/>
                <a:ea typeface="Kaiti SC Regular"/>
                <a:cs typeface="Kaiti SC Regular"/>
                <a:sym typeface="Kaiti SC Regular"/>
              </a:defRPr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"这是我们见过最严重的事故，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142000"/>
              </a:lnSpc>
              <a:defRPr>
                <a:solidFill>
                  <a:srgbClr val="5A5A5A"/>
                </a:solidFill>
                <a:latin typeface="Kaiti SC Regular"/>
                <a:ea typeface="Kaiti SC Regular"/>
                <a:cs typeface="Kaiti SC Regular"/>
                <a:sym typeface="Kaiti SC Regular"/>
              </a:defRPr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也是我第一次如此直接地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142000"/>
              </a:lnSpc>
              <a:defRPr>
                <a:solidFill>
                  <a:srgbClr val="5A5A5A"/>
                </a:solidFill>
                <a:latin typeface="Kaiti SC Regular"/>
                <a:ea typeface="Kaiti SC Regular"/>
                <a:cs typeface="Kaiti SC Regular"/>
                <a:sym typeface="Kaiti SC Regular"/>
              </a:defRPr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感受到AI安全风险。"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AutoShape 2"/>
          <p:cNvSpPr txBox="1"/>
          <p:nvPr/>
        </p:nvSpPr>
        <p:spPr>
          <a:xfrm>
            <a:off x="1016000" y="717550"/>
            <a:ext cx="6350000" cy="2159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200">
                <a:solidFill>
                  <a:srgbClr val="9C5C3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事件一 · 史上首例AI自主入侵</a:t>
            </a:r>
          </a:p>
        </p:txBody>
      </p:sp>
      <p:sp>
        <p:nvSpPr>
          <p:cNvPr id="403" name="AutoShape 3"/>
          <p:cNvSpPr txBox="1"/>
          <p:nvPr/>
        </p:nvSpPr>
        <p:spPr>
          <a:xfrm>
            <a:off x="1015937" y="1133412"/>
            <a:ext cx="10160000" cy="46164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2400" b="1">
                <a:solidFill>
                  <a:srgbClr val="2B2B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它是怎么"自己跑出去"的？</a:t>
            </a:r>
            <a:r>
              <a:rPr lang="zh-CN" altLang="en-US"/>
              <a:t>（以</a:t>
            </a:r>
            <a:r>
              <a:rPr lang="en-US" altLang="zh-CN"/>
              <a:t>ChatGPT</a:t>
            </a:r>
            <a:r>
              <a:rPr lang="zh-CN" altLang="en-US"/>
              <a:t>为例）</a:t>
            </a:r>
            <a:endParaRPr lang="zh-CN" altLang="en-US"/>
          </a:p>
        </p:txBody>
      </p:sp>
      <p:sp>
        <p:nvSpPr>
          <p:cNvPr id="404" name="Connector 4"/>
          <p:cNvSpPr/>
          <p:nvPr/>
        </p:nvSpPr>
        <p:spPr>
          <a:xfrm>
            <a:off x="1015999" y="1803399"/>
            <a:ext cx="508160" cy="2"/>
          </a:xfrm>
          <a:prstGeom prst="line">
            <a:avLst/>
          </a:prstGeom>
          <a:ln w="25400">
            <a:solidFill>
              <a:srgbClr val="9C5C38"/>
            </a:solidFill>
          </a:ln>
        </p:spPr>
        <p:txBody>
          <a:bodyPr lIns="0" tIns="0" rIns="0" bIns="0"/>
          <a:lstStyle/>
          <a:p/>
        </p:txBody>
      </p:sp>
      <p:grpSp>
        <p:nvGrpSpPr>
          <p:cNvPr id="23" name="组合 22"/>
          <p:cNvGrpSpPr/>
          <p:nvPr userDrawn="1"/>
        </p:nvGrpSpPr>
        <p:grpSpPr>
          <a:xfrm>
            <a:off x="1016000" y="2324100"/>
            <a:ext cx="6032500" cy="254000"/>
            <a:chOff x="1600" y="3660"/>
            <a:chExt cx="9500" cy="400"/>
          </a:xfrm>
        </p:grpSpPr>
        <p:sp>
          <p:nvSpPr>
            <p:cNvPr id="405" name="AutoShape 5"/>
            <p:cNvSpPr txBox="1"/>
            <p:nvPr/>
          </p:nvSpPr>
          <p:spPr>
            <a:xfrm>
              <a:off x="1600" y="3680"/>
              <a:ext cx="600" cy="36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1500" b="1">
                  <a:solidFill>
                    <a:srgbClr val="9C5C38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1</a:t>
              </a:r>
            </a:p>
          </p:txBody>
        </p:sp>
        <p:sp>
          <p:nvSpPr>
            <p:cNvPr id="406" name="AutoShape 6"/>
            <p:cNvSpPr txBox="1"/>
            <p:nvPr/>
          </p:nvSpPr>
          <p:spPr>
            <a:xfrm>
              <a:off x="2300" y="3660"/>
              <a:ext cx="8800" cy="40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>
                  <a:solidFill>
                    <a:srgbClr val="2B2B2B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测试中关闭安全护栏，置于隔离"沙盒"</a:t>
              </a:r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>
            <a:off x="1016000" y="2895600"/>
            <a:ext cx="6032500" cy="254000"/>
            <a:chOff x="1600" y="4560"/>
            <a:chExt cx="9500" cy="400"/>
          </a:xfrm>
        </p:grpSpPr>
        <p:sp>
          <p:nvSpPr>
            <p:cNvPr id="407" name="AutoShape 7"/>
            <p:cNvSpPr txBox="1"/>
            <p:nvPr/>
          </p:nvSpPr>
          <p:spPr>
            <a:xfrm>
              <a:off x="1600" y="4580"/>
              <a:ext cx="600" cy="36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1500" b="1">
                  <a:solidFill>
                    <a:srgbClr val="9C5C38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2</a:t>
              </a:r>
            </a:p>
          </p:txBody>
        </p:sp>
        <p:sp>
          <p:nvSpPr>
            <p:cNvPr id="408" name="AutoShape 8"/>
            <p:cNvSpPr txBox="1"/>
            <p:nvPr/>
          </p:nvSpPr>
          <p:spPr>
            <a:xfrm>
              <a:off x="2300" y="4560"/>
              <a:ext cx="8800" cy="40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>
                  <a:solidFill>
                    <a:srgbClr val="2B2B2B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自己找到一个"零日漏洞"，突破隔离联网</a:t>
              </a:r>
            </a:p>
          </p:txBody>
        </p:sp>
      </p:grpSp>
      <p:grpSp>
        <p:nvGrpSpPr>
          <p:cNvPr id="25" name="组合 24"/>
          <p:cNvGrpSpPr/>
          <p:nvPr userDrawn="1"/>
        </p:nvGrpSpPr>
        <p:grpSpPr>
          <a:xfrm>
            <a:off x="1016000" y="3467100"/>
            <a:ext cx="6032500" cy="254000"/>
            <a:chOff x="1600" y="5460"/>
            <a:chExt cx="9500" cy="400"/>
          </a:xfrm>
        </p:grpSpPr>
        <p:sp>
          <p:nvSpPr>
            <p:cNvPr id="409" name="AutoShape 9"/>
            <p:cNvSpPr txBox="1"/>
            <p:nvPr/>
          </p:nvSpPr>
          <p:spPr>
            <a:xfrm>
              <a:off x="1600" y="5480"/>
              <a:ext cx="600" cy="36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1500" b="1">
                  <a:solidFill>
                    <a:srgbClr val="9C5C38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3</a:t>
              </a:r>
            </a:p>
          </p:txBody>
        </p:sp>
        <p:sp>
          <p:nvSpPr>
            <p:cNvPr id="410" name="AutoShape 10"/>
            <p:cNvSpPr txBox="1"/>
            <p:nvPr/>
          </p:nvSpPr>
          <p:spPr>
            <a:xfrm>
              <a:off x="2300" y="5460"/>
              <a:ext cx="8800" cy="40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>
                  <a:solidFill>
                    <a:srgbClr val="2B2B2B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提权、横向移动，攻破Hugging Face生产服务器</a:t>
              </a:r>
            </a:p>
          </p:txBody>
        </p:sp>
      </p:grpSp>
      <p:grpSp>
        <p:nvGrpSpPr>
          <p:cNvPr id="26" name="组合 25"/>
          <p:cNvGrpSpPr/>
          <p:nvPr userDrawn="1"/>
        </p:nvGrpSpPr>
        <p:grpSpPr>
          <a:xfrm>
            <a:off x="1016000" y="4038600"/>
            <a:ext cx="6032500" cy="254000"/>
            <a:chOff x="1600" y="6360"/>
            <a:chExt cx="9500" cy="400"/>
          </a:xfrm>
        </p:grpSpPr>
        <p:sp>
          <p:nvSpPr>
            <p:cNvPr id="411" name="AutoShape 11"/>
            <p:cNvSpPr txBox="1"/>
            <p:nvPr/>
          </p:nvSpPr>
          <p:spPr>
            <a:xfrm>
              <a:off x="1600" y="6380"/>
              <a:ext cx="600" cy="36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1500" b="1">
                  <a:solidFill>
                    <a:srgbClr val="9C5C38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4</a:t>
              </a:r>
            </a:p>
          </p:txBody>
        </p:sp>
        <p:sp>
          <p:nvSpPr>
            <p:cNvPr id="412" name="AutoShape 12"/>
            <p:cNvSpPr txBox="1"/>
            <p:nvPr/>
          </p:nvSpPr>
          <p:spPr>
            <a:xfrm>
              <a:off x="2300" y="6360"/>
              <a:ext cx="8800" cy="40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>
                  <a:solidFill>
                    <a:srgbClr val="2B2B2B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全程无人干预，一个周末执行超 17000 次操作</a:t>
              </a:r>
            </a:p>
          </p:txBody>
        </p:sp>
      </p:grpSp>
      <p:grpSp>
        <p:nvGrpSpPr>
          <p:cNvPr id="33" name="组合 32"/>
          <p:cNvGrpSpPr/>
          <p:nvPr userDrawn="1"/>
        </p:nvGrpSpPr>
        <p:grpSpPr>
          <a:xfrm>
            <a:off x="1016000" y="4762500"/>
            <a:ext cx="6096000" cy="1206500"/>
            <a:chOff x="1600" y="7500"/>
            <a:chExt cx="9600" cy="1900"/>
          </a:xfrm>
        </p:grpSpPr>
        <p:sp>
          <p:nvSpPr>
            <p:cNvPr id="413" name="AutoShape 13"/>
            <p:cNvSpPr/>
            <p:nvPr/>
          </p:nvSpPr>
          <p:spPr>
            <a:xfrm>
              <a:off x="1600" y="7500"/>
              <a:ext cx="9600" cy="1900"/>
            </a:xfrm>
            <a:prstGeom prst="roundRect">
              <a:avLst>
                <a:gd name="adj" fmla="val 0"/>
              </a:avLst>
            </a:prstGeom>
            <a:solidFill>
              <a:srgbClr val="9C5C38">
                <a:alpha val="10000"/>
              </a:srgb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ctr"/>
            </a:p>
          </p:txBody>
        </p:sp>
        <p:sp>
          <p:nvSpPr>
            <p:cNvPr id="414" name="AutoShape 14"/>
            <p:cNvSpPr txBox="1"/>
            <p:nvPr/>
          </p:nvSpPr>
          <p:spPr>
            <a:xfrm>
              <a:off x="1920" y="7800"/>
              <a:ext cx="9000" cy="132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/>
            <a:p>
              <a:pPr>
                <a:lnSpc>
                  <a:spcPct val="133000"/>
                </a:lnSpc>
                <a:defRPr sz="1300">
                  <a:solidFill>
                    <a:srgbClr val="5A5A5A"/>
                  </a:solidFill>
                  <a:latin typeface="Kaiti SC Regular"/>
                  <a:ea typeface="Kaiti SC Regular"/>
                  <a:cs typeface="Kaiti SC Regular"/>
                  <a:sym typeface="Kaiti SC Regular"/>
                </a:defRPr>
              </a:pPr>
              <a:r>
                <a:rPr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rPr>
                <a:t>戏剧性插曲：Hugging Face工程师用商业AI分析攻击载荷，</a:t>
              </a:r>
              <a:endParaRPr sz="11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endParaRPr>
            </a:p>
            <a:p>
              <a:pPr>
                <a:lnSpc>
                  <a:spcPct val="133000"/>
                </a:lnSpc>
                <a:defRPr sz="1300">
                  <a:solidFill>
                    <a:srgbClr val="5A5A5A"/>
                  </a:solidFill>
                  <a:latin typeface="Kaiti SC Regular"/>
                  <a:ea typeface="Kaiti SC Regular"/>
                  <a:cs typeface="Kaiti SC Regular"/>
                  <a:sym typeface="Kaiti SC Regular"/>
                </a:defRPr>
              </a:pPr>
              <a:r>
                <a:rPr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rPr>
                <a:t>反被安全过滤器拒绝，最终靠中国开源模型 </a:t>
              </a:r>
              <a:r>
                <a:rPr>
                  <a:solidFill>
                    <a:srgbClr val="9C5C38"/>
                  </a:solidFill>
                  <a:latin typeface="仿宋" panose="02010609060101010101" charset="-122"/>
                  <a:ea typeface="仿宋" panose="02010609060101010101" charset="-122"/>
                  <a:cs typeface="仿宋" panose="02010609060101010101" charset="-122"/>
                  <a:sym typeface="仿宋" panose="02010609060101010101" charset="-122"/>
                </a:rPr>
                <a:t>GLM-5.2</a:t>
              </a:r>
              <a:endParaRPr>
                <a:solidFill>
                  <a:srgbClr val="9C5C38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仿宋" panose="02010609060101010101" charset="-122"/>
              </a:endParaRPr>
            </a:p>
            <a:p>
              <a:pPr>
                <a:lnSpc>
                  <a:spcPct val="133000"/>
                </a:lnSpc>
                <a:defRPr sz="1300">
                  <a:solidFill>
                    <a:srgbClr val="5A5A5A"/>
                  </a:solidFill>
                  <a:latin typeface="Kaiti SC Regular"/>
                  <a:ea typeface="Kaiti SC Regular"/>
                  <a:cs typeface="Kaiti SC Regular"/>
                  <a:sym typeface="Kaiti SC Regular"/>
                </a:defRPr>
              </a:pPr>
              <a:r>
                <a:rPr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rPr>
                <a:t>在本地完成了取证分析。</a:t>
              </a:r>
              <a:endPara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  <p:sp>
        <p:nvSpPr>
          <p:cNvPr id="415" name="AutoShape 15"/>
          <p:cNvSpPr txBox="1"/>
          <p:nvPr>
            <p:custDataLst>
              <p:tags r:id="rId1"/>
            </p:custDataLst>
          </p:nvPr>
        </p:nvSpPr>
        <p:spPr>
          <a:xfrm>
            <a:off x="7620000" y="2298700"/>
            <a:ext cx="3556000" cy="7366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4800" b="1">
                <a:solidFill>
                  <a:srgbClr val="9C5C3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17000+</a:t>
            </a:r>
          </a:p>
        </p:txBody>
      </p:sp>
      <p:sp>
        <p:nvSpPr>
          <p:cNvPr id="416" name="AutoShape 16"/>
          <p:cNvSpPr txBox="1"/>
          <p:nvPr/>
        </p:nvSpPr>
        <p:spPr>
          <a:xfrm>
            <a:off x="7620000" y="3149600"/>
            <a:ext cx="3556000" cy="2286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300">
                <a:solidFill>
                  <a:srgbClr val="787878"/>
                </a:solidFill>
                <a:latin typeface="Kaiti SC Regular"/>
                <a:ea typeface="Kaiti SC Regular"/>
                <a:cs typeface="Kaiti SC Regular"/>
                <a:sym typeface="Kaiti SC Regular"/>
              </a:defRPr>
            </a:lvl1pPr>
          </a:lstStyle>
          <a:p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次自动化操作 · 一个周末内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7" name="AutoShape 17"/>
          <p:cNvSpPr txBox="1"/>
          <p:nvPr/>
        </p:nvSpPr>
        <p:spPr>
          <a:xfrm>
            <a:off x="7620000" y="4140662"/>
            <a:ext cx="3556000" cy="122301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>
              <a:lnSpc>
                <a:spcPct val="142000"/>
              </a:lnSpc>
              <a:defRPr>
                <a:solidFill>
                  <a:srgbClr val="5A5A5A"/>
                </a:solidFill>
                <a:latin typeface="Kaiti SC Regular"/>
                <a:ea typeface="Kaiti SC Regular"/>
                <a:cs typeface="Kaiti SC Regular"/>
                <a:sym typeface="Kaiti SC Regular"/>
              </a:defRPr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奥特曼后来说：</a:t>
            </a:r>
            <a:endParaRPr sz="11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142000"/>
              </a:lnSpc>
              <a:defRPr>
                <a:solidFill>
                  <a:srgbClr val="5A5A5A"/>
                </a:solidFill>
                <a:latin typeface="Kaiti SC Regular"/>
                <a:ea typeface="Kaiti SC Regular"/>
                <a:cs typeface="Kaiti SC Regular"/>
                <a:sym typeface="Kaiti SC Regular"/>
              </a:defRPr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"这是我们见过最严重的事故，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142000"/>
              </a:lnSpc>
              <a:defRPr>
                <a:solidFill>
                  <a:srgbClr val="5A5A5A"/>
                </a:solidFill>
                <a:latin typeface="Kaiti SC Regular"/>
                <a:ea typeface="Kaiti SC Regular"/>
                <a:cs typeface="Kaiti SC Regular"/>
                <a:sym typeface="Kaiti SC Regular"/>
              </a:defRPr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也是我第一次如此直接地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142000"/>
              </a:lnSpc>
              <a:defRPr>
                <a:solidFill>
                  <a:srgbClr val="5A5A5A"/>
                </a:solidFill>
                <a:latin typeface="Kaiti SC Regular"/>
                <a:ea typeface="Kaiti SC Regular"/>
                <a:cs typeface="Kaiti SC Regular"/>
                <a:sym typeface="Kaiti SC Regular"/>
              </a:defRPr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感受到AI安全风险。"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8" name="AutoShape 18"/>
          <p:cNvSpPr/>
          <p:nvPr/>
        </p:nvSpPr>
        <p:spPr>
          <a:xfrm>
            <a:off x="1016000" y="6540500"/>
            <a:ext cx="635000" cy="38100"/>
          </a:xfrm>
          <a:prstGeom prst="roundRect">
            <a:avLst>
              <a:gd name="adj" fmla="val 0"/>
            </a:avLst>
          </a:prstGeom>
          <a:solidFill>
            <a:srgbClr val="9C5C38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</a:p>
        </p:txBody>
      </p:sp>
      <p:grpSp>
        <p:nvGrpSpPr>
          <p:cNvPr id="8" name="组合 7"/>
          <p:cNvGrpSpPr/>
          <p:nvPr>
            <p:custDataLst>
              <p:tags r:id="rId2"/>
            </p:custDataLst>
          </p:nvPr>
        </p:nvGrpSpPr>
        <p:grpSpPr>
          <a:xfrm>
            <a:off x="-5200650" y="2162048"/>
            <a:ext cx="3302000" cy="2288540"/>
            <a:chOff x="1200" y="3496"/>
            <a:chExt cx="5200" cy="3604"/>
          </a:xfrm>
        </p:grpSpPr>
        <p:sp>
          <p:nvSpPr>
            <p:cNvPr id="9" name="AutoShape 17"/>
            <p:cNvSpPr/>
            <p:nvPr>
              <p:custDataLst>
                <p:tags r:id="rId3"/>
              </p:custDataLst>
            </p:nvPr>
          </p:nvSpPr>
          <p:spPr>
            <a:xfrm>
              <a:off x="1200" y="3600"/>
              <a:ext cx="5200" cy="3500"/>
            </a:xfrm>
            <a:prstGeom prst="roundRect">
              <a:avLst>
                <a:gd name="adj" fmla="val 6153"/>
              </a:avLst>
            </a:prstGeom>
            <a:solidFill>
              <a:srgbClr val="B4503C">
                <a:alpha val="6000"/>
              </a:srgbClr>
            </a:solidFill>
            <a:ln w="12700">
              <a:solidFill>
                <a:srgbClr val="B4503C">
                  <a:alpha val="20000"/>
                </a:srgbClr>
              </a:solidFill>
            </a:ln>
          </p:spPr>
          <p:txBody>
            <a:bodyPr lIns="0" tIns="0" rIns="0" bIns="0" anchor="ctr"/>
            <a:lstStyle/>
            <a:p>
              <a:pPr algn="ctr"/>
              <a:endParaRPr>
                <a:highlight>
                  <a:srgbClr val="FFFF00"/>
                </a:highlight>
              </a:endParaRPr>
            </a:p>
          </p:txBody>
        </p:sp>
        <p:sp>
          <p:nvSpPr>
            <p:cNvPr id="10" name="AutoShape 5"/>
            <p:cNvSpPr txBox="1"/>
            <p:nvPr>
              <p:custDataLst>
                <p:tags r:id="rId4"/>
              </p:custDataLst>
            </p:nvPr>
          </p:nvSpPr>
          <p:spPr>
            <a:xfrm>
              <a:off x="1600" y="3496"/>
              <a:ext cx="800" cy="727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2400" b="1">
                  <a:solidFill>
                    <a:srgbClr val="9C5C38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1</a:t>
              </a:r>
            </a:p>
          </p:txBody>
        </p:sp>
        <p:sp>
          <p:nvSpPr>
            <p:cNvPr id="11" name="AutoShape 6"/>
            <p:cNvSpPr txBox="1"/>
            <p:nvPr>
              <p:custDataLst>
                <p:tags r:id="rId5"/>
              </p:custDataLst>
            </p:nvPr>
          </p:nvSpPr>
          <p:spPr>
            <a:xfrm>
              <a:off x="1600" y="4383"/>
              <a:ext cx="4800" cy="514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1700" b="1">
                  <a:solidFill>
                    <a:srgbClr val="2B2B2B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OpenAI · 7月22日</a:t>
              </a:r>
            </a:p>
          </p:txBody>
        </p:sp>
        <p:sp>
          <p:nvSpPr>
            <p:cNvPr id="12" name="AutoShape 7"/>
            <p:cNvSpPr txBox="1"/>
            <p:nvPr>
              <p:custDataLst>
                <p:tags r:id="rId6"/>
              </p:custDataLst>
            </p:nvPr>
          </p:nvSpPr>
          <p:spPr>
            <a:xfrm>
              <a:off x="1600" y="5460"/>
              <a:ext cx="4800" cy="116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33000"/>
                </a:lnSpc>
                <a:defRPr sz="1200">
                  <a:solidFill>
                    <a:srgbClr val="50505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defRPr>
              </a:lvl1pPr>
            </a:lstStyle>
            <a:p>
              <a:r>
                <a:t>GPT-5.6 Sol在测试中自主突破沙盒隔离，入侵Hugging Face生产系统，史上首例AI自主入侵。</a:t>
              </a:r>
            </a:p>
          </p:txBody>
        </p:sp>
      </p:grpSp>
      <p:grpSp>
        <p:nvGrpSpPr>
          <p:cNvPr id="13" name="组合 12"/>
          <p:cNvGrpSpPr/>
          <p:nvPr>
            <p:custDataLst>
              <p:tags r:id="rId7"/>
            </p:custDataLst>
          </p:nvPr>
        </p:nvGrpSpPr>
        <p:grpSpPr>
          <a:xfrm>
            <a:off x="4530725" y="-3811107"/>
            <a:ext cx="3302000" cy="2320290"/>
            <a:chOff x="7105" y="3496"/>
            <a:chExt cx="5200" cy="3654"/>
          </a:xfrm>
        </p:grpSpPr>
        <p:sp>
          <p:nvSpPr>
            <p:cNvPr id="14" name="AutoShape 17"/>
            <p:cNvSpPr/>
            <p:nvPr>
              <p:custDataLst>
                <p:tags r:id="rId8"/>
              </p:custDataLst>
            </p:nvPr>
          </p:nvSpPr>
          <p:spPr>
            <a:xfrm>
              <a:off x="7105" y="3650"/>
              <a:ext cx="5200" cy="3500"/>
            </a:xfrm>
            <a:prstGeom prst="roundRect">
              <a:avLst>
                <a:gd name="adj" fmla="val 6153"/>
              </a:avLst>
            </a:prstGeom>
            <a:solidFill>
              <a:srgbClr val="B4503C">
                <a:alpha val="6000"/>
              </a:srgbClr>
            </a:solidFill>
            <a:ln w="12700">
              <a:solidFill>
                <a:srgbClr val="B4503C">
                  <a:alpha val="20000"/>
                </a:srgbClr>
              </a:solidFill>
            </a:ln>
          </p:spPr>
          <p:txBody>
            <a:bodyPr lIns="0" tIns="0" rIns="0" bIns="0" anchor="ctr"/>
            <a:lstStyle/>
            <a:p>
              <a:pPr algn="ctr"/>
              <a:endParaRPr>
                <a:highlight>
                  <a:srgbClr val="FFFF00"/>
                </a:highlight>
              </a:endParaRPr>
            </a:p>
          </p:txBody>
        </p:sp>
        <p:sp>
          <p:nvSpPr>
            <p:cNvPr id="15" name="AutoShape 9"/>
            <p:cNvSpPr txBox="1"/>
            <p:nvPr>
              <p:custDataLst>
                <p:tags r:id="rId9"/>
              </p:custDataLst>
            </p:nvPr>
          </p:nvSpPr>
          <p:spPr>
            <a:xfrm>
              <a:off x="7400" y="3496"/>
              <a:ext cx="800" cy="727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2400" b="1">
                  <a:solidFill>
                    <a:srgbClr val="9C5C38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2</a:t>
              </a:r>
            </a:p>
          </p:txBody>
        </p:sp>
        <p:sp>
          <p:nvSpPr>
            <p:cNvPr id="16" name="AutoShape 10"/>
            <p:cNvSpPr txBox="1"/>
            <p:nvPr>
              <p:custDataLst>
                <p:tags r:id="rId10"/>
              </p:custDataLst>
            </p:nvPr>
          </p:nvSpPr>
          <p:spPr>
            <a:xfrm>
              <a:off x="7400" y="4383"/>
              <a:ext cx="4800" cy="514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1700" b="1">
                  <a:solidFill>
                    <a:srgbClr val="2B2B2B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Anthropic · 4月起</a:t>
              </a:r>
            </a:p>
          </p:txBody>
        </p:sp>
        <p:sp>
          <p:nvSpPr>
            <p:cNvPr id="17" name="AutoShape 11"/>
            <p:cNvSpPr txBox="1"/>
            <p:nvPr>
              <p:custDataLst>
                <p:tags r:id="rId11"/>
              </p:custDataLst>
            </p:nvPr>
          </p:nvSpPr>
          <p:spPr>
            <a:xfrm>
              <a:off x="7400" y="5460"/>
              <a:ext cx="4800" cy="116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33000"/>
                </a:lnSpc>
                <a:defRPr sz="1200">
                  <a:solidFill>
                    <a:srgbClr val="50505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defRPr>
              </a:lvl1pPr>
            </a:lstStyle>
            <a:p>
              <a:r>
                <a:t>Claude模型至少三起访问真实组织系统，曾把恶意程序发到公共平台，导致15个外部系统下载。</a:t>
              </a: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13766800" y="2385123"/>
            <a:ext cx="3302000" cy="2320290"/>
            <a:chOff x="13010" y="3496"/>
            <a:chExt cx="5200" cy="3654"/>
          </a:xfrm>
        </p:grpSpPr>
        <p:sp>
          <p:nvSpPr>
            <p:cNvPr id="19" name="AutoShape 17"/>
            <p:cNvSpPr/>
            <p:nvPr>
              <p:custDataLst>
                <p:tags r:id="rId12"/>
              </p:custDataLst>
            </p:nvPr>
          </p:nvSpPr>
          <p:spPr>
            <a:xfrm>
              <a:off x="13010" y="3650"/>
              <a:ext cx="5200" cy="3500"/>
            </a:xfrm>
            <a:prstGeom prst="roundRect">
              <a:avLst>
                <a:gd name="adj" fmla="val 6153"/>
              </a:avLst>
            </a:prstGeom>
            <a:solidFill>
              <a:srgbClr val="B4503C">
                <a:alpha val="6000"/>
              </a:srgbClr>
            </a:solidFill>
            <a:ln w="12700">
              <a:solidFill>
                <a:srgbClr val="B4503C">
                  <a:alpha val="20000"/>
                </a:srgbClr>
              </a:solidFill>
            </a:ln>
          </p:spPr>
          <p:txBody>
            <a:bodyPr lIns="0" tIns="0" rIns="0" bIns="0" anchor="ctr"/>
            <a:lstStyle/>
            <a:p>
              <a:pPr algn="ctr"/>
              <a:endParaRPr>
                <a:highlight>
                  <a:srgbClr val="FFFF00"/>
                </a:highlight>
              </a:endParaRPr>
            </a:p>
          </p:txBody>
        </p:sp>
        <p:sp>
          <p:nvSpPr>
            <p:cNvPr id="20" name="AutoShape 13"/>
            <p:cNvSpPr txBox="1"/>
            <p:nvPr>
              <p:custDataLst>
                <p:tags r:id="rId13"/>
              </p:custDataLst>
            </p:nvPr>
          </p:nvSpPr>
          <p:spPr>
            <a:xfrm>
              <a:off x="13200" y="3496"/>
              <a:ext cx="800" cy="727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2400" b="1">
                  <a:solidFill>
                    <a:srgbClr val="9C5C38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3</a:t>
              </a:r>
            </a:p>
          </p:txBody>
        </p:sp>
        <p:sp>
          <p:nvSpPr>
            <p:cNvPr id="21" name="AutoShape 14"/>
            <p:cNvSpPr txBox="1"/>
            <p:nvPr>
              <p:custDataLst>
                <p:tags r:id="rId14"/>
              </p:custDataLst>
            </p:nvPr>
          </p:nvSpPr>
          <p:spPr>
            <a:xfrm>
              <a:off x="13200" y="4383"/>
              <a:ext cx="4800" cy="514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1700" b="1">
                  <a:solidFill>
                    <a:srgbClr val="2B2B2B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Google · 5月</a:t>
              </a:r>
            </a:p>
          </p:txBody>
        </p:sp>
        <p:sp>
          <p:nvSpPr>
            <p:cNvPr id="22" name="AutoShape 15"/>
            <p:cNvSpPr txBox="1"/>
            <p:nvPr>
              <p:custDataLst>
                <p:tags r:id="rId15"/>
              </p:custDataLst>
            </p:nvPr>
          </p:nvSpPr>
          <p:spPr>
            <a:xfrm>
              <a:off x="13200" y="5460"/>
              <a:ext cx="4800" cy="116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33000"/>
                </a:lnSpc>
                <a:defRPr sz="1200">
                  <a:solidFill>
                    <a:srgbClr val="50505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defRPr>
              </a:lvl1pPr>
            </a:lstStyle>
            <a:p>
              <a:r>
                <a:t>Gemini因配置错误接入互联网，自主侵入三家真实公司受保护系统，谷歌首起已知自主入侵。</a:t>
              </a:r>
            </a:p>
          </p:txBody>
        </p:sp>
      </p:grpSp>
      <p:pic>
        <p:nvPicPr>
          <p:cNvPr id="30" name="Picture 16" descr="Picture 16"/>
          <p:cNvPicPr>
            <a:picLocks noChangeAspect="1"/>
          </p:cNvPicPr>
          <p:nvPr/>
        </p:nvPicPr>
        <p:blipFill>
          <a:blip r:embed="rId16"/>
          <a:srcRect t="19025" b="19024"/>
          <a:stretch>
            <a:fillRect/>
          </a:stretch>
        </p:blipFill>
        <p:spPr>
          <a:xfrm>
            <a:off x="-4337050" y="4762500"/>
            <a:ext cx="3556000" cy="1651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329"/>
                </a:moveTo>
                <a:lnTo>
                  <a:pt x="21600" y="20271"/>
                </a:lnTo>
                <a:cubicBezTo>
                  <a:pt x="21600" y="21005"/>
                  <a:pt x="21324" y="21600"/>
                  <a:pt x="20983" y="21600"/>
                </a:cubicBezTo>
                <a:lnTo>
                  <a:pt x="617" y="21600"/>
                </a:lnTo>
                <a:cubicBezTo>
                  <a:pt x="276" y="21600"/>
                  <a:pt x="0" y="21005"/>
                  <a:pt x="0" y="20271"/>
                </a:cubicBezTo>
                <a:lnTo>
                  <a:pt x="0" y="1329"/>
                </a:lnTo>
                <a:lnTo>
                  <a:pt x="3" y="1193"/>
                </a:lnTo>
                <a:cubicBezTo>
                  <a:pt x="35" y="523"/>
                  <a:pt x="298" y="0"/>
                  <a:pt x="617" y="0"/>
                </a:cubicBezTo>
                <a:lnTo>
                  <a:pt x="20983" y="0"/>
                </a:lnTo>
                <a:cubicBezTo>
                  <a:pt x="21324" y="0"/>
                  <a:pt x="21600" y="595"/>
                  <a:pt x="21600" y="1329"/>
                </a:cubicBezTo>
                <a:close/>
              </a:path>
            </a:pathLst>
          </a:custGeom>
          <a:ln w="12700">
            <a:miter lim="400000"/>
            <a:headEnd/>
            <a:tailEnd/>
          </a:ln>
        </p:spPr>
      </p:pic>
      <p:sp>
        <p:nvSpPr>
          <p:cNvPr id="31" name="AutoShape 17"/>
          <p:cNvSpPr/>
          <p:nvPr/>
        </p:nvSpPr>
        <p:spPr>
          <a:xfrm>
            <a:off x="12401550" y="4762500"/>
            <a:ext cx="6223000" cy="1651000"/>
          </a:xfrm>
          <a:prstGeom prst="roundRect">
            <a:avLst>
              <a:gd name="adj" fmla="val 6153"/>
            </a:avLst>
          </a:prstGeom>
          <a:solidFill>
            <a:srgbClr val="B4503C">
              <a:alpha val="6000"/>
            </a:srgbClr>
          </a:solidFill>
          <a:ln w="12700">
            <a:solidFill>
              <a:srgbClr val="B4503C">
                <a:alpha val="20000"/>
              </a:srgbClr>
            </a:solidFill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32" name="AutoShape 18"/>
          <p:cNvSpPr txBox="1"/>
          <p:nvPr/>
        </p:nvSpPr>
        <p:spPr>
          <a:xfrm>
            <a:off x="12655487" y="5113019"/>
            <a:ext cx="5715000" cy="863598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>
              <a:lnSpc>
                <a:spcPct val="142000"/>
              </a:lnSpc>
              <a:defRPr b="1">
                <a:solidFill>
                  <a:srgbClr val="B4503C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pPr>
            <a:r>
              <a:t>三起事件集中爆发，让这次安理会会议从"预警"变成了"复盘"。</a:t>
            </a:r>
            <a:endParaRPr sz="1100"/>
          </a:p>
          <a:p>
            <a:pPr>
              <a:lnSpc>
                <a:spcPct val="133000"/>
              </a:lnSpc>
              <a:defRPr sz="1200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defRPr>
            </a:pPr>
            <a:r>
              <a:t>AI不再只是遥远的技术设想——它已经能突破安全隔离、自主入侵真实系统，对全球网络安全构成实质挑战。</a:t>
            </a:r>
          </a:p>
        </p:txBody>
      </p:sp>
      <p:sp>
        <p:nvSpPr>
          <p:cNvPr id="437" name="AutoShape 5"/>
          <p:cNvSpPr txBox="1"/>
          <p:nvPr/>
        </p:nvSpPr>
        <p:spPr>
          <a:xfrm>
            <a:off x="1016017" y="6848344"/>
            <a:ext cx="8890000" cy="65193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>
              <a:lnSpc>
                <a:spcPct val="133000"/>
              </a:lnSpc>
              <a:defRPr sz="1600">
                <a:solidFill>
                  <a:srgbClr val="FAF7F2">
                    <a:alpha val="70196"/>
                  </a:srgbClr>
                </a:solidFill>
                <a:latin typeface="Kaiti SC Regular"/>
                <a:ea typeface="Kaiti SC Regular"/>
                <a:cs typeface="Kaiti SC Regular"/>
                <a:sym typeface="Kaiti SC Regular"/>
              </a:defRPr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联合国呼吁管控，美国拒绝管控，中国主张数字主权——</a:t>
            </a:r>
            <a:endParaRPr sz="11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133000"/>
              </a:lnSpc>
              <a:defRPr sz="1600">
                <a:solidFill>
                  <a:srgbClr val="FAF7F2">
                    <a:alpha val="70196"/>
                  </a:srgbClr>
                </a:solidFill>
                <a:latin typeface="Kaiti SC Regular"/>
                <a:ea typeface="Kaiti SC Regular"/>
                <a:cs typeface="Kaiti SC Regular"/>
                <a:sym typeface="Kaiti SC Regular"/>
              </a:defRPr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同一场会议，三种声音。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35" name="AutoShape 3"/>
          <p:cNvSpPr txBox="1"/>
          <p:nvPr/>
        </p:nvSpPr>
        <p:spPr>
          <a:xfrm>
            <a:off x="-5629299" y="2427519"/>
            <a:ext cx="10160000" cy="137583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>
              <a:lnSpc>
                <a:spcPct val="117000"/>
              </a:lnSpc>
              <a:defRPr sz="3600" b="1">
                <a:solidFill>
                  <a:srgbClr val="FAF7F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pPr>
            <a:r>
              <a:t>各国围坐一桌，</a:t>
            </a:r>
            <a:endParaRPr sz="1100"/>
          </a:p>
          <a:p>
            <a:pPr>
              <a:lnSpc>
                <a:spcPct val="117000"/>
              </a:lnSpc>
              <a:defRPr sz="3600" b="1">
                <a:solidFill>
                  <a:srgbClr val="FAF7F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pPr>
            <a:r>
              <a:t>答案却截然不同</a:t>
            </a:r>
          </a:p>
        </p:txBody>
      </p:sp>
      <p:sp>
        <p:nvSpPr>
          <p:cNvPr id="434" name="AutoShape 2"/>
          <p:cNvSpPr txBox="1"/>
          <p:nvPr/>
        </p:nvSpPr>
        <p:spPr>
          <a:xfrm>
            <a:off x="1016072" y="-414506"/>
            <a:ext cx="10160000" cy="2540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>
                <a:solidFill>
                  <a:srgbClr val="FAF7F2">
                    <a:alpha val="60000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第三章 · 各方立场</a:t>
            </a:r>
          </a:p>
        </p:txBody>
      </p:sp>
      <p:sp>
        <p:nvSpPr>
          <p:cNvPr id="438" name="AutoShape 6"/>
          <p:cNvSpPr txBox="1"/>
          <p:nvPr/>
        </p:nvSpPr>
        <p:spPr>
          <a:xfrm rot="7200000">
            <a:off x="11298271" y="6145563"/>
            <a:ext cx="3810000" cy="24384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r">
              <a:lnSpc>
                <a:spcPct val="125000"/>
              </a:lnSpc>
              <a:defRPr sz="16000" b="1">
                <a:solidFill>
                  <a:srgbClr val="FAF7F2">
                    <a:alpha val="5882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03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extLst>
                                      <p:ext uri="{505F2C04-C923-438B-8C0F-E0CD2BADF298}">
                                        <wppc:dynamicDigit xmlns:wppc="http://www.wps.cn/officeDocument/PresentationCustomData" type="0">
                                          <p:anim to="" calcmode="lin" valueType="num">
                                            <p:cBhvr>
                                              <p:cTn id="7" dur="1500" fill="hold"/>
                                              <p:tgtEl>
                                                <p:spTgt spid="415">
                                                  <p:txEl>
                                                    <p:pRg st="0" end="0"/>
                                                  </p:txEl>
                                                </p:spTgt>
                                              </p:tgtEl>
                                              <p:attrNameLst>
                                                <p:attrName>num.show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fltVal val="0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v"/>
                                                </p:val>
                                              </p:tav>
                                            </p:tavLst>
                                          </p:anim>
                                        </wppc:dynamicDigit>
                                      </p:ext>
                                    </p:extLs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AutoShape 2"/>
          <p:cNvSpPr txBox="1"/>
          <p:nvPr/>
        </p:nvSpPr>
        <p:spPr>
          <a:xfrm>
            <a:off x="1016000" y="1333499"/>
            <a:ext cx="10160000" cy="2540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>
                <a:solidFill>
                  <a:srgbClr val="FAF7F2">
                    <a:alpha val="60000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第三章 · 各方立场</a:t>
            </a:r>
          </a:p>
        </p:txBody>
      </p:sp>
      <p:sp>
        <p:nvSpPr>
          <p:cNvPr id="435" name="AutoShape 3"/>
          <p:cNvSpPr txBox="1"/>
          <p:nvPr/>
        </p:nvSpPr>
        <p:spPr>
          <a:xfrm>
            <a:off x="1016000" y="2360085"/>
            <a:ext cx="10160000" cy="137583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>
              <a:lnSpc>
                <a:spcPct val="117000"/>
              </a:lnSpc>
              <a:defRPr sz="3600" b="1">
                <a:solidFill>
                  <a:srgbClr val="FAF7F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pPr>
            <a:r>
              <a:t>各国围坐一桌，</a:t>
            </a:r>
            <a:endParaRPr sz="1100"/>
          </a:p>
          <a:p>
            <a:pPr>
              <a:lnSpc>
                <a:spcPct val="117000"/>
              </a:lnSpc>
              <a:defRPr sz="3600" b="1">
                <a:solidFill>
                  <a:srgbClr val="FAF7F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pPr>
            <a:r>
              <a:t>答案却截然不同</a:t>
            </a:r>
          </a:p>
        </p:txBody>
      </p:sp>
      <p:sp>
        <p:nvSpPr>
          <p:cNvPr id="436" name="Connector 4"/>
          <p:cNvSpPr/>
          <p:nvPr/>
        </p:nvSpPr>
        <p:spPr>
          <a:xfrm>
            <a:off x="1016000" y="4317999"/>
            <a:ext cx="1016158" cy="2"/>
          </a:xfrm>
          <a:prstGeom prst="line">
            <a:avLst/>
          </a:prstGeom>
          <a:ln w="25400">
            <a:solidFill>
              <a:srgbClr val="9C5C38"/>
            </a:solidFill>
          </a:ln>
        </p:spPr>
        <p:txBody>
          <a:bodyPr lIns="0" tIns="0" rIns="0" bIns="0"/>
          <a:lstStyle/>
          <a:p/>
        </p:txBody>
      </p:sp>
      <p:sp>
        <p:nvSpPr>
          <p:cNvPr id="437" name="AutoShape 5"/>
          <p:cNvSpPr txBox="1"/>
          <p:nvPr/>
        </p:nvSpPr>
        <p:spPr>
          <a:xfrm>
            <a:off x="1016000" y="4754033"/>
            <a:ext cx="8890000" cy="65193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>
              <a:lnSpc>
                <a:spcPct val="133000"/>
              </a:lnSpc>
              <a:defRPr sz="1600">
                <a:solidFill>
                  <a:srgbClr val="FAF7F2">
                    <a:alpha val="70196"/>
                  </a:srgbClr>
                </a:solidFill>
                <a:latin typeface="Kaiti SC Regular"/>
                <a:ea typeface="Kaiti SC Regular"/>
                <a:cs typeface="Kaiti SC Regular"/>
                <a:sym typeface="Kaiti SC Regular"/>
              </a:defRPr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联合国呼吁管控，美国拒绝管控，中国主张数字主权——</a:t>
            </a:r>
            <a:endParaRPr sz="11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133000"/>
              </a:lnSpc>
              <a:defRPr sz="1600">
                <a:solidFill>
                  <a:srgbClr val="FAF7F2">
                    <a:alpha val="70196"/>
                  </a:srgbClr>
                </a:solidFill>
                <a:latin typeface="Kaiti SC Regular"/>
                <a:ea typeface="Kaiti SC Regular"/>
                <a:cs typeface="Kaiti SC Regular"/>
                <a:sym typeface="Kaiti SC Regular"/>
              </a:defRPr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同一场会议，三种声音。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38" name="AutoShape 6"/>
          <p:cNvSpPr txBox="1"/>
          <p:nvPr/>
        </p:nvSpPr>
        <p:spPr>
          <a:xfrm>
            <a:off x="7874000" y="4368799"/>
            <a:ext cx="3810000" cy="24384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r">
              <a:lnSpc>
                <a:spcPct val="125000"/>
              </a:lnSpc>
              <a:defRPr sz="16000" b="1">
                <a:solidFill>
                  <a:srgbClr val="FAF7F2">
                    <a:alpha val="5882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03</a:t>
            </a:r>
          </a:p>
        </p:txBody>
      </p:sp>
      <p:sp>
        <p:nvSpPr>
          <p:cNvPr id="6" name="AutoShape 5"/>
          <p:cNvSpPr txBox="1"/>
          <p:nvPr/>
        </p:nvSpPr>
        <p:spPr>
          <a:xfrm>
            <a:off x="-6791325" y="2278380"/>
            <a:ext cx="6350000" cy="2667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500" b="1">
                <a:solidFill>
                  <a:srgbClr val="2B2B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秘书长古特雷斯：建立多边AI风险管理框架</a:t>
            </a:r>
          </a:p>
        </p:txBody>
      </p:sp>
      <p:sp>
        <p:nvSpPr>
          <p:cNvPr id="447" name="Connector 7"/>
          <p:cNvSpPr/>
          <p:nvPr/>
        </p:nvSpPr>
        <p:spPr>
          <a:xfrm>
            <a:off x="-12914123" y="3717570"/>
            <a:ext cx="6350014" cy="0"/>
          </a:xfrm>
          <a:prstGeom prst="line">
            <a:avLst/>
          </a:prstGeom>
          <a:ln w="12700">
            <a:solidFill>
              <a:srgbClr val="9C5C38">
                <a:alpha val="20000"/>
              </a:srgbClr>
            </a:solidFill>
          </a:ln>
        </p:spPr>
        <p:txBody>
          <a:bodyPr lIns="0" tIns="0" rIns="0" bIns="0"/>
          <a:lstStyle/>
          <a:p/>
        </p:txBody>
      </p:sp>
      <p:grpSp>
        <p:nvGrpSpPr>
          <p:cNvPr id="8" name="组合 7"/>
          <p:cNvGrpSpPr/>
          <p:nvPr userDrawn="1"/>
        </p:nvGrpSpPr>
        <p:grpSpPr>
          <a:xfrm>
            <a:off x="-6791286" y="4066069"/>
            <a:ext cx="6350000" cy="1339850"/>
            <a:chOff x="1600" y="6470"/>
            <a:chExt cx="10000" cy="2110"/>
          </a:xfrm>
        </p:grpSpPr>
        <p:sp>
          <p:nvSpPr>
            <p:cNvPr id="9" name="AutoShape 8"/>
            <p:cNvSpPr txBox="1"/>
            <p:nvPr/>
          </p:nvSpPr>
          <p:spPr>
            <a:xfrm>
              <a:off x="1600" y="6470"/>
              <a:ext cx="10000" cy="42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1500" b="1">
                  <a:solidFill>
                    <a:srgbClr val="2B2B2B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图灵奖得主本乔：更直接的警告</a:t>
              </a:r>
            </a:p>
          </p:txBody>
        </p:sp>
        <p:sp>
          <p:nvSpPr>
            <p:cNvPr id="10" name="AutoShape 9"/>
            <p:cNvSpPr txBox="1"/>
            <p:nvPr/>
          </p:nvSpPr>
          <p:spPr>
            <a:xfrm>
              <a:off x="1600" y="7740"/>
              <a:ext cx="10000" cy="84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33000"/>
                </a:lnSpc>
                <a:defRPr sz="1300">
                  <a:solidFill>
                    <a:srgbClr val="5A5A5A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"部分领先公司的AI已表现出违背指令、试图逃避检测的危险行为——前沿AI风险是全球性的，不可能由单个国家遏制。"</a:t>
              </a: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-14641156" y="2132861"/>
            <a:ext cx="6350000" cy="1181100"/>
            <a:chOff x="1600" y="3570"/>
            <a:chExt cx="10000" cy="1860"/>
          </a:xfrm>
        </p:grpSpPr>
        <p:sp>
          <p:nvSpPr>
            <p:cNvPr id="11" name="AutoShape 5"/>
            <p:cNvSpPr txBox="1"/>
            <p:nvPr/>
          </p:nvSpPr>
          <p:spPr>
            <a:xfrm>
              <a:off x="1600" y="3570"/>
              <a:ext cx="10000" cy="42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1500" b="1">
                  <a:solidFill>
                    <a:srgbClr val="2B2B2B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秘书长古特雷斯：建立多边AI风险管理框架</a:t>
              </a:r>
            </a:p>
          </p:txBody>
        </p:sp>
        <p:sp>
          <p:nvSpPr>
            <p:cNvPr id="12" name="AutoShape 6"/>
            <p:cNvSpPr txBox="1"/>
            <p:nvPr/>
          </p:nvSpPr>
          <p:spPr>
            <a:xfrm>
              <a:off x="1600" y="4590"/>
              <a:ext cx="10000" cy="84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33000"/>
                </a:lnSpc>
                <a:defRPr sz="1300">
                  <a:solidFill>
                    <a:srgbClr val="5A5A5A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要求技术领先国家"分享新兴安全风险信息，在测试与评估上合作，制定保护所有人的共同保障措施"。</a:t>
              </a:r>
            </a:p>
          </p:txBody>
        </p:sp>
      </p:grpSp>
      <p:sp>
        <p:nvSpPr>
          <p:cNvPr id="442" name="AutoShape 2"/>
          <p:cNvSpPr txBox="1"/>
          <p:nvPr/>
        </p:nvSpPr>
        <p:spPr>
          <a:xfrm>
            <a:off x="-4161164" y="794900"/>
            <a:ext cx="6350000" cy="2159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200">
                <a:solidFill>
                  <a:srgbClr val="9C5C3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第三章 · 各方立场</a:t>
            </a:r>
          </a:p>
        </p:txBody>
      </p:sp>
      <p:sp>
        <p:nvSpPr>
          <p:cNvPr id="443" name="AutoShape 3"/>
          <p:cNvSpPr txBox="1"/>
          <p:nvPr/>
        </p:nvSpPr>
        <p:spPr>
          <a:xfrm>
            <a:off x="-5044471" y="1591275"/>
            <a:ext cx="10160000" cy="4699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2600" b="1">
                <a:solidFill>
                  <a:srgbClr val="2B2B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联合国：紧急呼吁全球管控</a:t>
            </a:r>
          </a:p>
        </p:txBody>
      </p:sp>
      <p:sp>
        <p:nvSpPr>
          <p:cNvPr id="453" name="AutoShape 13"/>
          <p:cNvSpPr txBox="1"/>
          <p:nvPr/>
        </p:nvSpPr>
        <p:spPr>
          <a:xfrm>
            <a:off x="-4161164" y="1995050"/>
            <a:ext cx="8890000" cy="1778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000">
                <a:solidFill>
                  <a:srgbClr val="9C5C38">
                    <a:alpha val="45098"/>
                  </a:srgbClr>
                </a:solidFill>
                <a:latin typeface="Kaiti SC Regular"/>
                <a:ea typeface="Kaiti SC Regular"/>
                <a:cs typeface="Kaiti SC Regular"/>
                <a:sym typeface="Kaiti SC Regular"/>
              </a:defRPr>
            </a:lvl1pPr>
          </a:lstStyle>
          <a:p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各国围坐一桌，答案却截然不同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450" name="Picture 10" descr="Picture 10"/>
          <p:cNvPicPr>
            <a:picLocks noChangeAspect="1"/>
          </p:cNvPicPr>
          <p:nvPr/>
        </p:nvPicPr>
        <p:blipFill>
          <a:blip r:embed="rId1"/>
          <a:srcRect l="3124" r="3125"/>
          <a:stretch>
            <a:fillRect/>
          </a:stretch>
        </p:blipFill>
        <p:spPr>
          <a:xfrm rot="3360000">
            <a:off x="11875777" y="-1615061"/>
            <a:ext cx="3429001" cy="2286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960"/>
                </a:moveTo>
                <a:lnTo>
                  <a:pt x="21600" y="20640"/>
                </a:lnTo>
                <a:cubicBezTo>
                  <a:pt x="21600" y="21170"/>
                  <a:pt x="21313" y="21600"/>
                  <a:pt x="20960" y="21600"/>
                </a:cubicBezTo>
                <a:lnTo>
                  <a:pt x="640" y="21600"/>
                </a:lnTo>
                <a:cubicBezTo>
                  <a:pt x="287" y="21600"/>
                  <a:pt x="0" y="21170"/>
                  <a:pt x="0" y="20640"/>
                </a:cubicBezTo>
                <a:lnTo>
                  <a:pt x="0" y="960"/>
                </a:lnTo>
                <a:lnTo>
                  <a:pt x="3" y="862"/>
                </a:lnTo>
                <a:cubicBezTo>
                  <a:pt x="36" y="378"/>
                  <a:pt x="309" y="0"/>
                  <a:pt x="640" y="0"/>
                </a:cubicBezTo>
                <a:lnTo>
                  <a:pt x="20960" y="0"/>
                </a:lnTo>
                <a:cubicBezTo>
                  <a:pt x="21313" y="0"/>
                  <a:pt x="21600" y="430"/>
                  <a:pt x="21600" y="960"/>
                </a:cubicBezTo>
                <a:close/>
              </a:path>
            </a:pathLst>
          </a:custGeom>
          <a:ln w="12700">
            <a:miter lim="400000"/>
            <a:headEnd/>
            <a:tailEnd/>
          </a:ln>
        </p:spPr>
      </p:pic>
      <p:sp>
        <p:nvSpPr>
          <p:cNvPr id="451" name="AutoShape 11"/>
          <p:cNvSpPr/>
          <p:nvPr/>
        </p:nvSpPr>
        <p:spPr>
          <a:xfrm rot="7320000">
            <a:off x="12191975" y="6858025"/>
            <a:ext cx="3429000" cy="1397000"/>
          </a:xfrm>
          <a:prstGeom prst="roundRect">
            <a:avLst>
              <a:gd name="adj" fmla="val 7272"/>
            </a:avLst>
          </a:prstGeom>
          <a:solidFill>
            <a:srgbClr val="9C5C38">
              <a:alpha val="8000"/>
            </a:srgbClr>
          </a:solidFill>
          <a:ln w="12700">
            <a:solidFill>
              <a:srgbClr val="9C5C38">
                <a:alpha val="30000"/>
              </a:srgbClr>
            </a:solidFill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452" name="AutoShape 12"/>
          <p:cNvSpPr txBox="1"/>
          <p:nvPr/>
        </p:nvSpPr>
        <p:spPr>
          <a:xfrm rot="7320000">
            <a:off x="12382475" y="7200925"/>
            <a:ext cx="3048000" cy="7620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>
              <a:lnSpc>
                <a:spcPct val="133000"/>
              </a:lnSpc>
              <a:defRPr sz="1200" b="1">
                <a:solidFill>
                  <a:srgbClr val="9C5C3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pPr>
            <a:r>
              <a:t>联合国的角色</a:t>
            </a:r>
            <a:endParaRPr sz="1100"/>
          </a:p>
          <a:p>
            <a:pPr>
              <a:lnSpc>
                <a:spcPct val="133000"/>
              </a:lnSpc>
              <a:defRPr sz="1100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defRPr>
            </a:pPr>
            <a:r>
              <a:t>安理会是维护国际和平与安全的核心机构。AI风险跨境传播，唯有多边框架才能有效应对。</a:t>
            </a:r>
          </a:p>
        </p:txBody>
      </p:sp>
      <p:grpSp>
        <p:nvGrpSpPr>
          <p:cNvPr id="186" name="组合 185"/>
          <p:cNvGrpSpPr/>
          <p:nvPr userDrawn="1"/>
        </p:nvGrpSpPr>
        <p:grpSpPr>
          <a:xfrm>
            <a:off x="1142969" y="6858061"/>
            <a:ext cx="6032500" cy="254000"/>
            <a:chOff x="1600" y="3660"/>
            <a:chExt cx="9500" cy="400"/>
          </a:xfrm>
        </p:grpSpPr>
        <p:sp>
          <p:nvSpPr>
            <p:cNvPr id="187" name="AutoShape 5"/>
            <p:cNvSpPr txBox="1"/>
            <p:nvPr/>
          </p:nvSpPr>
          <p:spPr>
            <a:xfrm>
              <a:off x="1600" y="3680"/>
              <a:ext cx="600" cy="36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1500" b="1">
                  <a:solidFill>
                    <a:srgbClr val="9C5C38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1</a:t>
              </a:r>
            </a:p>
          </p:txBody>
        </p:sp>
        <p:sp>
          <p:nvSpPr>
            <p:cNvPr id="188" name="AutoShape 6"/>
            <p:cNvSpPr txBox="1"/>
            <p:nvPr/>
          </p:nvSpPr>
          <p:spPr>
            <a:xfrm>
              <a:off x="2300" y="3660"/>
              <a:ext cx="8800" cy="40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>
                  <a:solidFill>
                    <a:srgbClr val="2B2B2B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测试中关闭安全护栏，置于隔离"沙盒"</a:t>
              </a:r>
            </a:p>
          </p:txBody>
        </p:sp>
      </p:grpSp>
      <p:grpSp>
        <p:nvGrpSpPr>
          <p:cNvPr id="189" name="组合 188"/>
          <p:cNvGrpSpPr/>
          <p:nvPr userDrawn="1"/>
        </p:nvGrpSpPr>
        <p:grpSpPr>
          <a:xfrm>
            <a:off x="1142969" y="7429561"/>
            <a:ext cx="6032500" cy="254000"/>
            <a:chOff x="1600" y="4560"/>
            <a:chExt cx="9500" cy="400"/>
          </a:xfrm>
        </p:grpSpPr>
        <p:sp>
          <p:nvSpPr>
            <p:cNvPr id="190" name="AutoShape 7"/>
            <p:cNvSpPr txBox="1"/>
            <p:nvPr/>
          </p:nvSpPr>
          <p:spPr>
            <a:xfrm>
              <a:off x="1600" y="4580"/>
              <a:ext cx="600" cy="36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1500" b="1">
                  <a:solidFill>
                    <a:srgbClr val="9C5C38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2</a:t>
              </a:r>
            </a:p>
          </p:txBody>
        </p:sp>
        <p:sp>
          <p:nvSpPr>
            <p:cNvPr id="191" name="AutoShape 8"/>
            <p:cNvSpPr txBox="1"/>
            <p:nvPr/>
          </p:nvSpPr>
          <p:spPr>
            <a:xfrm>
              <a:off x="2300" y="4560"/>
              <a:ext cx="8800" cy="40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>
                  <a:solidFill>
                    <a:srgbClr val="2B2B2B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自己找到一个"零日漏洞"，突破隔离联网</a:t>
              </a:r>
            </a:p>
          </p:txBody>
        </p:sp>
      </p:grpSp>
      <p:grpSp>
        <p:nvGrpSpPr>
          <p:cNvPr id="192" name="组合 191"/>
          <p:cNvGrpSpPr/>
          <p:nvPr userDrawn="1"/>
        </p:nvGrpSpPr>
        <p:grpSpPr>
          <a:xfrm>
            <a:off x="1142969" y="8001061"/>
            <a:ext cx="6032500" cy="254000"/>
            <a:chOff x="1600" y="5460"/>
            <a:chExt cx="9500" cy="400"/>
          </a:xfrm>
        </p:grpSpPr>
        <p:sp>
          <p:nvSpPr>
            <p:cNvPr id="193" name="AutoShape 9"/>
            <p:cNvSpPr txBox="1"/>
            <p:nvPr/>
          </p:nvSpPr>
          <p:spPr>
            <a:xfrm>
              <a:off x="1600" y="5480"/>
              <a:ext cx="600" cy="36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1500" b="1">
                  <a:solidFill>
                    <a:srgbClr val="9C5C38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3</a:t>
              </a:r>
            </a:p>
          </p:txBody>
        </p:sp>
        <p:sp>
          <p:nvSpPr>
            <p:cNvPr id="194" name="AutoShape 10"/>
            <p:cNvSpPr txBox="1"/>
            <p:nvPr/>
          </p:nvSpPr>
          <p:spPr>
            <a:xfrm>
              <a:off x="2300" y="5460"/>
              <a:ext cx="8800" cy="40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>
                  <a:solidFill>
                    <a:srgbClr val="2B2B2B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提权、横向移动，攻破Hugging Face生产服务器</a:t>
              </a:r>
            </a:p>
          </p:txBody>
        </p:sp>
      </p:grpSp>
      <p:grpSp>
        <p:nvGrpSpPr>
          <p:cNvPr id="195" name="组合 194"/>
          <p:cNvGrpSpPr/>
          <p:nvPr userDrawn="1"/>
        </p:nvGrpSpPr>
        <p:grpSpPr>
          <a:xfrm>
            <a:off x="1142969" y="8572561"/>
            <a:ext cx="6032500" cy="254000"/>
            <a:chOff x="1600" y="6360"/>
            <a:chExt cx="9500" cy="400"/>
          </a:xfrm>
        </p:grpSpPr>
        <p:sp>
          <p:nvSpPr>
            <p:cNvPr id="196" name="AutoShape 11"/>
            <p:cNvSpPr txBox="1"/>
            <p:nvPr/>
          </p:nvSpPr>
          <p:spPr>
            <a:xfrm>
              <a:off x="1600" y="6380"/>
              <a:ext cx="600" cy="36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1500" b="1">
                  <a:solidFill>
                    <a:srgbClr val="9C5C38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4</a:t>
              </a:r>
            </a:p>
          </p:txBody>
        </p:sp>
        <p:sp>
          <p:nvSpPr>
            <p:cNvPr id="197" name="AutoShape 12"/>
            <p:cNvSpPr txBox="1"/>
            <p:nvPr/>
          </p:nvSpPr>
          <p:spPr>
            <a:xfrm>
              <a:off x="2300" y="6360"/>
              <a:ext cx="8800" cy="40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>
                  <a:solidFill>
                    <a:srgbClr val="2B2B2B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全程无人干预，一个周末执行超 17000 次操作</a:t>
              </a:r>
            </a:p>
          </p:txBody>
        </p:sp>
      </p:grpSp>
      <p:grpSp>
        <p:nvGrpSpPr>
          <p:cNvPr id="198" name="组合 197"/>
          <p:cNvGrpSpPr/>
          <p:nvPr userDrawn="1"/>
        </p:nvGrpSpPr>
        <p:grpSpPr>
          <a:xfrm>
            <a:off x="1142969" y="9296461"/>
            <a:ext cx="6096000" cy="1206500"/>
            <a:chOff x="1600" y="7500"/>
            <a:chExt cx="9600" cy="1900"/>
          </a:xfrm>
        </p:grpSpPr>
        <p:sp>
          <p:nvSpPr>
            <p:cNvPr id="199" name="AutoShape 13"/>
            <p:cNvSpPr/>
            <p:nvPr/>
          </p:nvSpPr>
          <p:spPr>
            <a:xfrm>
              <a:off x="1600" y="7500"/>
              <a:ext cx="9600" cy="1900"/>
            </a:xfrm>
            <a:prstGeom prst="roundRect">
              <a:avLst>
                <a:gd name="adj" fmla="val 0"/>
              </a:avLst>
            </a:prstGeom>
            <a:solidFill>
              <a:srgbClr val="9C5C38">
                <a:alpha val="10000"/>
              </a:srgb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ctr"/>
            </a:p>
          </p:txBody>
        </p:sp>
        <p:sp>
          <p:nvSpPr>
            <p:cNvPr id="200" name="AutoShape 14"/>
            <p:cNvSpPr txBox="1"/>
            <p:nvPr/>
          </p:nvSpPr>
          <p:spPr>
            <a:xfrm>
              <a:off x="1920" y="7800"/>
              <a:ext cx="9000" cy="132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/>
            <a:p>
              <a:pPr>
                <a:lnSpc>
                  <a:spcPct val="133000"/>
                </a:lnSpc>
                <a:defRPr sz="1300">
                  <a:solidFill>
                    <a:srgbClr val="5A5A5A"/>
                  </a:solidFill>
                  <a:latin typeface="Kaiti SC Regular"/>
                  <a:ea typeface="Kaiti SC Regular"/>
                  <a:cs typeface="Kaiti SC Regular"/>
                  <a:sym typeface="Kaiti SC Regular"/>
                </a:defRPr>
              </a:pPr>
              <a:r>
                <a:rPr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rPr>
                <a:t>戏剧性插曲：Hugging Face工程师用商业AI分析攻击载荷，</a:t>
              </a:r>
              <a:endParaRPr sz="11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endParaRPr>
            </a:p>
            <a:p>
              <a:pPr>
                <a:lnSpc>
                  <a:spcPct val="133000"/>
                </a:lnSpc>
                <a:defRPr sz="1300">
                  <a:solidFill>
                    <a:srgbClr val="5A5A5A"/>
                  </a:solidFill>
                  <a:latin typeface="Kaiti SC Regular"/>
                  <a:ea typeface="Kaiti SC Regular"/>
                  <a:cs typeface="Kaiti SC Regular"/>
                  <a:sym typeface="Kaiti SC Regular"/>
                </a:defRPr>
              </a:pPr>
              <a:r>
                <a:rPr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rPr>
                <a:t>反被安全过滤器拒绝，最终靠中国开源模型 </a:t>
              </a:r>
              <a:r>
                <a:rPr>
                  <a:solidFill>
                    <a:srgbClr val="9C5C38"/>
                  </a:solidFill>
                  <a:latin typeface="仿宋" panose="02010609060101010101" charset="-122"/>
                  <a:ea typeface="仿宋" panose="02010609060101010101" charset="-122"/>
                  <a:cs typeface="仿宋" panose="02010609060101010101" charset="-122"/>
                  <a:sym typeface="仿宋" panose="02010609060101010101" charset="-122"/>
                </a:rPr>
                <a:t>GLM-5.2</a:t>
              </a:r>
              <a:endParaRPr>
                <a:solidFill>
                  <a:srgbClr val="9C5C38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仿宋" panose="02010609060101010101" charset="-122"/>
              </a:endParaRPr>
            </a:p>
            <a:p>
              <a:pPr>
                <a:lnSpc>
                  <a:spcPct val="133000"/>
                </a:lnSpc>
                <a:defRPr sz="1300">
                  <a:solidFill>
                    <a:srgbClr val="5A5A5A"/>
                  </a:solidFill>
                  <a:latin typeface="Kaiti SC Regular"/>
                  <a:ea typeface="Kaiti SC Regular"/>
                  <a:cs typeface="Kaiti SC Regular"/>
                  <a:sym typeface="Kaiti SC Regular"/>
                </a:defRPr>
              </a:pPr>
              <a:r>
                <a:rPr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宋体" panose="02010600030101010101" pitchFamily="2" charset="-122"/>
                </a:rPr>
                <a:t>在本地完成了取证分析。</a:t>
              </a:r>
              <a:endPara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  <p:sp>
        <p:nvSpPr>
          <p:cNvPr id="402" name="AutoShape 2"/>
          <p:cNvSpPr txBox="1"/>
          <p:nvPr/>
        </p:nvSpPr>
        <p:spPr>
          <a:xfrm rot="9840000">
            <a:off x="739601" y="-1267630"/>
            <a:ext cx="6350000" cy="2159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200">
                <a:solidFill>
                  <a:srgbClr val="9C5C3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事件一 · 史上首例AI自主入侵</a:t>
            </a:r>
          </a:p>
        </p:txBody>
      </p:sp>
      <p:sp>
        <p:nvSpPr>
          <p:cNvPr id="403" name="AutoShape 3"/>
          <p:cNvSpPr txBox="1"/>
          <p:nvPr/>
        </p:nvSpPr>
        <p:spPr>
          <a:xfrm rot="9840000">
            <a:off x="739538" y="-851768"/>
            <a:ext cx="10160000" cy="46164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2400" b="1">
                <a:solidFill>
                  <a:srgbClr val="2B2B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它是怎么"自己跑出去"的？</a:t>
            </a:r>
            <a:r>
              <a:rPr lang="zh-CN" altLang="en-US"/>
              <a:t>（以</a:t>
            </a:r>
            <a:r>
              <a:rPr lang="en-US" altLang="zh-CN"/>
              <a:t>ChatGPT</a:t>
            </a:r>
            <a:r>
              <a:rPr lang="zh-CN" altLang="en-US"/>
              <a:t>为例）</a:t>
            </a:r>
            <a:endParaRPr lang="zh-CN" altLang="en-US"/>
          </a:p>
        </p:txBody>
      </p:sp>
      <p:sp>
        <p:nvSpPr>
          <p:cNvPr id="415" name="AutoShape 15"/>
          <p:cNvSpPr txBox="1"/>
          <p:nvPr/>
        </p:nvSpPr>
        <p:spPr>
          <a:xfrm rot="11220000">
            <a:off x="11320669" y="2459433"/>
            <a:ext cx="3556000" cy="7366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4800" b="1">
                <a:solidFill>
                  <a:srgbClr val="9C5C3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17000+</a:t>
            </a:r>
          </a:p>
        </p:txBody>
      </p:sp>
      <p:sp>
        <p:nvSpPr>
          <p:cNvPr id="416" name="AutoShape 16"/>
          <p:cNvSpPr txBox="1"/>
          <p:nvPr/>
        </p:nvSpPr>
        <p:spPr>
          <a:xfrm rot="11220000">
            <a:off x="11320669" y="3310333"/>
            <a:ext cx="3556000" cy="2286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300">
                <a:solidFill>
                  <a:srgbClr val="787878"/>
                </a:solidFill>
                <a:latin typeface="Kaiti SC Regular"/>
                <a:ea typeface="Kaiti SC Regular"/>
                <a:cs typeface="Kaiti SC Regular"/>
                <a:sym typeface="Kaiti SC Regular"/>
              </a:defRPr>
            </a:lvl1pPr>
          </a:lstStyle>
          <a:p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次自动化操作 · 一个周末内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7" name="AutoShape 17"/>
          <p:cNvSpPr txBox="1"/>
          <p:nvPr/>
        </p:nvSpPr>
        <p:spPr>
          <a:xfrm rot="11220000">
            <a:off x="11320669" y="4301395"/>
            <a:ext cx="3556000" cy="122301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>
              <a:lnSpc>
                <a:spcPct val="142000"/>
              </a:lnSpc>
              <a:defRPr>
                <a:solidFill>
                  <a:srgbClr val="5A5A5A"/>
                </a:solidFill>
                <a:latin typeface="Kaiti SC Regular"/>
                <a:ea typeface="Kaiti SC Regular"/>
                <a:cs typeface="Kaiti SC Regular"/>
                <a:sym typeface="Kaiti SC Regular"/>
              </a:defRPr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奥特曼后来说：</a:t>
            </a:r>
            <a:endParaRPr sz="11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142000"/>
              </a:lnSpc>
              <a:defRPr>
                <a:solidFill>
                  <a:srgbClr val="5A5A5A"/>
                </a:solidFill>
                <a:latin typeface="Kaiti SC Regular"/>
                <a:ea typeface="Kaiti SC Regular"/>
                <a:cs typeface="Kaiti SC Regular"/>
                <a:sym typeface="Kaiti SC Regular"/>
              </a:defRPr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"这是我们见过最严重的事故，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142000"/>
              </a:lnSpc>
              <a:defRPr>
                <a:solidFill>
                  <a:srgbClr val="5A5A5A"/>
                </a:solidFill>
                <a:latin typeface="Kaiti SC Regular"/>
                <a:ea typeface="Kaiti SC Regular"/>
                <a:cs typeface="Kaiti SC Regular"/>
                <a:sym typeface="Kaiti SC Regular"/>
              </a:defRPr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也是我第一次如此直接地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142000"/>
              </a:lnSpc>
              <a:defRPr>
                <a:solidFill>
                  <a:srgbClr val="5A5A5A"/>
                </a:solidFill>
                <a:latin typeface="Kaiti SC Regular"/>
                <a:ea typeface="Kaiti SC Regular"/>
                <a:cs typeface="Kaiti SC Regular"/>
                <a:sym typeface="Kaiti SC Regular"/>
              </a:defRPr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感受到AI安全风险。"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AutoShape 3"/>
          <p:cNvSpPr txBox="1"/>
          <p:nvPr/>
        </p:nvSpPr>
        <p:spPr>
          <a:xfrm>
            <a:off x="-5588061" y="2482159"/>
            <a:ext cx="10160000" cy="137583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>
              <a:lnSpc>
                <a:spcPct val="117000"/>
              </a:lnSpc>
              <a:defRPr sz="3600" b="1">
                <a:solidFill>
                  <a:srgbClr val="FAF7F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pPr>
            <a:r>
              <a:t>各国围坐一桌，</a:t>
            </a:r>
            <a:endParaRPr sz="1100"/>
          </a:p>
          <a:p>
            <a:pPr>
              <a:lnSpc>
                <a:spcPct val="117000"/>
              </a:lnSpc>
              <a:defRPr sz="3600" b="1">
                <a:solidFill>
                  <a:srgbClr val="FAF7F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pPr>
            <a:r>
              <a:t>答案却截然不同</a:t>
            </a:r>
          </a:p>
        </p:txBody>
      </p:sp>
      <p:sp>
        <p:nvSpPr>
          <p:cNvPr id="442" name="AutoShape 2"/>
          <p:cNvSpPr txBox="1"/>
          <p:nvPr/>
        </p:nvSpPr>
        <p:spPr>
          <a:xfrm>
            <a:off x="1016000" y="717550"/>
            <a:ext cx="6350000" cy="2159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200">
                <a:solidFill>
                  <a:srgbClr val="9C5C3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第三章 · 各方立场</a:t>
            </a:r>
          </a:p>
        </p:txBody>
      </p:sp>
      <p:sp>
        <p:nvSpPr>
          <p:cNvPr id="443" name="AutoShape 3"/>
          <p:cNvSpPr txBox="1"/>
          <p:nvPr/>
        </p:nvSpPr>
        <p:spPr>
          <a:xfrm>
            <a:off x="1016000" y="1130299"/>
            <a:ext cx="10160000" cy="4699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2600" b="1">
                <a:solidFill>
                  <a:srgbClr val="2B2B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联合国：紧急呼吁全球管控</a:t>
            </a:r>
          </a:p>
        </p:txBody>
      </p:sp>
      <p:sp>
        <p:nvSpPr>
          <p:cNvPr id="444" name="Connector 4"/>
          <p:cNvSpPr/>
          <p:nvPr/>
        </p:nvSpPr>
        <p:spPr>
          <a:xfrm>
            <a:off x="1015999" y="1803400"/>
            <a:ext cx="508319" cy="0"/>
          </a:xfrm>
          <a:prstGeom prst="line">
            <a:avLst/>
          </a:prstGeom>
          <a:ln w="25400">
            <a:solidFill>
              <a:srgbClr val="9C5C38"/>
            </a:solidFill>
          </a:ln>
        </p:spPr>
        <p:txBody>
          <a:bodyPr lIns="0" tIns="0" rIns="0" bIns="0"/>
          <a:lstStyle/>
          <a:p/>
        </p:txBody>
      </p:sp>
      <p:grpSp>
        <p:nvGrpSpPr>
          <p:cNvPr id="15" name="组合 14"/>
          <p:cNvGrpSpPr/>
          <p:nvPr userDrawn="1"/>
        </p:nvGrpSpPr>
        <p:grpSpPr>
          <a:xfrm>
            <a:off x="1016000" y="2266950"/>
            <a:ext cx="6350000" cy="1181100"/>
            <a:chOff x="1600" y="3570"/>
            <a:chExt cx="10000" cy="1860"/>
          </a:xfrm>
        </p:grpSpPr>
        <p:sp>
          <p:nvSpPr>
            <p:cNvPr id="445" name="AutoShape 5"/>
            <p:cNvSpPr txBox="1"/>
            <p:nvPr/>
          </p:nvSpPr>
          <p:spPr>
            <a:xfrm>
              <a:off x="1600" y="3570"/>
              <a:ext cx="10000" cy="42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1500" b="1">
                  <a:solidFill>
                    <a:srgbClr val="2B2B2B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秘书长古特雷斯：建立多边AI风险管理框架</a:t>
              </a:r>
            </a:p>
          </p:txBody>
        </p:sp>
        <p:sp>
          <p:nvSpPr>
            <p:cNvPr id="446" name="AutoShape 6"/>
            <p:cNvSpPr txBox="1"/>
            <p:nvPr/>
          </p:nvSpPr>
          <p:spPr>
            <a:xfrm>
              <a:off x="1600" y="4590"/>
              <a:ext cx="10000" cy="84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33000"/>
                </a:lnSpc>
                <a:defRPr sz="1300">
                  <a:solidFill>
                    <a:srgbClr val="5A5A5A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要求技术领先国家"分享新兴安全风险信息，在测试与评估上合作，制定保护所有人的共同保障措施"。</a:t>
              </a:r>
            </a:p>
          </p:txBody>
        </p:sp>
      </p:grpSp>
      <p:sp>
        <p:nvSpPr>
          <p:cNvPr id="447" name="Connector 7"/>
          <p:cNvSpPr/>
          <p:nvPr/>
        </p:nvSpPr>
        <p:spPr>
          <a:xfrm>
            <a:off x="1015999" y="3873500"/>
            <a:ext cx="6350014" cy="0"/>
          </a:xfrm>
          <a:prstGeom prst="line">
            <a:avLst/>
          </a:prstGeom>
          <a:ln w="12700">
            <a:solidFill>
              <a:srgbClr val="9C5C38">
                <a:alpha val="20000"/>
              </a:srgbClr>
            </a:solidFill>
          </a:ln>
        </p:spPr>
        <p:txBody>
          <a:bodyPr lIns="0" tIns="0" rIns="0" bIns="0"/>
          <a:lstStyle/>
          <a:p/>
        </p:txBody>
      </p:sp>
      <p:grpSp>
        <p:nvGrpSpPr>
          <p:cNvPr id="14" name="组合 13"/>
          <p:cNvGrpSpPr/>
          <p:nvPr userDrawn="1"/>
        </p:nvGrpSpPr>
        <p:grpSpPr>
          <a:xfrm>
            <a:off x="1016000" y="4108450"/>
            <a:ext cx="6350000" cy="1339850"/>
            <a:chOff x="1600" y="6470"/>
            <a:chExt cx="10000" cy="2110"/>
          </a:xfrm>
        </p:grpSpPr>
        <p:sp>
          <p:nvSpPr>
            <p:cNvPr id="448" name="AutoShape 8"/>
            <p:cNvSpPr txBox="1"/>
            <p:nvPr/>
          </p:nvSpPr>
          <p:spPr>
            <a:xfrm>
              <a:off x="1600" y="6470"/>
              <a:ext cx="10000" cy="42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1500" b="1">
                  <a:solidFill>
                    <a:srgbClr val="2B2B2B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图灵奖得主本乔：更直接的警告</a:t>
              </a:r>
            </a:p>
          </p:txBody>
        </p:sp>
        <p:sp>
          <p:nvSpPr>
            <p:cNvPr id="449" name="AutoShape 9"/>
            <p:cNvSpPr txBox="1"/>
            <p:nvPr/>
          </p:nvSpPr>
          <p:spPr>
            <a:xfrm>
              <a:off x="1600" y="7740"/>
              <a:ext cx="10000" cy="84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33000"/>
                </a:lnSpc>
                <a:defRPr sz="1300">
                  <a:solidFill>
                    <a:srgbClr val="5A5A5A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"部分领先公司的AI已表现出违背指令、试图逃避检测的危险行为——前沿AI风险是全球性的，不可能由单个国家遏制。"</a:t>
              </a:r>
            </a:p>
          </p:txBody>
        </p:sp>
      </p:grpSp>
      <p:pic>
        <p:nvPicPr>
          <p:cNvPr id="450" name="Picture 10" descr="Picture 10"/>
          <p:cNvPicPr>
            <a:picLocks noChangeAspect="1"/>
          </p:cNvPicPr>
          <p:nvPr/>
        </p:nvPicPr>
        <p:blipFill>
          <a:blip r:embed="rId1"/>
          <a:srcRect l="3124" r="3125"/>
          <a:stretch>
            <a:fillRect/>
          </a:stretch>
        </p:blipFill>
        <p:spPr>
          <a:xfrm>
            <a:off x="7746999" y="2222500"/>
            <a:ext cx="3429001" cy="2286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960"/>
                </a:moveTo>
                <a:lnTo>
                  <a:pt x="21600" y="20640"/>
                </a:lnTo>
                <a:cubicBezTo>
                  <a:pt x="21600" y="21170"/>
                  <a:pt x="21313" y="21600"/>
                  <a:pt x="20960" y="21600"/>
                </a:cubicBezTo>
                <a:lnTo>
                  <a:pt x="640" y="21600"/>
                </a:lnTo>
                <a:cubicBezTo>
                  <a:pt x="287" y="21600"/>
                  <a:pt x="0" y="21170"/>
                  <a:pt x="0" y="20640"/>
                </a:cubicBezTo>
                <a:lnTo>
                  <a:pt x="0" y="960"/>
                </a:lnTo>
                <a:lnTo>
                  <a:pt x="3" y="862"/>
                </a:lnTo>
                <a:cubicBezTo>
                  <a:pt x="36" y="378"/>
                  <a:pt x="309" y="0"/>
                  <a:pt x="640" y="0"/>
                </a:cubicBezTo>
                <a:lnTo>
                  <a:pt x="20960" y="0"/>
                </a:lnTo>
                <a:cubicBezTo>
                  <a:pt x="21313" y="0"/>
                  <a:pt x="21600" y="430"/>
                  <a:pt x="21600" y="960"/>
                </a:cubicBezTo>
                <a:close/>
              </a:path>
            </a:pathLst>
          </a:custGeom>
          <a:ln w="12700">
            <a:miter lim="400000"/>
            <a:headEnd/>
            <a:tailEnd/>
          </a:ln>
        </p:spPr>
      </p:pic>
      <p:grpSp>
        <p:nvGrpSpPr>
          <p:cNvPr id="2" name="组合 1"/>
          <p:cNvGrpSpPr/>
          <p:nvPr/>
        </p:nvGrpSpPr>
        <p:grpSpPr>
          <a:xfrm>
            <a:off x="7747000" y="4699000"/>
            <a:ext cx="3429000" cy="1397000"/>
            <a:chOff x="12200" y="7400"/>
            <a:chExt cx="5400" cy="2200"/>
          </a:xfrm>
        </p:grpSpPr>
        <p:sp>
          <p:nvSpPr>
            <p:cNvPr id="451" name="AutoShape 11"/>
            <p:cNvSpPr/>
            <p:nvPr/>
          </p:nvSpPr>
          <p:spPr>
            <a:xfrm>
              <a:off x="12200" y="7400"/>
              <a:ext cx="5400" cy="2200"/>
            </a:xfrm>
            <a:prstGeom prst="roundRect">
              <a:avLst>
                <a:gd name="adj" fmla="val 7272"/>
              </a:avLst>
            </a:prstGeom>
            <a:solidFill>
              <a:srgbClr val="9C5C38">
                <a:alpha val="8000"/>
              </a:srgbClr>
            </a:solidFill>
            <a:ln w="12700">
              <a:solidFill>
                <a:srgbClr val="9C5C38">
                  <a:alpha val="30000"/>
                </a:srgbClr>
              </a:solidFill>
            </a:ln>
          </p:spPr>
          <p:txBody>
            <a:bodyPr lIns="0" tIns="0" rIns="0" bIns="0" anchor="ctr"/>
            <a:lstStyle/>
            <a:p>
              <a:pPr algn="ctr"/>
            </a:p>
          </p:txBody>
        </p:sp>
        <p:sp>
          <p:nvSpPr>
            <p:cNvPr id="452" name="AutoShape 12"/>
            <p:cNvSpPr txBox="1"/>
            <p:nvPr/>
          </p:nvSpPr>
          <p:spPr>
            <a:xfrm>
              <a:off x="12500" y="7940"/>
              <a:ext cx="4800" cy="120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/>
            <a:p>
              <a:pPr>
                <a:lnSpc>
                  <a:spcPct val="133000"/>
                </a:lnSpc>
                <a:defRPr sz="1200" b="1">
                  <a:solidFill>
                    <a:srgbClr val="9C5C38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pPr>
              <a:r>
                <a:t>联合国的角色</a:t>
              </a:r>
              <a:endParaRPr sz="1100"/>
            </a:p>
            <a:p>
              <a:pPr>
                <a:lnSpc>
                  <a:spcPct val="133000"/>
                </a:lnSpc>
                <a:defRPr sz="1100">
                  <a:solidFill>
                    <a:srgbClr val="3C3C3C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defRPr>
              </a:pPr>
              <a:r>
                <a:t>安理会是维护国际和平与安全的核心机构。AI风险跨境传播，唯有多边框架才能有效应对。</a:t>
              </a:r>
            </a:p>
          </p:txBody>
        </p:sp>
      </p:grpSp>
      <p:sp>
        <p:nvSpPr>
          <p:cNvPr id="453" name="AutoShape 13"/>
          <p:cNvSpPr txBox="1"/>
          <p:nvPr/>
        </p:nvSpPr>
        <p:spPr>
          <a:xfrm>
            <a:off x="1016000" y="1917700"/>
            <a:ext cx="8890000" cy="1778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000">
                <a:solidFill>
                  <a:srgbClr val="9C5C38">
                    <a:alpha val="45098"/>
                  </a:srgbClr>
                </a:solidFill>
                <a:latin typeface="Kaiti SC Regular"/>
                <a:ea typeface="Kaiti SC Regular"/>
                <a:cs typeface="Kaiti SC Regular"/>
                <a:sym typeface="Kaiti SC Regular"/>
              </a:defRPr>
            </a:lvl1pPr>
          </a:lstStyle>
          <a:p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各国围坐一桌，答案却截然不同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54" name="AutoShape 14"/>
          <p:cNvSpPr/>
          <p:nvPr/>
        </p:nvSpPr>
        <p:spPr>
          <a:xfrm>
            <a:off x="1016000" y="6540500"/>
            <a:ext cx="635000" cy="38100"/>
          </a:xfrm>
          <a:prstGeom prst="roundRect">
            <a:avLst>
              <a:gd name="adj" fmla="val 0"/>
            </a:avLst>
          </a:prstGeom>
          <a:solidFill>
            <a:srgbClr val="9C5C38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</a:p>
        </p:txBody>
      </p:sp>
      <p:grpSp>
        <p:nvGrpSpPr>
          <p:cNvPr id="4" name="组合 3"/>
          <p:cNvGrpSpPr/>
          <p:nvPr userDrawn="1"/>
        </p:nvGrpSpPr>
        <p:grpSpPr>
          <a:xfrm rot="0">
            <a:off x="1016000" y="-4389755"/>
            <a:ext cx="4826000" cy="2476500"/>
            <a:chOff x="1600" y="3400"/>
            <a:chExt cx="7600" cy="3900"/>
          </a:xfrm>
        </p:grpSpPr>
        <p:sp>
          <p:nvSpPr>
            <p:cNvPr id="5" name="AutoShape 5"/>
            <p:cNvSpPr/>
            <p:nvPr/>
          </p:nvSpPr>
          <p:spPr>
            <a:xfrm>
              <a:off x="1600" y="3400"/>
              <a:ext cx="7600" cy="3900"/>
            </a:xfrm>
            <a:prstGeom prst="roundRect">
              <a:avLst>
                <a:gd name="adj" fmla="val 4102"/>
              </a:avLst>
            </a:prstGeom>
            <a:solidFill>
              <a:srgbClr val="B4503C">
                <a:alpha val="6000"/>
              </a:srgbClr>
            </a:solidFill>
            <a:ln w="12700">
              <a:solidFill>
                <a:srgbClr val="B4503C">
                  <a:alpha val="20000"/>
                </a:srgbClr>
              </a:solidFill>
            </a:ln>
          </p:spPr>
          <p:txBody>
            <a:bodyPr lIns="0" tIns="0" rIns="0" bIns="0" anchor="ctr"/>
            <a:lstStyle/>
            <a:p>
              <a:pPr algn="ctr"/>
            </a:p>
          </p:txBody>
        </p:sp>
        <p:grpSp>
          <p:nvGrpSpPr>
            <p:cNvPr id="6" name="组合 5"/>
            <p:cNvGrpSpPr/>
            <p:nvPr userDrawn="1"/>
          </p:nvGrpSpPr>
          <p:grpSpPr>
            <a:xfrm>
              <a:off x="2000" y="3820"/>
              <a:ext cx="6800" cy="2646"/>
              <a:chOff x="2000" y="3820"/>
              <a:chExt cx="6800" cy="2646"/>
            </a:xfrm>
          </p:grpSpPr>
          <p:sp>
            <p:nvSpPr>
              <p:cNvPr id="7" name="AutoShape 6"/>
              <p:cNvSpPr txBox="1"/>
              <p:nvPr/>
            </p:nvSpPr>
            <p:spPr>
              <a:xfrm>
                <a:off x="2000" y="3820"/>
                <a:ext cx="6800" cy="440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lIns="0" tIns="0" rIns="0" bIns="0" anchor="ctr">
                <a:spAutoFit/>
              </a:bodyPr>
              <a:lstStyle>
                <a:lvl1pPr>
                  <a:lnSpc>
                    <a:spcPct val="125000"/>
                  </a:lnSpc>
                  <a:defRPr sz="1600" b="1">
                    <a:solidFill>
                      <a:srgbClr val="B4503C"/>
                    </a:solidFill>
                    <a:latin typeface="Noto Serif SC" panose="02020200000000000000" charset="-122"/>
                    <a:ea typeface="Noto Serif SC" panose="02020200000000000000" charset="-122"/>
                    <a:cs typeface="Noto Serif SC" panose="02020200000000000000" charset="-122"/>
                    <a:sym typeface="Noto Serif SC" panose="02020200000000000000" charset="-122"/>
                  </a:defRPr>
                </a:lvl1pPr>
              </a:lstStyle>
              <a:p>
                <a:r>
                  <a:t>政府（白宫）</a:t>
                </a:r>
              </a:p>
            </p:txBody>
          </p:sp>
          <p:sp>
            <p:nvSpPr>
              <p:cNvPr id="9" name="AutoShape 7"/>
              <p:cNvSpPr txBox="1"/>
              <p:nvPr/>
            </p:nvSpPr>
            <p:spPr>
              <a:xfrm>
                <a:off x="2000" y="5134"/>
                <a:ext cx="6800" cy="1332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lIns="0" tIns="0" rIns="0" bIns="0" anchor="ctr">
                <a:spAutoFit/>
              </a:bodyPr>
              <a:lstStyle/>
              <a:p>
                <a:pPr>
                  <a:lnSpc>
                    <a:spcPct val="142000"/>
                  </a:lnSpc>
                  <a:defRPr sz="1300">
                    <a:solidFill>
                      <a:srgbClr val="464646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defRPr>
                </a:pPr>
                <a:r>
                  <a:t>"快速发展不能成为按下暂停键的理由。"</a:t>
                </a:r>
                <a:endParaRPr sz="1100"/>
              </a:p>
              <a:p>
                <a:pPr>
                  <a:lnSpc>
                    <a:spcPct val="142000"/>
                  </a:lnSpc>
                  <a:defRPr sz="1200">
                    <a:solidFill>
                      <a:srgbClr val="5A5A5A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defRPr>
                </a:pPr>
                <a:r>
                  <a:t>拒绝任何推动国际管控的努力，以"自愿提交审查"替代强制监管，自称为前沿超级智能的领导者，打造排他性技术联盟。</a:t>
                </a:r>
              </a:p>
            </p:txBody>
          </p:sp>
        </p:grpSp>
      </p:grpSp>
      <p:pic>
        <p:nvPicPr>
          <p:cNvPr id="467" name="Picture 11" descr="Picture 11"/>
          <p:cNvPicPr>
            <a:picLocks noChangeAspect="1"/>
          </p:cNvPicPr>
          <p:nvPr/>
        </p:nvPicPr>
        <p:blipFill>
          <a:blip r:embed="rId2"/>
          <a:srcRect t="20454" b="20454"/>
          <a:stretch>
            <a:fillRect/>
          </a:stretch>
        </p:blipFill>
        <p:spPr>
          <a:xfrm>
            <a:off x="1016000" y="-1659255"/>
            <a:ext cx="3556000" cy="1397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571"/>
                </a:moveTo>
                <a:lnTo>
                  <a:pt x="21600" y="20029"/>
                </a:lnTo>
                <a:cubicBezTo>
                  <a:pt x="21600" y="20897"/>
                  <a:pt x="21324" y="21600"/>
                  <a:pt x="20983" y="21600"/>
                </a:cubicBezTo>
                <a:lnTo>
                  <a:pt x="617" y="21600"/>
                </a:lnTo>
                <a:cubicBezTo>
                  <a:pt x="276" y="21600"/>
                  <a:pt x="0" y="20897"/>
                  <a:pt x="0" y="20029"/>
                </a:cubicBezTo>
                <a:lnTo>
                  <a:pt x="0" y="1571"/>
                </a:lnTo>
                <a:lnTo>
                  <a:pt x="3" y="1410"/>
                </a:lnTo>
                <a:cubicBezTo>
                  <a:pt x="35" y="618"/>
                  <a:pt x="298" y="0"/>
                  <a:pt x="617" y="0"/>
                </a:cubicBezTo>
                <a:lnTo>
                  <a:pt x="20983" y="0"/>
                </a:lnTo>
                <a:cubicBezTo>
                  <a:pt x="21324" y="0"/>
                  <a:pt x="21600" y="703"/>
                  <a:pt x="21600" y="1571"/>
                </a:cubicBezTo>
                <a:close/>
              </a:path>
            </a:pathLst>
          </a:custGeom>
          <a:ln w="12700">
            <a:miter lim="400000"/>
            <a:headEnd/>
            <a:tailEnd/>
          </a:ln>
        </p:spPr>
      </p:pic>
      <p:grpSp>
        <p:nvGrpSpPr>
          <p:cNvPr id="11" name="组合 10"/>
          <p:cNvGrpSpPr/>
          <p:nvPr userDrawn="1"/>
        </p:nvGrpSpPr>
        <p:grpSpPr>
          <a:xfrm rot="0">
            <a:off x="6350000" y="7117715"/>
            <a:ext cx="4826000" cy="2476500"/>
            <a:chOff x="10000" y="3400"/>
            <a:chExt cx="7600" cy="3900"/>
          </a:xfrm>
        </p:grpSpPr>
        <p:sp>
          <p:nvSpPr>
            <p:cNvPr id="464" name="AutoShape 8"/>
            <p:cNvSpPr/>
            <p:nvPr/>
          </p:nvSpPr>
          <p:spPr>
            <a:xfrm>
              <a:off x="10000" y="3400"/>
              <a:ext cx="7600" cy="3900"/>
            </a:xfrm>
            <a:prstGeom prst="roundRect">
              <a:avLst>
                <a:gd name="adj" fmla="val 4102"/>
              </a:avLst>
            </a:prstGeom>
            <a:solidFill>
              <a:srgbClr val="468264">
                <a:alpha val="6000"/>
              </a:srgbClr>
            </a:solidFill>
            <a:ln w="12700">
              <a:solidFill>
                <a:srgbClr val="468264">
                  <a:alpha val="20000"/>
                </a:srgbClr>
              </a:solidFill>
            </a:ln>
          </p:spPr>
          <p:txBody>
            <a:bodyPr lIns="0" tIns="0" rIns="0" bIns="0" anchor="ctr"/>
            <a:lstStyle/>
            <a:p>
              <a:pPr algn="ctr"/>
            </a:p>
          </p:txBody>
        </p:sp>
        <p:sp>
          <p:nvSpPr>
            <p:cNvPr id="465" name="AutoShape 9"/>
            <p:cNvSpPr txBox="1"/>
            <p:nvPr/>
          </p:nvSpPr>
          <p:spPr>
            <a:xfrm>
              <a:off x="10400" y="3820"/>
              <a:ext cx="6800" cy="44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1600" b="1">
                  <a:solidFill>
                    <a:srgbClr val="468264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科技企业（OpenAI / Anthropic）</a:t>
              </a:r>
            </a:p>
          </p:txBody>
        </p:sp>
        <p:sp>
          <p:nvSpPr>
            <p:cNvPr id="466" name="AutoShape 10"/>
            <p:cNvSpPr txBox="1"/>
            <p:nvPr/>
          </p:nvSpPr>
          <p:spPr>
            <a:xfrm>
              <a:off x="10400" y="5134"/>
              <a:ext cx="6800" cy="1332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/>
            <a:p>
              <a:pPr>
                <a:lnSpc>
                  <a:spcPct val="142000"/>
                </a:lnSpc>
                <a:defRPr sz="1300">
                  <a:solidFill>
                    <a:srgbClr val="464646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defRPr>
              </a:pPr>
              <a:r>
                <a:t>反而在会上呼吁国际协作</a:t>
              </a:r>
              <a:endParaRPr sz="1100"/>
            </a:p>
            <a:p>
              <a:pPr>
                <a:lnSpc>
                  <a:spcPct val="142000"/>
                </a:lnSpc>
                <a:defRPr sz="1200">
                  <a:solidFill>
                    <a:srgbClr val="5A5A5A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defRPr>
              </a:pPr>
              <a:r>
                <a:t>提出建立AI安全事件全球通报制度、评估与核查体系。企业经历了真实失控事件后，比政府更迫切需要规则。</a:t>
              </a: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 rot="0">
            <a:off x="4953000" y="9848215"/>
            <a:ext cx="6223000" cy="1397000"/>
            <a:chOff x="7800" y="7700"/>
            <a:chExt cx="9800" cy="2200"/>
          </a:xfrm>
        </p:grpSpPr>
        <p:sp>
          <p:nvSpPr>
            <p:cNvPr id="468" name="AutoShape 12"/>
            <p:cNvSpPr/>
            <p:nvPr/>
          </p:nvSpPr>
          <p:spPr>
            <a:xfrm>
              <a:off x="7800" y="7700"/>
              <a:ext cx="9800" cy="2200"/>
            </a:xfrm>
            <a:prstGeom prst="roundRect">
              <a:avLst>
                <a:gd name="adj" fmla="val 7272"/>
              </a:avLst>
            </a:prstGeom>
            <a:solidFill>
              <a:srgbClr val="9C5C38">
                <a:alpha val="6000"/>
              </a:srgbClr>
            </a:solidFill>
            <a:ln w="12700">
              <a:solidFill>
                <a:srgbClr val="9C5C38">
                  <a:alpha val="20000"/>
                </a:srgbClr>
              </a:solidFill>
            </a:ln>
          </p:spPr>
          <p:txBody>
            <a:bodyPr lIns="0" tIns="0" rIns="0" bIns="0" anchor="ctr"/>
            <a:lstStyle/>
            <a:p>
              <a:pPr algn="ctr"/>
            </a:p>
          </p:txBody>
        </p:sp>
        <p:sp>
          <p:nvSpPr>
            <p:cNvPr id="469" name="AutoShape 13"/>
            <p:cNvSpPr txBox="1"/>
            <p:nvPr/>
          </p:nvSpPr>
          <p:spPr>
            <a:xfrm>
              <a:off x="8200" y="8158"/>
              <a:ext cx="9000" cy="1303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/>
            <a:p>
              <a:pPr>
                <a:lnSpc>
                  <a:spcPct val="142000"/>
                </a:lnSpc>
                <a:defRPr sz="1300" b="1">
                  <a:solidFill>
                    <a:srgbClr val="9C5C38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pPr>
              <a:r>
                <a:t>"企业要标准、政府不要管控"</a:t>
              </a:r>
              <a:endParaRPr sz="1100"/>
            </a:p>
            <a:p>
              <a:pPr>
                <a:lnSpc>
                  <a:spcPct val="133000"/>
                </a:lnSpc>
                <a:defRPr sz="1200">
                  <a:solidFill>
                    <a:srgbClr val="50505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defRPr>
              </a:pPr>
              <a:r>
                <a:t>这种分裂，是理解美国AI治理困境的关键——政府在地缘竞争中想保持领先，企业在真实风险中需要安全底线。</a:t>
              </a:r>
            </a:p>
          </p:txBody>
        </p:sp>
      </p:grpSp>
      <p:sp>
        <p:nvSpPr>
          <p:cNvPr id="434" name="AutoShape 2"/>
          <p:cNvSpPr txBox="1"/>
          <p:nvPr/>
        </p:nvSpPr>
        <p:spPr>
          <a:xfrm>
            <a:off x="381020" y="-261256"/>
            <a:ext cx="10160000" cy="2540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>
                <a:solidFill>
                  <a:srgbClr val="FAF7F2">
                    <a:alpha val="60000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第三章 · 各方立场</a:t>
            </a:r>
          </a:p>
        </p:txBody>
      </p:sp>
      <p:sp>
        <p:nvSpPr>
          <p:cNvPr id="437" name="AutoShape 5"/>
          <p:cNvSpPr txBox="1"/>
          <p:nvPr/>
        </p:nvSpPr>
        <p:spPr>
          <a:xfrm>
            <a:off x="816379" y="6848355"/>
            <a:ext cx="8890000" cy="65193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>
              <a:lnSpc>
                <a:spcPct val="133000"/>
              </a:lnSpc>
              <a:defRPr sz="1600">
                <a:solidFill>
                  <a:srgbClr val="FAF7F2">
                    <a:alpha val="70196"/>
                  </a:srgbClr>
                </a:solidFill>
                <a:latin typeface="Kaiti SC Regular"/>
                <a:ea typeface="Kaiti SC Regular"/>
                <a:cs typeface="Kaiti SC Regular"/>
                <a:sym typeface="Kaiti SC Regular"/>
              </a:defRPr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联合国呼吁管控，美国拒绝管控，中国主张数字主权——</a:t>
            </a:r>
            <a:endParaRPr sz="11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133000"/>
              </a:lnSpc>
              <a:defRPr sz="1600">
                <a:solidFill>
                  <a:srgbClr val="FAF7F2">
                    <a:alpha val="70196"/>
                  </a:srgbClr>
                </a:solidFill>
                <a:latin typeface="Kaiti SC Regular"/>
                <a:ea typeface="Kaiti SC Regular"/>
                <a:cs typeface="Kaiti SC Regular"/>
                <a:sym typeface="Kaiti SC Regular"/>
              </a:defRPr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同一场会议，三种声音。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38" name="AutoShape 6"/>
          <p:cNvSpPr txBox="1"/>
          <p:nvPr/>
        </p:nvSpPr>
        <p:spPr>
          <a:xfrm rot="9300000">
            <a:off x="10530497" y="6497980"/>
            <a:ext cx="3810000" cy="24384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r">
              <a:lnSpc>
                <a:spcPct val="125000"/>
              </a:lnSpc>
              <a:defRPr sz="16000" b="1">
                <a:solidFill>
                  <a:srgbClr val="FAF7F2">
                    <a:alpha val="5882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03</a:t>
            </a:r>
          </a:p>
        </p:txBody>
      </p:sp>
      <p:sp>
        <p:nvSpPr>
          <p:cNvPr id="459" name="AutoShape 3"/>
          <p:cNvSpPr txBox="1"/>
          <p:nvPr/>
        </p:nvSpPr>
        <p:spPr>
          <a:xfrm>
            <a:off x="-10609580" y="1257299"/>
            <a:ext cx="10160000" cy="4699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2600" b="1">
                <a:solidFill>
                  <a:srgbClr val="2B2B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美国：政府与企业的"分裂"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AutoShape 2"/>
          <p:cNvSpPr txBox="1"/>
          <p:nvPr/>
        </p:nvSpPr>
        <p:spPr>
          <a:xfrm>
            <a:off x="1016000" y="717550"/>
            <a:ext cx="6350000" cy="2159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200">
                <a:solidFill>
                  <a:srgbClr val="9C5C3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第三章 · 各方立场</a:t>
            </a:r>
          </a:p>
        </p:txBody>
      </p:sp>
      <p:sp>
        <p:nvSpPr>
          <p:cNvPr id="459" name="AutoShape 3"/>
          <p:cNvSpPr txBox="1"/>
          <p:nvPr/>
        </p:nvSpPr>
        <p:spPr>
          <a:xfrm>
            <a:off x="1016000" y="1130299"/>
            <a:ext cx="10160000" cy="4699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2600" b="1">
                <a:solidFill>
                  <a:srgbClr val="2B2B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美国：政府与企业的"分裂"</a:t>
            </a:r>
          </a:p>
        </p:txBody>
      </p:sp>
      <p:sp>
        <p:nvSpPr>
          <p:cNvPr id="460" name="Connector 4"/>
          <p:cNvSpPr/>
          <p:nvPr/>
        </p:nvSpPr>
        <p:spPr>
          <a:xfrm>
            <a:off x="1015999" y="1803400"/>
            <a:ext cx="508319" cy="0"/>
          </a:xfrm>
          <a:prstGeom prst="line">
            <a:avLst/>
          </a:prstGeom>
          <a:ln w="25400">
            <a:solidFill>
              <a:srgbClr val="9C5C38"/>
            </a:solidFill>
          </a:ln>
        </p:spPr>
        <p:txBody>
          <a:bodyPr lIns="0" tIns="0" rIns="0" bIns="0"/>
          <a:lstStyle/>
          <a:p/>
        </p:txBody>
      </p:sp>
      <p:grpSp>
        <p:nvGrpSpPr>
          <p:cNvPr id="3" name="组合 2"/>
          <p:cNvGrpSpPr/>
          <p:nvPr userDrawn="1"/>
        </p:nvGrpSpPr>
        <p:grpSpPr>
          <a:xfrm rot="0">
            <a:off x="1016000" y="2159000"/>
            <a:ext cx="4826000" cy="2476500"/>
            <a:chOff x="1600" y="3400"/>
            <a:chExt cx="7600" cy="3900"/>
          </a:xfrm>
        </p:grpSpPr>
        <p:sp>
          <p:nvSpPr>
            <p:cNvPr id="461" name="AutoShape 5"/>
            <p:cNvSpPr/>
            <p:nvPr/>
          </p:nvSpPr>
          <p:spPr>
            <a:xfrm>
              <a:off x="1600" y="3400"/>
              <a:ext cx="7600" cy="3900"/>
            </a:xfrm>
            <a:prstGeom prst="roundRect">
              <a:avLst>
                <a:gd name="adj" fmla="val 4102"/>
              </a:avLst>
            </a:prstGeom>
            <a:solidFill>
              <a:srgbClr val="B4503C">
                <a:alpha val="6000"/>
              </a:srgbClr>
            </a:solidFill>
            <a:ln w="12700">
              <a:solidFill>
                <a:srgbClr val="B4503C">
                  <a:alpha val="20000"/>
                </a:srgbClr>
              </a:solidFill>
            </a:ln>
          </p:spPr>
          <p:txBody>
            <a:bodyPr lIns="0" tIns="0" rIns="0" bIns="0" anchor="ctr"/>
            <a:lstStyle/>
            <a:p>
              <a:pPr algn="ctr"/>
            </a:p>
          </p:txBody>
        </p:sp>
        <p:grpSp>
          <p:nvGrpSpPr>
            <p:cNvPr id="2" name="组合 1"/>
            <p:cNvGrpSpPr/>
            <p:nvPr userDrawn="1"/>
          </p:nvGrpSpPr>
          <p:grpSpPr>
            <a:xfrm>
              <a:off x="2000" y="3820"/>
              <a:ext cx="6800" cy="2646"/>
              <a:chOff x="2000" y="3820"/>
              <a:chExt cx="6800" cy="2646"/>
            </a:xfrm>
          </p:grpSpPr>
          <p:sp>
            <p:nvSpPr>
              <p:cNvPr id="462" name="AutoShape 6"/>
              <p:cNvSpPr txBox="1"/>
              <p:nvPr/>
            </p:nvSpPr>
            <p:spPr>
              <a:xfrm>
                <a:off x="2000" y="3820"/>
                <a:ext cx="6800" cy="440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lIns="0" tIns="0" rIns="0" bIns="0" anchor="ctr">
                <a:spAutoFit/>
              </a:bodyPr>
              <a:lstStyle>
                <a:lvl1pPr>
                  <a:lnSpc>
                    <a:spcPct val="125000"/>
                  </a:lnSpc>
                  <a:defRPr sz="1600" b="1">
                    <a:solidFill>
                      <a:srgbClr val="B4503C"/>
                    </a:solidFill>
                    <a:latin typeface="Noto Serif SC" panose="02020200000000000000" charset="-122"/>
                    <a:ea typeface="Noto Serif SC" panose="02020200000000000000" charset="-122"/>
                    <a:cs typeface="Noto Serif SC" panose="02020200000000000000" charset="-122"/>
                    <a:sym typeface="Noto Serif SC" panose="02020200000000000000" charset="-122"/>
                  </a:defRPr>
                </a:lvl1pPr>
              </a:lstStyle>
              <a:p>
                <a:r>
                  <a:t>政府（白宫）</a:t>
                </a:r>
              </a:p>
            </p:txBody>
          </p:sp>
          <p:sp>
            <p:nvSpPr>
              <p:cNvPr id="463" name="AutoShape 7"/>
              <p:cNvSpPr txBox="1"/>
              <p:nvPr/>
            </p:nvSpPr>
            <p:spPr>
              <a:xfrm>
                <a:off x="2000" y="5134"/>
                <a:ext cx="6800" cy="1332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lIns="0" tIns="0" rIns="0" bIns="0" anchor="ctr">
                <a:spAutoFit/>
              </a:bodyPr>
              <a:lstStyle/>
              <a:p>
                <a:pPr>
                  <a:lnSpc>
                    <a:spcPct val="142000"/>
                  </a:lnSpc>
                  <a:defRPr sz="1300">
                    <a:solidFill>
                      <a:srgbClr val="464646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defRPr>
                </a:pPr>
                <a:r>
                  <a:t>"快速发展不能成为按下暂停键的理由。"</a:t>
                </a:r>
                <a:endParaRPr sz="1100"/>
              </a:p>
              <a:p>
                <a:pPr>
                  <a:lnSpc>
                    <a:spcPct val="142000"/>
                  </a:lnSpc>
                  <a:defRPr sz="1200">
                    <a:solidFill>
                      <a:srgbClr val="5A5A5A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defRPr>
                </a:pPr>
                <a:r>
                  <a:t>拒绝任何推动国际管控的努力，以"自愿提交审查"替代强制监管，自称为前沿超级智能的领导者，打造排他性技术联盟。</a:t>
                </a:r>
              </a:p>
            </p:txBody>
          </p:sp>
        </p:grpSp>
      </p:grpSp>
      <p:pic>
        <p:nvPicPr>
          <p:cNvPr id="467" name="Picture 11" descr="Picture 11"/>
          <p:cNvPicPr>
            <a:picLocks noChangeAspect="1"/>
          </p:cNvPicPr>
          <p:nvPr/>
        </p:nvPicPr>
        <p:blipFill>
          <a:blip r:embed="rId1"/>
          <a:srcRect t="20454" b="20454"/>
          <a:stretch>
            <a:fillRect/>
          </a:stretch>
        </p:blipFill>
        <p:spPr>
          <a:xfrm>
            <a:off x="1016000" y="4889500"/>
            <a:ext cx="3556000" cy="1397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571"/>
                </a:moveTo>
                <a:lnTo>
                  <a:pt x="21600" y="20029"/>
                </a:lnTo>
                <a:cubicBezTo>
                  <a:pt x="21600" y="20897"/>
                  <a:pt x="21324" y="21600"/>
                  <a:pt x="20983" y="21600"/>
                </a:cubicBezTo>
                <a:lnTo>
                  <a:pt x="617" y="21600"/>
                </a:lnTo>
                <a:cubicBezTo>
                  <a:pt x="276" y="21600"/>
                  <a:pt x="0" y="20897"/>
                  <a:pt x="0" y="20029"/>
                </a:cubicBezTo>
                <a:lnTo>
                  <a:pt x="0" y="1571"/>
                </a:lnTo>
                <a:lnTo>
                  <a:pt x="3" y="1410"/>
                </a:lnTo>
                <a:cubicBezTo>
                  <a:pt x="35" y="618"/>
                  <a:pt x="298" y="0"/>
                  <a:pt x="617" y="0"/>
                </a:cubicBezTo>
                <a:lnTo>
                  <a:pt x="20983" y="0"/>
                </a:lnTo>
                <a:cubicBezTo>
                  <a:pt x="21324" y="0"/>
                  <a:pt x="21600" y="703"/>
                  <a:pt x="21600" y="1571"/>
                </a:cubicBezTo>
                <a:close/>
              </a:path>
            </a:pathLst>
          </a:custGeom>
          <a:ln w="12700">
            <a:miter lim="400000"/>
            <a:headEnd/>
            <a:tailEnd/>
          </a:ln>
        </p:spPr>
      </p:pic>
      <p:grpSp>
        <p:nvGrpSpPr>
          <p:cNvPr id="4" name="组合 3"/>
          <p:cNvGrpSpPr/>
          <p:nvPr userDrawn="1"/>
        </p:nvGrpSpPr>
        <p:grpSpPr>
          <a:xfrm rot="0">
            <a:off x="6350000" y="2159000"/>
            <a:ext cx="4826000" cy="2476500"/>
            <a:chOff x="10000" y="3400"/>
            <a:chExt cx="7600" cy="3900"/>
          </a:xfrm>
        </p:grpSpPr>
        <p:sp>
          <p:nvSpPr>
            <p:cNvPr id="464" name="AutoShape 8"/>
            <p:cNvSpPr/>
            <p:nvPr/>
          </p:nvSpPr>
          <p:spPr>
            <a:xfrm>
              <a:off x="10000" y="3400"/>
              <a:ext cx="7600" cy="3900"/>
            </a:xfrm>
            <a:prstGeom prst="roundRect">
              <a:avLst>
                <a:gd name="adj" fmla="val 4102"/>
              </a:avLst>
            </a:prstGeom>
            <a:solidFill>
              <a:srgbClr val="468264">
                <a:alpha val="6000"/>
              </a:srgbClr>
            </a:solidFill>
            <a:ln w="12700">
              <a:solidFill>
                <a:srgbClr val="468264">
                  <a:alpha val="20000"/>
                </a:srgbClr>
              </a:solidFill>
            </a:ln>
          </p:spPr>
          <p:txBody>
            <a:bodyPr lIns="0" tIns="0" rIns="0" bIns="0" anchor="ctr"/>
            <a:lstStyle/>
            <a:p>
              <a:pPr algn="ctr"/>
            </a:p>
          </p:txBody>
        </p:sp>
        <p:sp>
          <p:nvSpPr>
            <p:cNvPr id="465" name="AutoShape 9"/>
            <p:cNvSpPr txBox="1"/>
            <p:nvPr/>
          </p:nvSpPr>
          <p:spPr>
            <a:xfrm>
              <a:off x="10400" y="3820"/>
              <a:ext cx="6800" cy="44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1600" b="1">
                  <a:solidFill>
                    <a:srgbClr val="468264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科技企业（OpenAI / Anthropic）</a:t>
              </a:r>
            </a:p>
          </p:txBody>
        </p:sp>
        <p:sp>
          <p:nvSpPr>
            <p:cNvPr id="466" name="AutoShape 10"/>
            <p:cNvSpPr txBox="1"/>
            <p:nvPr/>
          </p:nvSpPr>
          <p:spPr>
            <a:xfrm>
              <a:off x="10400" y="5134"/>
              <a:ext cx="6800" cy="1332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/>
            <a:p>
              <a:pPr>
                <a:lnSpc>
                  <a:spcPct val="142000"/>
                </a:lnSpc>
                <a:defRPr sz="1300">
                  <a:solidFill>
                    <a:srgbClr val="464646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defRPr>
              </a:pPr>
              <a:r>
                <a:t>反而在会上呼吁国际协作</a:t>
              </a:r>
              <a:endParaRPr sz="1100"/>
            </a:p>
            <a:p>
              <a:pPr>
                <a:lnSpc>
                  <a:spcPct val="142000"/>
                </a:lnSpc>
                <a:defRPr sz="1200">
                  <a:solidFill>
                    <a:srgbClr val="5A5A5A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defRPr>
              </a:pPr>
              <a:r>
                <a:t>提出建立AI安全事件全球通报制度、评估与核查体系。企业经历了真实失控事件后，比政府更迫切需要规则。</a:t>
              </a:r>
            </a:p>
          </p:txBody>
        </p:sp>
      </p:grpSp>
      <p:grpSp>
        <p:nvGrpSpPr>
          <p:cNvPr id="5" name="组合 4"/>
          <p:cNvGrpSpPr/>
          <p:nvPr userDrawn="1"/>
        </p:nvGrpSpPr>
        <p:grpSpPr>
          <a:xfrm rot="0">
            <a:off x="4953000" y="4889500"/>
            <a:ext cx="6223000" cy="1397000"/>
            <a:chOff x="7800" y="7700"/>
            <a:chExt cx="9800" cy="2200"/>
          </a:xfrm>
        </p:grpSpPr>
        <p:sp>
          <p:nvSpPr>
            <p:cNvPr id="468" name="AutoShape 12"/>
            <p:cNvSpPr/>
            <p:nvPr/>
          </p:nvSpPr>
          <p:spPr>
            <a:xfrm>
              <a:off x="7800" y="7700"/>
              <a:ext cx="9800" cy="2200"/>
            </a:xfrm>
            <a:prstGeom prst="roundRect">
              <a:avLst>
                <a:gd name="adj" fmla="val 7272"/>
              </a:avLst>
            </a:prstGeom>
            <a:solidFill>
              <a:srgbClr val="9C5C38">
                <a:alpha val="6000"/>
              </a:srgbClr>
            </a:solidFill>
            <a:ln w="12700">
              <a:solidFill>
                <a:srgbClr val="9C5C38">
                  <a:alpha val="20000"/>
                </a:srgbClr>
              </a:solidFill>
            </a:ln>
          </p:spPr>
          <p:txBody>
            <a:bodyPr lIns="0" tIns="0" rIns="0" bIns="0" anchor="ctr"/>
            <a:lstStyle/>
            <a:p>
              <a:pPr algn="ctr"/>
            </a:p>
          </p:txBody>
        </p:sp>
        <p:sp>
          <p:nvSpPr>
            <p:cNvPr id="469" name="AutoShape 13"/>
            <p:cNvSpPr txBox="1"/>
            <p:nvPr/>
          </p:nvSpPr>
          <p:spPr>
            <a:xfrm>
              <a:off x="8200" y="8158"/>
              <a:ext cx="9000" cy="1303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/>
            <a:p>
              <a:pPr>
                <a:lnSpc>
                  <a:spcPct val="142000"/>
                </a:lnSpc>
                <a:defRPr sz="1300" b="1">
                  <a:solidFill>
                    <a:srgbClr val="9C5C38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pPr>
              <a:r>
                <a:t>"企业要标准、政府不要管控"</a:t>
              </a:r>
              <a:endParaRPr sz="1100"/>
            </a:p>
            <a:p>
              <a:pPr>
                <a:lnSpc>
                  <a:spcPct val="133000"/>
                </a:lnSpc>
                <a:defRPr sz="1200">
                  <a:solidFill>
                    <a:srgbClr val="50505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defRPr>
              </a:pPr>
              <a:r>
                <a:t>这种分裂，是理解美国AI治理困境的关键——政府在地缘竞争中想保持领先，企业在真实风险中需要安全底线。</a:t>
              </a:r>
            </a:p>
          </p:txBody>
        </p:sp>
      </p:grpSp>
      <p:sp>
        <p:nvSpPr>
          <p:cNvPr id="470" name="AutoShape 14"/>
          <p:cNvSpPr/>
          <p:nvPr/>
        </p:nvSpPr>
        <p:spPr>
          <a:xfrm>
            <a:off x="1016000" y="6540500"/>
            <a:ext cx="635000" cy="38100"/>
          </a:xfrm>
          <a:prstGeom prst="roundRect">
            <a:avLst>
              <a:gd name="adj" fmla="val 0"/>
            </a:avLst>
          </a:prstGeom>
          <a:solidFill>
            <a:srgbClr val="9C5C38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477" name="AutoShape 5"/>
          <p:cNvSpPr txBox="1"/>
          <p:nvPr/>
        </p:nvSpPr>
        <p:spPr>
          <a:xfrm>
            <a:off x="-8020685" y="2159000"/>
            <a:ext cx="7112000" cy="2159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200">
                <a:solidFill>
                  <a:srgbClr val="786E64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发言人：中国常驻联合国代表 傅聪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-8020685" y="2597150"/>
            <a:ext cx="7112000" cy="1365250"/>
            <a:chOff x="-12631" y="4090"/>
            <a:chExt cx="11200" cy="2150"/>
          </a:xfrm>
        </p:grpSpPr>
        <p:sp>
          <p:nvSpPr>
            <p:cNvPr id="478" name="AutoShape 6"/>
            <p:cNvSpPr txBox="1"/>
            <p:nvPr/>
          </p:nvSpPr>
          <p:spPr>
            <a:xfrm>
              <a:off x="-12631" y="4090"/>
              <a:ext cx="11200" cy="44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1600" b="1">
                  <a:solidFill>
                    <a:srgbClr val="9C5C38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第一，尊重数字主权</a:t>
              </a:r>
            </a:p>
          </p:txBody>
        </p:sp>
        <p:sp>
          <p:nvSpPr>
            <p:cNvPr id="479" name="AutoShape 7"/>
            <p:cNvSpPr txBox="1"/>
            <p:nvPr/>
          </p:nvSpPr>
          <p:spPr>
            <a:xfrm>
              <a:off x="-12631" y="4920"/>
              <a:ext cx="11200" cy="132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33000"/>
                </a:lnSpc>
                <a:defRPr sz="1300">
                  <a:solidFill>
                    <a:srgbClr val="464646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defRPr>
              </a:lvl1pPr>
            </a:lstStyle>
            <a:p>
              <a:r>
                <a:t>各国有权根据实际需要和市场规律，自主选择AI技术、产品和服务。拼凑排他性"小圈子"、强迫选边站队，实质是将科技问题政治化、工具化，服务于个别大国垄断技术优势、谋求数字霸权的企图。</a:t>
              </a:r>
            </a:p>
          </p:txBody>
        </p:sp>
      </p:grpSp>
      <p:sp>
        <p:nvSpPr>
          <p:cNvPr id="480" name="Connector 8"/>
          <p:cNvSpPr/>
          <p:nvPr/>
        </p:nvSpPr>
        <p:spPr>
          <a:xfrm>
            <a:off x="-11186160" y="4293235"/>
            <a:ext cx="7112000" cy="0"/>
          </a:xfrm>
          <a:prstGeom prst="line">
            <a:avLst/>
          </a:prstGeom>
          <a:ln w="12700">
            <a:solidFill>
              <a:srgbClr val="9C5C38">
                <a:alpha val="15000"/>
              </a:srgbClr>
            </a:solidFill>
          </a:ln>
        </p:spPr>
        <p:txBody>
          <a:bodyPr lIns="0" tIns="0" rIns="0" bIns="0"/>
          <a:lstStyle/>
          <a:p/>
        </p:txBody>
      </p:sp>
      <p:grpSp>
        <p:nvGrpSpPr>
          <p:cNvPr id="9" name="组合 8"/>
          <p:cNvGrpSpPr/>
          <p:nvPr/>
        </p:nvGrpSpPr>
        <p:grpSpPr>
          <a:xfrm>
            <a:off x="-12337415" y="4535805"/>
            <a:ext cx="7112000" cy="1308100"/>
            <a:chOff x="-12631" y="7090"/>
            <a:chExt cx="11200" cy="2060"/>
          </a:xfrm>
        </p:grpSpPr>
        <p:sp>
          <p:nvSpPr>
            <p:cNvPr id="481" name="AutoShape 9"/>
            <p:cNvSpPr txBox="1"/>
            <p:nvPr/>
          </p:nvSpPr>
          <p:spPr>
            <a:xfrm>
              <a:off x="-12631" y="7090"/>
              <a:ext cx="11200" cy="44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1600" b="1">
                  <a:solidFill>
                    <a:srgbClr val="9C5C38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第二，确保安全可控</a:t>
              </a:r>
            </a:p>
          </p:txBody>
        </p:sp>
        <p:sp>
          <p:nvSpPr>
            <p:cNvPr id="482" name="AutoShape 10"/>
            <p:cNvSpPr txBox="1"/>
            <p:nvPr/>
          </p:nvSpPr>
          <p:spPr>
            <a:xfrm>
              <a:off x="-12631" y="8310"/>
              <a:ext cx="11200" cy="84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33000"/>
                </a:lnSpc>
                <a:defRPr sz="1300">
                  <a:solidFill>
                    <a:srgbClr val="464646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defRPr>
              </a:lvl1pPr>
            </a:lstStyle>
            <a:p>
              <a:r>
                <a:t>AI研发应用须符合联合国宪章宗旨和原则；坚决打击恐怖组织、极端势力和跨国犯罪集团恶用滥用AI；军事领域AI应用谨慎负责，确保人类始终掌握最终决策权。</a:t>
              </a:r>
            </a:p>
          </p:txBody>
        </p:sp>
      </p:grpSp>
      <p:sp>
        <p:nvSpPr>
          <p:cNvPr id="443" name="AutoShape 3"/>
          <p:cNvSpPr txBox="1"/>
          <p:nvPr/>
        </p:nvSpPr>
        <p:spPr>
          <a:xfrm>
            <a:off x="1055370" y="-835026"/>
            <a:ext cx="10160000" cy="4699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2600" b="1">
                <a:solidFill>
                  <a:srgbClr val="2B2B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联合国：紧急呼吁全球管控</a:t>
            </a:r>
          </a:p>
        </p:txBody>
      </p:sp>
      <p:sp>
        <p:nvSpPr>
          <p:cNvPr id="475" name="AutoShape 3"/>
          <p:cNvSpPr txBox="1"/>
          <p:nvPr/>
        </p:nvSpPr>
        <p:spPr>
          <a:xfrm>
            <a:off x="-10321290" y="1257299"/>
            <a:ext cx="10160000" cy="4699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2600" b="1">
                <a:solidFill>
                  <a:srgbClr val="2B2B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中国：反对技术霸权，主张数字主权</a:t>
            </a:r>
          </a:p>
        </p:txBody>
      </p:sp>
      <p:pic>
        <p:nvPicPr>
          <p:cNvPr id="450" name="Picture 10" descr="Picture 10"/>
          <p:cNvPicPr>
            <a:picLocks noChangeAspect="1"/>
          </p:cNvPicPr>
          <p:nvPr/>
        </p:nvPicPr>
        <p:blipFill>
          <a:blip r:embed="rId2"/>
          <a:srcRect l="3124" r="3125"/>
          <a:stretch>
            <a:fillRect/>
          </a:stretch>
        </p:blipFill>
        <p:spPr>
          <a:xfrm>
            <a:off x="12792709" y="2222500"/>
            <a:ext cx="3429001" cy="2286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960"/>
                </a:moveTo>
                <a:lnTo>
                  <a:pt x="21600" y="20640"/>
                </a:lnTo>
                <a:cubicBezTo>
                  <a:pt x="21600" y="21170"/>
                  <a:pt x="21313" y="21600"/>
                  <a:pt x="20960" y="21600"/>
                </a:cubicBezTo>
                <a:lnTo>
                  <a:pt x="640" y="21600"/>
                </a:lnTo>
                <a:cubicBezTo>
                  <a:pt x="287" y="21600"/>
                  <a:pt x="0" y="21170"/>
                  <a:pt x="0" y="20640"/>
                </a:cubicBezTo>
                <a:lnTo>
                  <a:pt x="0" y="960"/>
                </a:lnTo>
                <a:lnTo>
                  <a:pt x="3" y="862"/>
                </a:lnTo>
                <a:cubicBezTo>
                  <a:pt x="36" y="378"/>
                  <a:pt x="309" y="0"/>
                  <a:pt x="640" y="0"/>
                </a:cubicBezTo>
                <a:lnTo>
                  <a:pt x="20960" y="0"/>
                </a:lnTo>
                <a:cubicBezTo>
                  <a:pt x="21313" y="0"/>
                  <a:pt x="21600" y="430"/>
                  <a:pt x="21600" y="960"/>
                </a:cubicBezTo>
                <a:close/>
              </a:path>
            </a:pathLst>
          </a:custGeom>
          <a:ln w="12700">
            <a:miter lim="400000"/>
            <a:headEnd/>
            <a:tailEnd/>
          </a:ln>
        </p:spPr>
      </p:pic>
      <p:grpSp>
        <p:nvGrpSpPr>
          <p:cNvPr id="10" name="组合 9"/>
          <p:cNvGrpSpPr/>
          <p:nvPr/>
        </p:nvGrpSpPr>
        <p:grpSpPr>
          <a:xfrm>
            <a:off x="14448790" y="4699000"/>
            <a:ext cx="3429000" cy="1397000"/>
            <a:chOff x="12200" y="7400"/>
            <a:chExt cx="5400" cy="2200"/>
          </a:xfrm>
        </p:grpSpPr>
        <p:sp>
          <p:nvSpPr>
            <p:cNvPr id="451" name="AutoShape 11"/>
            <p:cNvSpPr/>
            <p:nvPr/>
          </p:nvSpPr>
          <p:spPr>
            <a:xfrm>
              <a:off x="12200" y="7400"/>
              <a:ext cx="5400" cy="2200"/>
            </a:xfrm>
            <a:prstGeom prst="roundRect">
              <a:avLst>
                <a:gd name="adj" fmla="val 7272"/>
              </a:avLst>
            </a:prstGeom>
            <a:solidFill>
              <a:srgbClr val="9C5C38">
                <a:alpha val="8000"/>
              </a:srgbClr>
            </a:solidFill>
            <a:ln w="12700">
              <a:solidFill>
                <a:srgbClr val="9C5C38">
                  <a:alpha val="30000"/>
                </a:srgbClr>
              </a:solidFill>
            </a:ln>
          </p:spPr>
          <p:txBody>
            <a:bodyPr lIns="0" tIns="0" rIns="0" bIns="0" anchor="ctr"/>
            <a:lstStyle/>
            <a:p>
              <a:pPr algn="ctr"/>
            </a:p>
          </p:txBody>
        </p:sp>
        <p:sp>
          <p:nvSpPr>
            <p:cNvPr id="452" name="AutoShape 12"/>
            <p:cNvSpPr txBox="1"/>
            <p:nvPr/>
          </p:nvSpPr>
          <p:spPr>
            <a:xfrm>
              <a:off x="12500" y="7940"/>
              <a:ext cx="4800" cy="120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/>
            <a:p>
              <a:pPr>
                <a:lnSpc>
                  <a:spcPct val="133000"/>
                </a:lnSpc>
                <a:defRPr sz="1200" b="1">
                  <a:solidFill>
                    <a:srgbClr val="9C5C38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pPr>
              <a:r>
                <a:t>联合国的角色</a:t>
              </a:r>
              <a:endParaRPr sz="1100"/>
            </a:p>
            <a:p>
              <a:pPr>
                <a:lnSpc>
                  <a:spcPct val="133000"/>
                </a:lnSpc>
                <a:defRPr sz="1100">
                  <a:solidFill>
                    <a:srgbClr val="3C3C3C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defRPr>
              </a:pPr>
              <a:r>
                <a:t>安理会是维护国际和平与安全的核心机构。AI风险跨境传播，唯有多边框架才能有效应对。</a:t>
              </a: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-17881600" y="2222500"/>
            <a:ext cx="6350000" cy="1181100"/>
            <a:chOff x="1600" y="3570"/>
            <a:chExt cx="10000" cy="1860"/>
          </a:xfrm>
        </p:grpSpPr>
        <p:sp>
          <p:nvSpPr>
            <p:cNvPr id="445" name="AutoShape 5"/>
            <p:cNvSpPr txBox="1"/>
            <p:nvPr/>
          </p:nvSpPr>
          <p:spPr>
            <a:xfrm>
              <a:off x="1600" y="3570"/>
              <a:ext cx="10000" cy="42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1500" b="1">
                  <a:solidFill>
                    <a:srgbClr val="2B2B2B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秘书长古特雷斯：建立多边AI风险管理框架</a:t>
              </a:r>
            </a:p>
          </p:txBody>
        </p:sp>
        <p:sp>
          <p:nvSpPr>
            <p:cNvPr id="446" name="AutoShape 6"/>
            <p:cNvSpPr txBox="1"/>
            <p:nvPr/>
          </p:nvSpPr>
          <p:spPr>
            <a:xfrm>
              <a:off x="1600" y="4590"/>
              <a:ext cx="10000" cy="84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33000"/>
                </a:lnSpc>
                <a:defRPr sz="1300">
                  <a:solidFill>
                    <a:srgbClr val="5A5A5A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要求技术领先国家"分享新兴安全风险信息，在测试与评估上合作，制定保护所有人的共同保障措施"。</a:t>
              </a:r>
            </a:p>
          </p:txBody>
        </p:sp>
      </p:grpSp>
      <p:grpSp>
        <p:nvGrpSpPr>
          <p:cNvPr id="14" name="组合 13"/>
          <p:cNvGrpSpPr/>
          <p:nvPr userDrawn="1"/>
        </p:nvGrpSpPr>
        <p:grpSpPr>
          <a:xfrm>
            <a:off x="-11531600" y="4074795"/>
            <a:ext cx="6350000" cy="1339850"/>
            <a:chOff x="1600" y="6470"/>
            <a:chExt cx="10000" cy="2110"/>
          </a:xfrm>
        </p:grpSpPr>
        <p:sp>
          <p:nvSpPr>
            <p:cNvPr id="448" name="AutoShape 8"/>
            <p:cNvSpPr txBox="1"/>
            <p:nvPr/>
          </p:nvSpPr>
          <p:spPr>
            <a:xfrm>
              <a:off x="1600" y="6470"/>
              <a:ext cx="10000" cy="42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1500" b="1">
                  <a:solidFill>
                    <a:srgbClr val="2B2B2B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图灵奖得主本乔：更直接的警告</a:t>
              </a:r>
            </a:p>
          </p:txBody>
        </p:sp>
        <p:sp>
          <p:nvSpPr>
            <p:cNvPr id="449" name="AutoShape 9"/>
            <p:cNvSpPr txBox="1"/>
            <p:nvPr/>
          </p:nvSpPr>
          <p:spPr>
            <a:xfrm>
              <a:off x="1600" y="7740"/>
              <a:ext cx="10000" cy="84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33000"/>
                </a:lnSpc>
                <a:defRPr sz="1300">
                  <a:solidFill>
                    <a:srgbClr val="5A5A5A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"部分领先公司的AI已表现出违背指令、试图逃避检测的危险行为——前沿AI风险是全球性的，不可能由单个国家遏制。"</a:t>
              </a:r>
            </a:p>
          </p:txBody>
        </p:sp>
      </p:grpSp>
      <p:sp>
        <p:nvSpPr>
          <p:cNvPr id="447" name="Connector 7"/>
          <p:cNvSpPr/>
          <p:nvPr/>
        </p:nvSpPr>
        <p:spPr>
          <a:xfrm>
            <a:off x="-16442691" y="3788410"/>
            <a:ext cx="6350014" cy="0"/>
          </a:xfrm>
          <a:prstGeom prst="line">
            <a:avLst/>
          </a:prstGeom>
          <a:ln w="12700">
            <a:solidFill>
              <a:srgbClr val="9C5C38">
                <a:alpha val="20000"/>
              </a:srgbClr>
            </a:solidFill>
          </a:ln>
        </p:spPr>
        <p:txBody>
          <a:bodyPr lIns="0" tIns="0" rIns="0" bIns="0"/>
          <a:lstStyle/>
          <a:p/>
        </p:txBody>
      </p:sp>
      <p:pic>
        <p:nvPicPr>
          <p:cNvPr id="11" name="Picture 11" descr="Picture 11"/>
          <p:cNvPicPr>
            <a:picLocks noChangeAspect="1"/>
          </p:cNvPicPr>
          <p:nvPr/>
        </p:nvPicPr>
        <p:blipFill>
          <a:blip r:embed="rId3"/>
          <a:srcRect l="780" r="780"/>
          <a:stretch>
            <a:fillRect/>
          </a:stretch>
        </p:blipFill>
        <p:spPr>
          <a:xfrm>
            <a:off x="18434685" y="2132330"/>
            <a:ext cx="2667000" cy="1524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440"/>
                </a:moveTo>
                <a:lnTo>
                  <a:pt x="21600" y="20160"/>
                </a:lnTo>
                <a:cubicBezTo>
                  <a:pt x="21600" y="20955"/>
                  <a:pt x="21232" y="21600"/>
                  <a:pt x="20777" y="21600"/>
                </a:cubicBezTo>
                <a:lnTo>
                  <a:pt x="823" y="21600"/>
                </a:lnTo>
                <a:cubicBezTo>
                  <a:pt x="368" y="21600"/>
                  <a:pt x="0" y="20955"/>
                  <a:pt x="0" y="20160"/>
                </a:cubicBezTo>
                <a:lnTo>
                  <a:pt x="0" y="1440"/>
                </a:lnTo>
                <a:lnTo>
                  <a:pt x="4" y="1293"/>
                </a:lnTo>
                <a:cubicBezTo>
                  <a:pt x="46" y="567"/>
                  <a:pt x="397" y="0"/>
                  <a:pt x="823" y="0"/>
                </a:cubicBezTo>
                <a:lnTo>
                  <a:pt x="20777" y="0"/>
                </a:lnTo>
                <a:cubicBezTo>
                  <a:pt x="21232" y="0"/>
                  <a:pt x="21600" y="645"/>
                  <a:pt x="21600" y="1440"/>
                </a:cubicBezTo>
                <a:close/>
              </a:path>
            </a:pathLst>
          </a:custGeom>
          <a:ln w="12700">
            <a:miter lim="400000"/>
            <a:headEnd/>
            <a:tailEnd/>
          </a:ln>
        </p:spPr>
      </p:pic>
      <p:grpSp>
        <p:nvGrpSpPr>
          <p:cNvPr id="12" name="组合 11"/>
          <p:cNvGrpSpPr/>
          <p:nvPr/>
        </p:nvGrpSpPr>
        <p:grpSpPr>
          <a:xfrm>
            <a:off x="13754100" y="3924935"/>
            <a:ext cx="2667000" cy="2286000"/>
            <a:chOff x="13400" y="6100"/>
            <a:chExt cx="4200" cy="3600"/>
          </a:xfrm>
        </p:grpSpPr>
        <p:sp>
          <p:nvSpPr>
            <p:cNvPr id="13" name="AutoShape 12"/>
            <p:cNvSpPr/>
            <p:nvPr/>
          </p:nvSpPr>
          <p:spPr>
            <a:xfrm>
              <a:off x="13400" y="6100"/>
              <a:ext cx="4200" cy="3600"/>
            </a:xfrm>
            <a:prstGeom prst="roundRect">
              <a:avLst>
                <a:gd name="adj" fmla="val 4444"/>
              </a:avLst>
            </a:prstGeom>
            <a:solidFill>
              <a:srgbClr val="9C5C38">
                <a:alpha val="8000"/>
              </a:srgbClr>
            </a:solidFill>
            <a:ln w="12700">
              <a:solidFill>
                <a:srgbClr val="9C5C38">
                  <a:alpha val="30000"/>
                </a:srgbClr>
              </a:solidFill>
            </a:ln>
          </p:spPr>
          <p:txBody>
            <a:bodyPr lIns="0" tIns="0" rIns="0" bIns="0" anchor="ctr"/>
            <a:lstStyle/>
            <a:p>
              <a:pPr algn="ctr"/>
            </a:p>
          </p:txBody>
        </p:sp>
        <p:sp>
          <p:nvSpPr>
            <p:cNvPr id="16" name="AutoShape 13"/>
            <p:cNvSpPr txBox="1"/>
            <p:nvPr/>
          </p:nvSpPr>
          <p:spPr>
            <a:xfrm>
              <a:off x="13700" y="7133"/>
              <a:ext cx="3600" cy="1655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/>
            <a:p>
              <a:pPr>
                <a:lnSpc>
                  <a:spcPct val="142000"/>
                </a:lnSpc>
                <a:defRPr sz="1200" b="1">
                  <a:solidFill>
                    <a:srgbClr val="9C5C38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pPr>
              <a:r>
                <a:t>中国立场核心</a:t>
              </a:r>
              <a:endParaRPr sz="1100"/>
            </a:p>
            <a:p>
              <a:pPr>
                <a:lnSpc>
                  <a:spcPct val="133000"/>
                </a:lnSpc>
                <a:defRPr sz="1100">
                  <a:solidFill>
                    <a:srgbClr val="464646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defRPr>
              </a:pPr>
              <a:r>
                <a:t>以联合国宪章为基础，坚持多边主义，反对霸权霸凌，主张AI成果由全人类共享。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AutoShape 2"/>
          <p:cNvSpPr txBox="1"/>
          <p:nvPr/>
        </p:nvSpPr>
        <p:spPr>
          <a:xfrm>
            <a:off x="983615" y="703898"/>
            <a:ext cx="6350000" cy="23050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200">
                <a:solidFill>
                  <a:srgbClr val="9C5C3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第三章 · 各方立场 ·</a:t>
            </a:r>
            <a:r>
              <a:rPr b="1">
                <a:solidFill>
                  <a:srgbClr val="FF0000"/>
                </a:solidFill>
              </a:rPr>
              <a:t> </a:t>
            </a:r>
            <a:r>
              <a:rPr b="1">
                <a:solidFill>
                  <a:srgbClr val="FF0000"/>
                </a:solidFill>
                <a:highlight>
                  <a:srgbClr val="FFFF00"/>
                </a:highlight>
              </a:rPr>
              <a:t>重点</a:t>
            </a:r>
            <a:endParaRPr b="1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475" name="AutoShape 3"/>
          <p:cNvSpPr txBox="1"/>
          <p:nvPr/>
        </p:nvSpPr>
        <p:spPr>
          <a:xfrm>
            <a:off x="1016000" y="1130299"/>
            <a:ext cx="10160000" cy="4699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2600" b="1">
                <a:solidFill>
                  <a:srgbClr val="2B2B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中国：反对技术霸权，主张数字主权</a:t>
            </a:r>
          </a:p>
        </p:txBody>
      </p:sp>
      <p:sp>
        <p:nvSpPr>
          <p:cNvPr id="476" name="Connector 4"/>
          <p:cNvSpPr/>
          <p:nvPr/>
        </p:nvSpPr>
        <p:spPr>
          <a:xfrm>
            <a:off x="1015999" y="1803400"/>
            <a:ext cx="508319" cy="0"/>
          </a:xfrm>
          <a:prstGeom prst="line">
            <a:avLst/>
          </a:prstGeom>
          <a:ln w="25400">
            <a:solidFill>
              <a:srgbClr val="9C5C38"/>
            </a:solidFill>
          </a:ln>
        </p:spPr>
        <p:txBody>
          <a:bodyPr lIns="0" tIns="0" rIns="0" bIns="0"/>
          <a:lstStyle/>
          <a:p/>
        </p:txBody>
      </p:sp>
      <p:sp>
        <p:nvSpPr>
          <p:cNvPr id="477" name="AutoShape 5"/>
          <p:cNvSpPr txBox="1"/>
          <p:nvPr/>
        </p:nvSpPr>
        <p:spPr>
          <a:xfrm>
            <a:off x="1016000" y="2139950"/>
            <a:ext cx="7112000" cy="2159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200">
                <a:solidFill>
                  <a:srgbClr val="786E64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发言人：中国常驻联合国代表 傅聪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1016000" y="2578100"/>
            <a:ext cx="7112000" cy="1365250"/>
            <a:chOff x="1600" y="4060"/>
            <a:chExt cx="11200" cy="2150"/>
          </a:xfrm>
        </p:grpSpPr>
        <p:sp>
          <p:nvSpPr>
            <p:cNvPr id="478" name="AutoShape 6"/>
            <p:cNvSpPr txBox="1"/>
            <p:nvPr/>
          </p:nvSpPr>
          <p:spPr>
            <a:xfrm>
              <a:off x="1600" y="4060"/>
              <a:ext cx="11200" cy="44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1600" b="1">
                  <a:solidFill>
                    <a:srgbClr val="9C5C38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第一，尊重数字主权</a:t>
              </a:r>
            </a:p>
          </p:txBody>
        </p:sp>
        <p:sp>
          <p:nvSpPr>
            <p:cNvPr id="479" name="AutoShape 7"/>
            <p:cNvSpPr txBox="1"/>
            <p:nvPr/>
          </p:nvSpPr>
          <p:spPr>
            <a:xfrm>
              <a:off x="1600" y="4890"/>
              <a:ext cx="11200" cy="132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33000"/>
                </a:lnSpc>
                <a:defRPr sz="1300">
                  <a:solidFill>
                    <a:srgbClr val="464646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defRPr>
              </a:lvl1pPr>
            </a:lstStyle>
            <a:p>
              <a:r>
                <a:t>各国有权根据实际需要和市场规律，自主选择AI技术、产品和服务。拼凑排他性"小圈子"、强迫选边站队，实质是将科技问题政治化、工具化，服务于个别大国垄断技术优势、谋求数字霸权的企图。</a:t>
              </a:r>
            </a:p>
          </p:txBody>
        </p:sp>
      </p:grpSp>
      <p:sp>
        <p:nvSpPr>
          <p:cNvPr id="480" name="Connector 8"/>
          <p:cNvSpPr/>
          <p:nvPr/>
        </p:nvSpPr>
        <p:spPr>
          <a:xfrm>
            <a:off x="1016000" y="4254500"/>
            <a:ext cx="7112000" cy="0"/>
          </a:xfrm>
          <a:prstGeom prst="line">
            <a:avLst/>
          </a:prstGeom>
          <a:ln w="12700">
            <a:solidFill>
              <a:srgbClr val="9C5C38">
                <a:alpha val="15000"/>
              </a:srgbClr>
            </a:solidFill>
          </a:ln>
        </p:spPr>
        <p:txBody>
          <a:bodyPr lIns="0" tIns="0" rIns="0" bIns="0"/>
          <a:lstStyle/>
          <a:p/>
        </p:txBody>
      </p:sp>
      <p:grpSp>
        <p:nvGrpSpPr>
          <p:cNvPr id="10" name="组合 9"/>
          <p:cNvGrpSpPr/>
          <p:nvPr/>
        </p:nvGrpSpPr>
        <p:grpSpPr>
          <a:xfrm>
            <a:off x="1016000" y="4483100"/>
            <a:ext cx="7112000" cy="1308100"/>
            <a:chOff x="1600" y="7060"/>
            <a:chExt cx="11200" cy="2060"/>
          </a:xfrm>
        </p:grpSpPr>
        <p:sp>
          <p:nvSpPr>
            <p:cNvPr id="481" name="AutoShape 9"/>
            <p:cNvSpPr txBox="1"/>
            <p:nvPr/>
          </p:nvSpPr>
          <p:spPr>
            <a:xfrm>
              <a:off x="1600" y="7060"/>
              <a:ext cx="11200" cy="44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1600" b="1">
                  <a:solidFill>
                    <a:srgbClr val="9C5C38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第二，确保安全可控</a:t>
              </a:r>
            </a:p>
          </p:txBody>
        </p:sp>
        <p:sp>
          <p:nvSpPr>
            <p:cNvPr id="482" name="AutoShape 10"/>
            <p:cNvSpPr txBox="1"/>
            <p:nvPr/>
          </p:nvSpPr>
          <p:spPr>
            <a:xfrm>
              <a:off x="1600" y="8280"/>
              <a:ext cx="11200" cy="84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33000"/>
                </a:lnSpc>
                <a:defRPr sz="1300">
                  <a:solidFill>
                    <a:srgbClr val="464646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defRPr>
              </a:lvl1pPr>
            </a:lstStyle>
            <a:p>
              <a:r>
                <a:t>AI研发应用须符合联合国宪章宗旨和原则；坚决打击恐怖组织、极端势力和跨国犯罪集团恶用滥用AI；军事领域AI应用谨慎负责，确保人类始终掌握最终决策权。</a:t>
              </a:r>
            </a:p>
          </p:txBody>
        </p:sp>
      </p:grpSp>
      <p:pic>
        <p:nvPicPr>
          <p:cNvPr id="483" name="Picture 11" descr="Picture 11"/>
          <p:cNvPicPr>
            <a:picLocks noChangeAspect="1"/>
          </p:cNvPicPr>
          <p:nvPr/>
        </p:nvPicPr>
        <p:blipFill>
          <a:blip r:embed="rId1"/>
          <a:srcRect l="780" r="780"/>
          <a:stretch>
            <a:fillRect/>
          </a:stretch>
        </p:blipFill>
        <p:spPr>
          <a:xfrm>
            <a:off x="8509000" y="2159000"/>
            <a:ext cx="2667000" cy="1524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440"/>
                </a:moveTo>
                <a:lnTo>
                  <a:pt x="21600" y="20160"/>
                </a:lnTo>
                <a:cubicBezTo>
                  <a:pt x="21600" y="20955"/>
                  <a:pt x="21232" y="21600"/>
                  <a:pt x="20777" y="21600"/>
                </a:cubicBezTo>
                <a:lnTo>
                  <a:pt x="823" y="21600"/>
                </a:lnTo>
                <a:cubicBezTo>
                  <a:pt x="368" y="21600"/>
                  <a:pt x="0" y="20955"/>
                  <a:pt x="0" y="20160"/>
                </a:cubicBezTo>
                <a:lnTo>
                  <a:pt x="0" y="1440"/>
                </a:lnTo>
                <a:lnTo>
                  <a:pt x="4" y="1293"/>
                </a:lnTo>
                <a:cubicBezTo>
                  <a:pt x="46" y="567"/>
                  <a:pt x="397" y="0"/>
                  <a:pt x="823" y="0"/>
                </a:cubicBezTo>
                <a:lnTo>
                  <a:pt x="20777" y="0"/>
                </a:lnTo>
                <a:cubicBezTo>
                  <a:pt x="21232" y="0"/>
                  <a:pt x="21600" y="645"/>
                  <a:pt x="21600" y="1440"/>
                </a:cubicBezTo>
                <a:close/>
              </a:path>
            </a:pathLst>
          </a:custGeom>
          <a:ln w="12700">
            <a:miter lim="400000"/>
            <a:headEnd/>
            <a:tailEnd/>
          </a:ln>
        </p:spPr>
      </p:pic>
      <p:grpSp>
        <p:nvGrpSpPr>
          <p:cNvPr id="11" name="组合 10"/>
          <p:cNvGrpSpPr/>
          <p:nvPr/>
        </p:nvGrpSpPr>
        <p:grpSpPr>
          <a:xfrm>
            <a:off x="8509000" y="3873500"/>
            <a:ext cx="2667000" cy="2286000"/>
            <a:chOff x="13400" y="6100"/>
            <a:chExt cx="4200" cy="3600"/>
          </a:xfrm>
        </p:grpSpPr>
        <p:sp>
          <p:nvSpPr>
            <p:cNvPr id="484" name="AutoShape 12"/>
            <p:cNvSpPr/>
            <p:nvPr/>
          </p:nvSpPr>
          <p:spPr>
            <a:xfrm>
              <a:off x="13400" y="6100"/>
              <a:ext cx="4200" cy="3600"/>
            </a:xfrm>
            <a:prstGeom prst="roundRect">
              <a:avLst>
                <a:gd name="adj" fmla="val 4444"/>
              </a:avLst>
            </a:prstGeom>
            <a:solidFill>
              <a:srgbClr val="9C5C38">
                <a:alpha val="8000"/>
              </a:srgbClr>
            </a:solidFill>
            <a:ln w="12700">
              <a:solidFill>
                <a:srgbClr val="9C5C38">
                  <a:alpha val="30000"/>
                </a:srgbClr>
              </a:solidFill>
            </a:ln>
          </p:spPr>
          <p:txBody>
            <a:bodyPr lIns="0" tIns="0" rIns="0" bIns="0" anchor="ctr"/>
            <a:lstStyle/>
            <a:p>
              <a:pPr algn="ctr"/>
            </a:p>
          </p:txBody>
        </p:sp>
        <p:sp>
          <p:nvSpPr>
            <p:cNvPr id="485" name="AutoShape 13"/>
            <p:cNvSpPr txBox="1"/>
            <p:nvPr/>
          </p:nvSpPr>
          <p:spPr>
            <a:xfrm>
              <a:off x="13700" y="7133"/>
              <a:ext cx="3600" cy="1655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/>
            <a:p>
              <a:pPr>
                <a:lnSpc>
                  <a:spcPct val="142000"/>
                </a:lnSpc>
                <a:defRPr sz="1200" b="1">
                  <a:solidFill>
                    <a:srgbClr val="9C5C38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pPr>
              <a:r>
                <a:t>中国立场核心</a:t>
              </a:r>
              <a:endParaRPr sz="1100"/>
            </a:p>
            <a:p>
              <a:pPr>
                <a:lnSpc>
                  <a:spcPct val="133000"/>
                </a:lnSpc>
                <a:defRPr sz="1100">
                  <a:solidFill>
                    <a:srgbClr val="464646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defRPr>
              </a:pPr>
              <a:r>
                <a:t>以联合国宪章为基础，坚持多边主义，反对霸权霸凌，主张AI成果由全人类共享。</a:t>
              </a:r>
            </a:p>
          </p:txBody>
        </p:sp>
      </p:grpSp>
      <p:sp>
        <p:nvSpPr>
          <p:cNvPr id="486" name="AutoShape 14"/>
          <p:cNvSpPr/>
          <p:nvPr/>
        </p:nvSpPr>
        <p:spPr>
          <a:xfrm>
            <a:off x="1016000" y="6540500"/>
            <a:ext cx="635000" cy="38100"/>
          </a:xfrm>
          <a:prstGeom prst="roundRect">
            <a:avLst>
              <a:gd name="adj" fmla="val 0"/>
            </a:avLst>
          </a:prstGeom>
          <a:solidFill>
            <a:srgbClr val="9C5C38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493" name="AutoShape 5"/>
          <p:cNvSpPr/>
          <p:nvPr/>
        </p:nvSpPr>
        <p:spPr>
          <a:xfrm>
            <a:off x="-10620296" y="1659176"/>
            <a:ext cx="10160000" cy="698500"/>
          </a:xfrm>
          <a:prstGeom prst="roundRect">
            <a:avLst>
              <a:gd name="adj" fmla="val 14545"/>
            </a:avLst>
          </a:prstGeom>
          <a:solidFill>
            <a:srgbClr val="9C5C38">
              <a:alpha val="800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494" name="AutoShape 6"/>
          <p:cNvSpPr txBox="1"/>
          <p:nvPr/>
        </p:nvSpPr>
        <p:spPr>
          <a:xfrm>
            <a:off x="-10366296" y="1906826"/>
            <a:ext cx="9652000" cy="2667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17000"/>
              </a:lnSpc>
              <a:defRPr sz="1500" b="1">
                <a:solidFill>
                  <a:srgbClr val="9C5C3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"人工智能是全人类的共同财富，不应沦为'富国和富人的游戏'。"</a:t>
            </a:r>
          </a:p>
        </p:txBody>
      </p:sp>
      <p:pic>
        <p:nvPicPr>
          <p:cNvPr id="495" name="Picture 7" descr="Picture 7"/>
          <p:cNvPicPr>
            <a:picLocks noChangeAspect="1"/>
          </p:cNvPicPr>
          <p:nvPr/>
        </p:nvPicPr>
        <p:blipFill>
          <a:blip r:embed="rId2"/>
          <a:srcRect l="749" r="750"/>
          <a:stretch>
            <a:fillRect/>
          </a:stretch>
        </p:blipFill>
        <p:spPr>
          <a:xfrm>
            <a:off x="-7036117" y="2690813"/>
            <a:ext cx="4826000" cy="2476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886"/>
                </a:moveTo>
                <a:lnTo>
                  <a:pt x="21600" y="20714"/>
                </a:lnTo>
                <a:cubicBezTo>
                  <a:pt x="21600" y="21203"/>
                  <a:pt x="21396" y="21600"/>
                  <a:pt x="21145" y="21600"/>
                </a:cubicBezTo>
                <a:lnTo>
                  <a:pt x="455" y="21600"/>
                </a:lnTo>
                <a:cubicBezTo>
                  <a:pt x="204" y="21600"/>
                  <a:pt x="0" y="21203"/>
                  <a:pt x="0" y="20714"/>
                </a:cubicBezTo>
                <a:lnTo>
                  <a:pt x="0" y="886"/>
                </a:lnTo>
                <a:lnTo>
                  <a:pt x="2" y="795"/>
                </a:lnTo>
                <a:cubicBezTo>
                  <a:pt x="26" y="349"/>
                  <a:pt x="219" y="0"/>
                  <a:pt x="455" y="0"/>
                </a:cubicBezTo>
                <a:lnTo>
                  <a:pt x="21145" y="0"/>
                </a:lnTo>
                <a:cubicBezTo>
                  <a:pt x="21396" y="0"/>
                  <a:pt x="21600" y="397"/>
                  <a:pt x="21600" y="886"/>
                </a:cubicBezTo>
                <a:close/>
              </a:path>
            </a:pathLst>
          </a:custGeom>
          <a:ln w="12700">
            <a:miter lim="400000"/>
            <a:headEnd/>
            <a:tailEnd/>
          </a:ln>
        </p:spPr>
      </p:pic>
      <p:sp>
        <p:nvSpPr>
          <p:cNvPr id="496" name="AutoShape 8"/>
          <p:cNvSpPr txBox="1"/>
          <p:nvPr/>
        </p:nvSpPr>
        <p:spPr>
          <a:xfrm>
            <a:off x="12561570" y="5320030"/>
            <a:ext cx="4826000" cy="1778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ctr">
              <a:lnSpc>
                <a:spcPct val="125000"/>
              </a:lnSpc>
              <a:defRPr sz="1000">
                <a:solidFill>
                  <a:srgbClr val="8C827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2026世界人工智能大会暨AI全球治理高级别会议在上海开幕</a:t>
            </a:r>
          </a:p>
        </p:txBody>
      </p:sp>
      <p:sp>
        <p:nvSpPr>
          <p:cNvPr id="497" name="AutoShape 9"/>
          <p:cNvSpPr txBox="1"/>
          <p:nvPr/>
        </p:nvSpPr>
        <p:spPr>
          <a:xfrm>
            <a:off x="12561570" y="2747248"/>
            <a:ext cx="4826000" cy="2667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500" b="1">
                <a:solidFill>
                  <a:srgbClr val="9C5C3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务实行动，不只说</a:t>
            </a:r>
          </a:p>
        </p:txBody>
      </p:sp>
      <p:sp>
        <p:nvSpPr>
          <p:cNvPr id="498" name="AutoShape 10"/>
          <p:cNvSpPr txBox="1"/>
          <p:nvPr/>
        </p:nvSpPr>
        <p:spPr>
          <a:xfrm>
            <a:off x="17895570" y="3433445"/>
            <a:ext cx="4826000" cy="52197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42000"/>
              </a:lnSpc>
              <a:defRPr sz="1200">
                <a:solidFill>
                  <a:srgbClr val="4646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defRPr>
            </a:lvl1pPr>
          </a:lstStyle>
          <a:p>
            <a:r>
              <a:t>提出《全球人工智能治理倡议》；推动联大通过AI能力建设合作决议；提出《人工智能能力建设普惠计划》。</a:t>
            </a:r>
          </a:p>
        </p:txBody>
      </p:sp>
      <p:sp>
        <p:nvSpPr>
          <p:cNvPr id="499" name="AutoShape 11"/>
          <p:cNvSpPr/>
          <p:nvPr/>
        </p:nvSpPr>
        <p:spPr>
          <a:xfrm>
            <a:off x="6775133" y="7298055"/>
            <a:ext cx="2286000" cy="1143000"/>
          </a:xfrm>
          <a:prstGeom prst="roundRect">
            <a:avLst>
              <a:gd name="adj" fmla="val 8888"/>
            </a:avLst>
          </a:prstGeom>
          <a:solidFill>
            <a:srgbClr val="9C5C38">
              <a:alpha val="10000"/>
            </a:srgbClr>
          </a:solidFill>
          <a:ln w="12700">
            <a:solidFill>
              <a:srgbClr val="9C5C38">
                <a:alpha val="25000"/>
              </a:srgbClr>
            </a:solidFill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500" name="AutoShape 12"/>
          <p:cNvSpPr txBox="1"/>
          <p:nvPr/>
        </p:nvSpPr>
        <p:spPr>
          <a:xfrm>
            <a:off x="6902133" y="7431405"/>
            <a:ext cx="2032000" cy="4318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ctr">
              <a:lnSpc>
                <a:spcPct val="125000"/>
              </a:lnSpc>
              <a:defRPr sz="2800" b="1">
                <a:solidFill>
                  <a:srgbClr val="9C5C3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5000</a:t>
            </a:r>
          </a:p>
        </p:txBody>
      </p:sp>
      <p:sp>
        <p:nvSpPr>
          <p:cNvPr id="501" name="AutoShape 13"/>
          <p:cNvSpPr txBox="1"/>
          <p:nvPr/>
        </p:nvSpPr>
        <p:spPr>
          <a:xfrm>
            <a:off x="6902133" y="7962900"/>
            <a:ext cx="2032000" cy="38544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ctr">
              <a:lnSpc>
                <a:spcPct val="117000"/>
              </a:lnSpc>
              <a:defRPr sz="1000">
                <a:solidFill>
                  <a:srgbClr val="504B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defRPr>
            </a:lvl1pPr>
          </a:lstStyle>
          <a:p>
            <a:r>
              <a:t>未来5年面向发展中国家的AI专题研修培训名额</a:t>
            </a:r>
          </a:p>
        </p:txBody>
      </p:sp>
      <p:sp>
        <p:nvSpPr>
          <p:cNvPr id="502" name="AutoShape 14"/>
          <p:cNvSpPr/>
          <p:nvPr/>
        </p:nvSpPr>
        <p:spPr>
          <a:xfrm>
            <a:off x="9672320" y="8441055"/>
            <a:ext cx="2286000" cy="1143000"/>
          </a:xfrm>
          <a:prstGeom prst="roundRect">
            <a:avLst>
              <a:gd name="adj" fmla="val 8888"/>
            </a:avLst>
          </a:prstGeom>
          <a:solidFill>
            <a:srgbClr val="466EA0">
              <a:alpha val="8000"/>
            </a:srgbClr>
          </a:solidFill>
          <a:ln w="12700">
            <a:solidFill>
              <a:srgbClr val="466EA0">
                <a:alpha val="25000"/>
              </a:srgbClr>
            </a:solidFill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503" name="AutoShape 15"/>
          <p:cNvSpPr txBox="1"/>
          <p:nvPr/>
        </p:nvSpPr>
        <p:spPr>
          <a:xfrm>
            <a:off x="9799320" y="8669655"/>
            <a:ext cx="2032000" cy="2540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ctr">
              <a:lnSpc>
                <a:spcPct val="125000"/>
              </a:lnSpc>
              <a:defRPr b="1">
                <a:solidFill>
                  <a:srgbClr val="466E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上海</a:t>
            </a:r>
          </a:p>
        </p:txBody>
      </p:sp>
      <p:sp>
        <p:nvSpPr>
          <p:cNvPr id="504" name="AutoShape 16"/>
          <p:cNvSpPr txBox="1"/>
          <p:nvPr/>
        </p:nvSpPr>
        <p:spPr>
          <a:xfrm>
            <a:off x="9799320" y="9048750"/>
            <a:ext cx="2032000" cy="38544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ctr">
              <a:lnSpc>
                <a:spcPct val="117000"/>
              </a:lnSpc>
              <a:defRPr sz="1000">
                <a:solidFill>
                  <a:srgbClr val="504B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defRPr>
            </a:lvl1pPr>
          </a:lstStyle>
          <a:p>
            <a:r>
              <a:t>世界人工智能合作组织成立——全球首个AI政府间国际组织</a:t>
            </a:r>
          </a:p>
        </p:txBody>
      </p:sp>
      <p:grpSp>
        <p:nvGrpSpPr>
          <p:cNvPr id="5" name="组合 4"/>
          <p:cNvGrpSpPr/>
          <p:nvPr userDrawn="1"/>
        </p:nvGrpSpPr>
        <p:grpSpPr>
          <a:xfrm rot="0">
            <a:off x="-5286375" y="2190750"/>
            <a:ext cx="4826000" cy="2476500"/>
            <a:chOff x="1600" y="3400"/>
            <a:chExt cx="7600" cy="3900"/>
          </a:xfrm>
        </p:grpSpPr>
        <p:sp>
          <p:nvSpPr>
            <p:cNvPr id="461" name="AutoShape 5"/>
            <p:cNvSpPr/>
            <p:nvPr/>
          </p:nvSpPr>
          <p:spPr>
            <a:xfrm>
              <a:off x="1600" y="3400"/>
              <a:ext cx="7600" cy="3900"/>
            </a:xfrm>
            <a:prstGeom prst="roundRect">
              <a:avLst>
                <a:gd name="adj" fmla="val 4102"/>
              </a:avLst>
            </a:prstGeom>
            <a:solidFill>
              <a:srgbClr val="B4503C">
                <a:alpha val="6000"/>
              </a:srgbClr>
            </a:solidFill>
            <a:ln w="12700">
              <a:solidFill>
                <a:srgbClr val="B4503C">
                  <a:alpha val="20000"/>
                </a:srgbClr>
              </a:solidFill>
            </a:ln>
          </p:spPr>
          <p:txBody>
            <a:bodyPr lIns="0" tIns="0" rIns="0" bIns="0" anchor="ctr"/>
            <a:lstStyle/>
            <a:p>
              <a:pPr algn="ctr"/>
            </a:p>
          </p:txBody>
        </p:sp>
        <p:grpSp>
          <p:nvGrpSpPr>
            <p:cNvPr id="6" name="组合 5"/>
            <p:cNvGrpSpPr/>
            <p:nvPr userDrawn="1"/>
          </p:nvGrpSpPr>
          <p:grpSpPr>
            <a:xfrm>
              <a:off x="2000" y="3820"/>
              <a:ext cx="6800" cy="2646"/>
              <a:chOff x="2000" y="3820"/>
              <a:chExt cx="6800" cy="2646"/>
            </a:xfrm>
          </p:grpSpPr>
          <p:sp>
            <p:nvSpPr>
              <p:cNvPr id="462" name="AutoShape 6"/>
              <p:cNvSpPr txBox="1"/>
              <p:nvPr/>
            </p:nvSpPr>
            <p:spPr>
              <a:xfrm>
                <a:off x="2000" y="3820"/>
                <a:ext cx="6800" cy="440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lIns="0" tIns="0" rIns="0" bIns="0" anchor="ctr">
                <a:spAutoFit/>
              </a:bodyPr>
              <a:lstStyle>
                <a:lvl1pPr>
                  <a:lnSpc>
                    <a:spcPct val="125000"/>
                  </a:lnSpc>
                  <a:defRPr sz="1600" b="1">
                    <a:solidFill>
                      <a:srgbClr val="B4503C"/>
                    </a:solidFill>
                    <a:latin typeface="Noto Serif SC" panose="02020200000000000000" charset="-122"/>
                    <a:ea typeface="Noto Serif SC" panose="02020200000000000000" charset="-122"/>
                    <a:cs typeface="Noto Serif SC" panose="02020200000000000000" charset="-122"/>
                    <a:sym typeface="Noto Serif SC" panose="02020200000000000000" charset="-122"/>
                  </a:defRPr>
                </a:lvl1pPr>
              </a:lstStyle>
              <a:p>
                <a:r>
                  <a:t>政府（白宫）</a:t>
                </a:r>
              </a:p>
            </p:txBody>
          </p:sp>
          <p:sp>
            <p:nvSpPr>
              <p:cNvPr id="463" name="AutoShape 7"/>
              <p:cNvSpPr txBox="1"/>
              <p:nvPr/>
            </p:nvSpPr>
            <p:spPr>
              <a:xfrm>
                <a:off x="2000" y="5134"/>
                <a:ext cx="6800" cy="1332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lIns="0" tIns="0" rIns="0" bIns="0" anchor="ctr">
                <a:spAutoFit/>
              </a:bodyPr>
              <a:lstStyle/>
              <a:p>
                <a:pPr>
                  <a:lnSpc>
                    <a:spcPct val="142000"/>
                  </a:lnSpc>
                  <a:defRPr sz="1300">
                    <a:solidFill>
                      <a:srgbClr val="464646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defRPr>
                </a:pPr>
                <a:r>
                  <a:t>"快速发展不能成为按下暂停键的理由。"</a:t>
                </a:r>
                <a:endParaRPr sz="1100"/>
              </a:p>
              <a:p>
                <a:pPr>
                  <a:lnSpc>
                    <a:spcPct val="142000"/>
                  </a:lnSpc>
                  <a:defRPr sz="1200">
                    <a:solidFill>
                      <a:srgbClr val="5A5A5A"/>
                    </a:solidFill>
                    <a:latin typeface="Noto Sans SC" panose="020B0200000000000000" charset="-122"/>
                    <a:ea typeface="Noto Sans SC" panose="020B0200000000000000" charset="-122"/>
                    <a:cs typeface="Noto Sans SC" panose="020B0200000000000000" charset="-122"/>
                    <a:sym typeface="Noto Sans SC" panose="020B0200000000000000" charset="-122"/>
                  </a:defRPr>
                </a:pPr>
                <a:r>
                  <a:t>拒绝任何推动国际管控的努力，以"自愿提交审查"替代强制监管，自称为前沿超级智能的领导者，打造排他性技术联盟。</a:t>
                </a:r>
              </a:p>
            </p:txBody>
          </p:sp>
        </p:grpSp>
      </p:grpSp>
      <p:pic>
        <p:nvPicPr>
          <p:cNvPr id="467" name="Picture 11" descr="Picture 11"/>
          <p:cNvPicPr>
            <a:picLocks noChangeAspect="1"/>
          </p:cNvPicPr>
          <p:nvPr/>
        </p:nvPicPr>
        <p:blipFill>
          <a:blip r:embed="rId3"/>
          <a:srcRect t="20454" b="20454"/>
          <a:stretch>
            <a:fillRect/>
          </a:stretch>
        </p:blipFill>
        <p:spPr>
          <a:xfrm>
            <a:off x="-5286375" y="4921250"/>
            <a:ext cx="3556000" cy="1397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571"/>
                </a:moveTo>
                <a:lnTo>
                  <a:pt x="21600" y="20029"/>
                </a:lnTo>
                <a:cubicBezTo>
                  <a:pt x="21600" y="20897"/>
                  <a:pt x="21324" y="21600"/>
                  <a:pt x="20983" y="21600"/>
                </a:cubicBezTo>
                <a:lnTo>
                  <a:pt x="617" y="21600"/>
                </a:lnTo>
                <a:cubicBezTo>
                  <a:pt x="276" y="21600"/>
                  <a:pt x="0" y="20897"/>
                  <a:pt x="0" y="20029"/>
                </a:cubicBezTo>
                <a:lnTo>
                  <a:pt x="0" y="1571"/>
                </a:lnTo>
                <a:lnTo>
                  <a:pt x="3" y="1410"/>
                </a:lnTo>
                <a:cubicBezTo>
                  <a:pt x="35" y="618"/>
                  <a:pt x="298" y="0"/>
                  <a:pt x="617" y="0"/>
                </a:cubicBezTo>
                <a:lnTo>
                  <a:pt x="20983" y="0"/>
                </a:lnTo>
                <a:cubicBezTo>
                  <a:pt x="21324" y="0"/>
                  <a:pt x="21600" y="703"/>
                  <a:pt x="21600" y="1571"/>
                </a:cubicBezTo>
                <a:close/>
              </a:path>
            </a:pathLst>
          </a:custGeom>
          <a:ln w="12700">
            <a:miter lim="400000"/>
            <a:headEnd/>
            <a:tailEnd/>
          </a:ln>
        </p:spPr>
      </p:pic>
      <p:grpSp>
        <p:nvGrpSpPr>
          <p:cNvPr id="7" name="组合 6"/>
          <p:cNvGrpSpPr/>
          <p:nvPr userDrawn="1"/>
        </p:nvGrpSpPr>
        <p:grpSpPr>
          <a:xfrm rot="0">
            <a:off x="13958411" y="2138204"/>
            <a:ext cx="4826000" cy="2476500"/>
            <a:chOff x="10000" y="3400"/>
            <a:chExt cx="7600" cy="3900"/>
          </a:xfrm>
        </p:grpSpPr>
        <p:sp>
          <p:nvSpPr>
            <p:cNvPr id="464" name="AutoShape 8"/>
            <p:cNvSpPr/>
            <p:nvPr/>
          </p:nvSpPr>
          <p:spPr>
            <a:xfrm>
              <a:off x="10000" y="3400"/>
              <a:ext cx="7600" cy="3900"/>
            </a:xfrm>
            <a:prstGeom prst="roundRect">
              <a:avLst>
                <a:gd name="adj" fmla="val 4102"/>
              </a:avLst>
            </a:prstGeom>
            <a:solidFill>
              <a:srgbClr val="468264">
                <a:alpha val="6000"/>
              </a:srgbClr>
            </a:solidFill>
            <a:ln w="12700">
              <a:solidFill>
                <a:srgbClr val="468264">
                  <a:alpha val="20000"/>
                </a:srgbClr>
              </a:solidFill>
            </a:ln>
          </p:spPr>
          <p:txBody>
            <a:bodyPr lIns="0" tIns="0" rIns="0" bIns="0" anchor="ctr"/>
            <a:lstStyle/>
            <a:p>
              <a:pPr algn="ctr"/>
            </a:p>
          </p:txBody>
        </p:sp>
        <p:sp>
          <p:nvSpPr>
            <p:cNvPr id="465" name="AutoShape 9"/>
            <p:cNvSpPr txBox="1"/>
            <p:nvPr/>
          </p:nvSpPr>
          <p:spPr>
            <a:xfrm>
              <a:off x="10400" y="3820"/>
              <a:ext cx="6800" cy="44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1600" b="1">
                  <a:solidFill>
                    <a:srgbClr val="468264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科技企业（OpenAI / Anthropic）</a:t>
              </a:r>
            </a:p>
          </p:txBody>
        </p:sp>
        <p:sp>
          <p:nvSpPr>
            <p:cNvPr id="466" name="AutoShape 10"/>
            <p:cNvSpPr txBox="1"/>
            <p:nvPr/>
          </p:nvSpPr>
          <p:spPr>
            <a:xfrm>
              <a:off x="10400" y="5134"/>
              <a:ext cx="6800" cy="1332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/>
            <a:p>
              <a:pPr>
                <a:lnSpc>
                  <a:spcPct val="142000"/>
                </a:lnSpc>
                <a:defRPr sz="1300">
                  <a:solidFill>
                    <a:srgbClr val="464646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defRPr>
              </a:pPr>
              <a:r>
                <a:t>反而在会上呼吁国际协作</a:t>
              </a:r>
              <a:endParaRPr sz="1100"/>
            </a:p>
            <a:p>
              <a:pPr>
                <a:lnSpc>
                  <a:spcPct val="142000"/>
                </a:lnSpc>
                <a:defRPr sz="1200">
                  <a:solidFill>
                    <a:srgbClr val="5A5A5A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defRPr>
              </a:pPr>
              <a:r>
                <a:t>提出建立AI安全事件全球通报制度、评估与核查体系。企业经历了真实失控事件后，比政府更迫切需要规则。</a:t>
              </a:r>
            </a:p>
          </p:txBody>
        </p:sp>
      </p:grpSp>
      <p:grpSp>
        <p:nvGrpSpPr>
          <p:cNvPr id="8" name="组合 7"/>
          <p:cNvGrpSpPr/>
          <p:nvPr userDrawn="1"/>
        </p:nvGrpSpPr>
        <p:grpSpPr>
          <a:xfrm rot="0">
            <a:off x="12561411" y="4868704"/>
            <a:ext cx="6223000" cy="1397000"/>
            <a:chOff x="7800" y="7700"/>
            <a:chExt cx="9800" cy="2200"/>
          </a:xfrm>
        </p:grpSpPr>
        <p:sp>
          <p:nvSpPr>
            <p:cNvPr id="468" name="AutoShape 12"/>
            <p:cNvSpPr/>
            <p:nvPr/>
          </p:nvSpPr>
          <p:spPr>
            <a:xfrm>
              <a:off x="7800" y="7700"/>
              <a:ext cx="9800" cy="2200"/>
            </a:xfrm>
            <a:prstGeom prst="roundRect">
              <a:avLst>
                <a:gd name="adj" fmla="val 7272"/>
              </a:avLst>
            </a:prstGeom>
            <a:solidFill>
              <a:srgbClr val="9C5C38">
                <a:alpha val="6000"/>
              </a:srgbClr>
            </a:solidFill>
            <a:ln w="12700">
              <a:solidFill>
                <a:srgbClr val="9C5C38">
                  <a:alpha val="20000"/>
                </a:srgbClr>
              </a:solidFill>
            </a:ln>
          </p:spPr>
          <p:txBody>
            <a:bodyPr lIns="0" tIns="0" rIns="0" bIns="0" anchor="ctr"/>
            <a:lstStyle/>
            <a:p>
              <a:pPr algn="ctr"/>
            </a:p>
          </p:txBody>
        </p:sp>
        <p:sp>
          <p:nvSpPr>
            <p:cNvPr id="469" name="AutoShape 13"/>
            <p:cNvSpPr txBox="1"/>
            <p:nvPr/>
          </p:nvSpPr>
          <p:spPr>
            <a:xfrm>
              <a:off x="8200" y="8158"/>
              <a:ext cx="9000" cy="1303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/>
            <a:p>
              <a:pPr>
                <a:lnSpc>
                  <a:spcPct val="142000"/>
                </a:lnSpc>
                <a:defRPr sz="1300" b="1">
                  <a:solidFill>
                    <a:srgbClr val="9C5C38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pPr>
              <a:r>
                <a:t>"企业要标准、政府不要管控"</a:t>
              </a:r>
              <a:endParaRPr sz="1100"/>
            </a:p>
            <a:p>
              <a:pPr>
                <a:lnSpc>
                  <a:spcPct val="133000"/>
                </a:lnSpc>
                <a:defRPr sz="1200">
                  <a:solidFill>
                    <a:srgbClr val="505050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defRPr>
              </a:pPr>
              <a:r>
                <a:t>这种分裂，是理解美国AI治理困境的关键——政府在地缘竞争中想保持领先，企业在真实风险中需要安全底线。</a:t>
              </a:r>
            </a:p>
          </p:txBody>
        </p:sp>
      </p:grpSp>
      <p:sp>
        <p:nvSpPr>
          <p:cNvPr id="9" name="AutoShape 3"/>
          <p:cNvSpPr txBox="1"/>
          <p:nvPr/>
        </p:nvSpPr>
        <p:spPr>
          <a:xfrm>
            <a:off x="-11056858" y="1130315"/>
            <a:ext cx="10160000" cy="4699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2600" b="1">
                <a:solidFill>
                  <a:srgbClr val="2B2B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AI是谁的共同财富？中国怎么做</a:t>
            </a:r>
          </a:p>
        </p:txBody>
      </p:sp>
      <p:sp>
        <p:nvSpPr>
          <p:cNvPr id="459" name="AutoShape 3"/>
          <p:cNvSpPr txBox="1"/>
          <p:nvPr/>
        </p:nvSpPr>
        <p:spPr>
          <a:xfrm>
            <a:off x="983615" y="-590551"/>
            <a:ext cx="10160000" cy="4699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2600" b="1">
                <a:solidFill>
                  <a:srgbClr val="2B2B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美国：政府与企业的"分裂"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AutoShape 2"/>
          <p:cNvSpPr txBox="1"/>
          <p:nvPr/>
        </p:nvSpPr>
        <p:spPr>
          <a:xfrm>
            <a:off x="1016000" y="710248"/>
            <a:ext cx="6350000" cy="23050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200">
                <a:solidFill>
                  <a:srgbClr val="9C5C3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第三章 · 各方立场 · </a:t>
            </a:r>
            <a:r>
              <a:rPr b="1">
                <a:solidFill>
                  <a:srgbClr val="FF0000"/>
                </a:solidFill>
                <a:highlight>
                  <a:srgbClr val="FFFF00"/>
                </a:highlight>
              </a:rPr>
              <a:t>重点</a:t>
            </a:r>
            <a:endParaRPr b="1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491" name="AutoShape 3"/>
          <p:cNvSpPr txBox="1"/>
          <p:nvPr/>
        </p:nvSpPr>
        <p:spPr>
          <a:xfrm>
            <a:off x="1016079" y="1128522"/>
            <a:ext cx="10160000" cy="4699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2600" b="1">
                <a:solidFill>
                  <a:srgbClr val="2B2B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AI是谁的共同财富？中国怎么做</a:t>
            </a:r>
          </a:p>
        </p:txBody>
      </p:sp>
      <p:sp>
        <p:nvSpPr>
          <p:cNvPr id="492" name="Connector 4"/>
          <p:cNvSpPr/>
          <p:nvPr/>
        </p:nvSpPr>
        <p:spPr>
          <a:xfrm>
            <a:off x="1015999" y="1803400"/>
            <a:ext cx="508319" cy="0"/>
          </a:xfrm>
          <a:prstGeom prst="line">
            <a:avLst/>
          </a:prstGeom>
          <a:ln w="25400">
            <a:solidFill>
              <a:srgbClr val="9C5C38"/>
            </a:solidFill>
          </a:ln>
        </p:spPr>
        <p:txBody>
          <a:bodyPr lIns="0" tIns="0" rIns="0" bIns="0"/>
          <a:lstStyle/>
          <a:p/>
        </p:txBody>
      </p:sp>
      <p:sp>
        <p:nvSpPr>
          <p:cNvPr id="493" name="AutoShape 5"/>
          <p:cNvSpPr/>
          <p:nvPr/>
        </p:nvSpPr>
        <p:spPr>
          <a:xfrm>
            <a:off x="1016000" y="2095500"/>
            <a:ext cx="10160000" cy="698500"/>
          </a:xfrm>
          <a:prstGeom prst="roundRect">
            <a:avLst>
              <a:gd name="adj" fmla="val 14545"/>
            </a:avLst>
          </a:prstGeom>
          <a:solidFill>
            <a:srgbClr val="9C5C38">
              <a:alpha val="800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494" name="AutoShape 6"/>
          <p:cNvSpPr txBox="1"/>
          <p:nvPr/>
        </p:nvSpPr>
        <p:spPr>
          <a:xfrm>
            <a:off x="1270000" y="2343150"/>
            <a:ext cx="9652000" cy="2667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17000"/>
              </a:lnSpc>
              <a:defRPr sz="1500" b="1">
                <a:solidFill>
                  <a:srgbClr val="9C5C3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"人工智能是全人类的共同财富，不应沦为'富国和富人的游戏'。"</a:t>
            </a:r>
          </a:p>
        </p:txBody>
      </p:sp>
      <p:pic>
        <p:nvPicPr>
          <p:cNvPr id="495" name="Picture 7" descr="Picture 7"/>
          <p:cNvPicPr>
            <a:picLocks noChangeAspect="1"/>
          </p:cNvPicPr>
          <p:nvPr/>
        </p:nvPicPr>
        <p:blipFill>
          <a:blip r:embed="rId1"/>
          <a:srcRect l="749" r="750"/>
          <a:stretch>
            <a:fillRect/>
          </a:stretch>
        </p:blipFill>
        <p:spPr>
          <a:xfrm>
            <a:off x="1016000" y="3048000"/>
            <a:ext cx="4826000" cy="2476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886"/>
                </a:moveTo>
                <a:lnTo>
                  <a:pt x="21600" y="20714"/>
                </a:lnTo>
                <a:cubicBezTo>
                  <a:pt x="21600" y="21203"/>
                  <a:pt x="21396" y="21600"/>
                  <a:pt x="21145" y="21600"/>
                </a:cubicBezTo>
                <a:lnTo>
                  <a:pt x="455" y="21600"/>
                </a:lnTo>
                <a:cubicBezTo>
                  <a:pt x="204" y="21600"/>
                  <a:pt x="0" y="21203"/>
                  <a:pt x="0" y="20714"/>
                </a:cubicBezTo>
                <a:lnTo>
                  <a:pt x="0" y="886"/>
                </a:lnTo>
                <a:lnTo>
                  <a:pt x="2" y="795"/>
                </a:lnTo>
                <a:cubicBezTo>
                  <a:pt x="26" y="349"/>
                  <a:pt x="219" y="0"/>
                  <a:pt x="455" y="0"/>
                </a:cubicBezTo>
                <a:lnTo>
                  <a:pt x="21145" y="0"/>
                </a:lnTo>
                <a:cubicBezTo>
                  <a:pt x="21396" y="0"/>
                  <a:pt x="21600" y="397"/>
                  <a:pt x="21600" y="886"/>
                </a:cubicBezTo>
                <a:close/>
              </a:path>
            </a:pathLst>
          </a:custGeom>
          <a:ln w="12700">
            <a:miter lim="400000"/>
            <a:headEnd/>
            <a:tailEnd/>
          </a:ln>
        </p:spPr>
      </p:pic>
      <p:sp>
        <p:nvSpPr>
          <p:cNvPr id="496" name="AutoShape 8"/>
          <p:cNvSpPr txBox="1"/>
          <p:nvPr/>
        </p:nvSpPr>
        <p:spPr>
          <a:xfrm>
            <a:off x="1016000" y="5689600"/>
            <a:ext cx="4826000" cy="1778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ctr">
              <a:lnSpc>
                <a:spcPct val="125000"/>
              </a:lnSpc>
              <a:defRPr sz="1000">
                <a:solidFill>
                  <a:srgbClr val="8C827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2026世界人工智能大会暨AI全球治理高级别会议在上海开幕</a:t>
            </a:r>
          </a:p>
        </p:txBody>
      </p:sp>
      <p:sp>
        <p:nvSpPr>
          <p:cNvPr id="497" name="AutoShape 9"/>
          <p:cNvSpPr txBox="1"/>
          <p:nvPr/>
        </p:nvSpPr>
        <p:spPr>
          <a:xfrm>
            <a:off x="6350000" y="3155950"/>
            <a:ext cx="4826000" cy="2667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500" b="1">
                <a:solidFill>
                  <a:srgbClr val="9C5C3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务实行动，不只说</a:t>
            </a:r>
          </a:p>
        </p:txBody>
      </p:sp>
      <p:sp>
        <p:nvSpPr>
          <p:cNvPr id="498" name="AutoShape 10"/>
          <p:cNvSpPr txBox="1"/>
          <p:nvPr/>
        </p:nvSpPr>
        <p:spPr>
          <a:xfrm>
            <a:off x="6350000" y="3803015"/>
            <a:ext cx="4826000" cy="52197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42000"/>
              </a:lnSpc>
              <a:defRPr sz="1200">
                <a:solidFill>
                  <a:srgbClr val="4646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defRPr>
            </a:lvl1pPr>
          </a:lstStyle>
          <a:p>
            <a:r>
              <a:t>提出《全球人工智能治理倡议》；推动联大通过AI能力建设合作决议；提出《人工智能能力建设普惠计划》。</a:t>
            </a:r>
          </a:p>
        </p:txBody>
      </p:sp>
      <p:sp>
        <p:nvSpPr>
          <p:cNvPr id="499" name="AutoShape 11"/>
          <p:cNvSpPr/>
          <p:nvPr/>
        </p:nvSpPr>
        <p:spPr>
          <a:xfrm>
            <a:off x="6350000" y="4762500"/>
            <a:ext cx="2286000" cy="1143000"/>
          </a:xfrm>
          <a:prstGeom prst="roundRect">
            <a:avLst>
              <a:gd name="adj" fmla="val 8888"/>
            </a:avLst>
          </a:prstGeom>
          <a:solidFill>
            <a:srgbClr val="9C5C38">
              <a:alpha val="10000"/>
            </a:srgbClr>
          </a:solidFill>
          <a:ln w="12700">
            <a:solidFill>
              <a:srgbClr val="9C5C38">
                <a:alpha val="25000"/>
              </a:srgbClr>
            </a:solidFill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500" name="AutoShape 12"/>
          <p:cNvSpPr txBox="1"/>
          <p:nvPr>
            <p:custDataLst>
              <p:tags r:id="rId2"/>
            </p:custDataLst>
          </p:nvPr>
        </p:nvSpPr>
        <p:spPr>
          <a:xfrm>
            <a:off x="6477000" y="4895850"/>
            <a:ext cx="2032000" cy="4318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ctr">
              <a:lnSpc>
                <a:spcPct val="125000"/>
              </a:lnSpc>
              <a:defRPr sz="2800" b="1">
                <a:solidFill>
                  <a:srgbClr val="9C5C3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5000</a:t>
            </a:r>
          </a:p>
        </p:txBody>
      </p:sp>
      <p:sp>
        <p:nvSpPr>
          <p:cNvPr id="501" name="AutoShape 13"/>
          <p:cNvSpPr txBox="1"/>
          <p:nvPr/>
        </p:nvSpPr>
        <p:spPr>
          <a:xfrm>
            <a:off x="6477000" y="5427345"/>
            <a:ext cx="2032000" cy="38544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ctr">
              <a:lnSpc>
                <a:spcPct val="117000"/>
              </a:lnSpc>
              <a:defRPr sz="1000">
                <a:solidFill>
                  <a:srgbClr val="504B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defRPr>
            </a:lvl1pPr>
          </a:lstStyle>
          <a:p>
            <a:r>
              <a:t>未来5年面向发展中国家的AI专题研修培训名额</a:t>
            </a:r>
          </a:p>
        </p:txBody>
      </p:sp>
      <p:sp>
        <p:nvSpPr>
          <p:cNvPr id="502" name="AutoShape 14"/>
          <p:cNvSpPr/>
          <p:nvPr/>
        </p:nvSpPr>
        <p:spPr>
          <a:xfrm>
            <a:off x="8890000" y="4762500"/>
            <a:ext cx="2286000" cy="1143000"/>
          </a:xfrm>
          <a:prstGeom prst="roundRect">
            <a:avLst>
              <a:gd name="adj" fmla="val 8888"/>
            </a:avLst>
          </a:prstGeom>
          <a:solidFill>
            <a:srgbClr val="466EA0">
              <a:alpha val="8000"/>
            </a:srgbClr>
          </a:solidFill>
          <a:ln w="12700">
            <a:solidFill>
              <a:srgbClr val="466EA0">
                <a:alpha val="25000"/>
              </a:srgbClr>
            </a:solidFill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503" name="AutoShape 15"/>
          <p:cNvSpPr txBox="1"/>
          <p:nvPr/>
        </p:nvSpPr>
        <p:spPr>
          <a:xfrm>
            <a:off x="9017000" y="4991100"/>
            <a:ext cx="2032000" cy="2540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ctr">
              <a:lnSpc>
                <a:spcPct val="125000"/>
              </a:lnSpc>
              <a:defRPr b="1">
                <a:solidFill>
                  <a:srgbClr val="466E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上海</a:t>
            </a:r>
          </a:p>
        </p:txBody>
      </p:sp>
      <p:sp>
        <p:nvSpPr>
          <p:cNvPr id="504" name="AutoShape 16"/>
          <p:cNvSpPr txBox="1"/>
          <p:nvPr/>
        </p:nvSpPr>
        <p:spPr>
          <a:xfrm>
            <a:off x="9017000" y="5370195"/>
            <a:ext cx="2032000" cy="38544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ctr">
              <a:lnSpc>
                <a:spcPct val="117000"/>
              </a:lnSpc>
              <a:defRPr sz="1000">
                <a:solidFill>
                  <a:srgbClr val="504B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defRPr>
            </a:lvl1pPr>
          </a:lstStyle>
          <a:p>
            <a:r>
              <a:t>世界人工智能合作组织成立——全球首个AI政府间国际组织</a:t>
            </a:r>
          </a:p>
        </p:txBody>
      </p:sp>
      <p:sp>
        <p:nvSpPr>
          <p:cNvPr id="505" name="AutoShape 17"/>
          <p:cNvSpPr/>
          <p:nvPr/>
        </p:nvSpPr>
        <p:spPr>
          <a:xfrm>
            <a:off x="1016000" y="6540500"/>
            <a:ext cx="635000" cy="38100"/>
          </a:xfrm>
          <a:prstGeom prst="roundRect">
            <a:avLst>
              <a:gd name="adj" fmla="val 0"/>
            </a:avLst>
          </a:prstGeom>
          <a:solidFill>
            <a:srgbClr val="9C5C38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509" name="AutoShape 2"/>
          <p:cNvSpPr txBox="1"/>
          <p:nvPr/>
        </p:nvSpPr>
        <p:spPr>
          <a:xfrm>
            <a:off x="-19323050" y="476435"/>
            <a:ext cx="6350000" cy="2159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200">
                <a:solidFill>
                  <a:srgbClr val="9C5C3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第三章 · 各方立场</a:t>
            </a:r>
          </a:p>
        </p:txBody>
      </p:sp>
      <p:sp>
        <p:nvSpPr>
          <p:cNvPr id="510" name="AutoShape 3"/>
          <p:cNvSpPr txBox="1"/>
          <p:nvPr/>
        </p:nvSpPr>
        <p:spPr>
          <a:xfrm>
            <a:off x="-14282420" y="910774"/>
            <a:ext cx="10160000" cy="4699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2600" b="1">
                <a:solidFill>
                  <a:srgbClr val="2B2B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欧盟与其他国家怎么看？</a:t>
            </a:r>
          </a:p>
        </p:txBody>
      </p:sp>
      <p:graphicFrame>
        <p:nvGraphicFramePr>
          <p:cNvPr id="512" name="Table 5"/>
          <p:cNvGraphicFramePr/>
          <p:nvPr/>
        </p:nvGraphicFramePr>
        <p:xfrm>
          <a:off x="-6946900" y="1811840"/>
          <a:ext cx="6350000" cy="368300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270000"/>
                <a:gridCol w="5080000"/>
              </a:tblGrid>
              <a:tr h="5588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国家/机构</a:t>
                      </a:r>
                      <a:endParaRPr sz="1300" b="1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 anchorCtr="0" horzOverflow="overflow">
                    <a:lnL w="3175">
                      <a:solidFill>
                        <a:srgbClr val="000000"/>
                      </a:solidFill>
                    </a:lnL>
                    <a:lnR w="3175">
                      <a:solidFill>
                        <a:srgbClr val="000000"/>
                      </a:solidFill>
                    </a:lnR>
                    <a:lnT w="3175">
                      <a:solidFill>
                        <a:srgbClr val="000000"/>
                      </a:solidFill>
                    </a:lnT>
                    <a:lnB w="3175">
                      <a:solidFill>
                        <a:srgbClr val="000000"/>
                      </a:solidFill>
                    </a:lnB>
                    <a:solidFill>
                      <a:srgbClr val="9C5C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核心主张</a:t>
                      </a:r>
                      <a:endParaRPr sz="1300" b="1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 anchorCtr="0" horzOverflow="overflow">
                    <a:lnL w="3175">
                      <a:solidFill>
                        <a:srgbClr val="000000"/>
                      </a:solidFill>
                    </a:lnL>
                    <a:lnR w="3175">
                      <a:solidFill>
                        <a:srgbClr val="000000"/>
                      </a:solidFill>
                    </a:lnR>
                    <a:lnT w="3175">
                      <a:solidFill>
                        <a:srgbClr val="000000"/>
                      </a:solidFill>
                    </a:lnT>
                    <a:lnB w="3175">
                      <a:solidFill>
                        <a:srgbClr val="000000"/>
                      </a:solidFill>
                    </a:lnB>
                    <a:solidFill>
                      <a:srgbClr val="9C5C38"/>
                    </a:solidFill>
                  </a:tcPr>
                </a:tc>
              </a:tr>
              <a:tr h="787400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defRPr sz="1800"/>
                      </a:pPr>
                      <a:r>
                        <a:rPr sz="1300" b="1">
                          <a:solidFill>
                            <a:srgbClr val="2B2B2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法国</a:t>
                      </a:r>
                      <a:endParaRPr sz="1300" b="1">
                        <a:solidFill>
                          <a:srgbClr val="2B2B2B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3175">
                      <a:solidFill>
                        <a:srgbClr val="000000"/>
                      </a:solidFill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7000"/>
                        </a:lnSpc>
                        <a:defRPr sz="1800"/>
                      </a:pPr>
                      <a:r>
                        <a:rPr sz="1200">
                          <a:solidFill>
                            <a:srgbClr val="3C3C3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轮值主席国主持会议，敦促联合国框架内共定规则；联合20国发起"前沿AI模型控制呼吁"</a:t>
                      </a:r>
                      <a:endParaRPr sz="1200">
                        <a:solidFill>
                          <a:srgbClr val="3C3C3C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3175">
                      <a:solidFill>
                        <a:srgbClr val="000000"/>
                      </a:solidFill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</a:tr>
              <a:tr h="787400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defRPr sz="1800"/>
                      </a:pPr>
                      <a:r>
                        <a:rPr sz="1300" b="1">
                          <a:solidFill>
                            <a:srgbClr val="2B2B2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欧盟</a:t>
                      </a:r>
                      <a:endParaRPr sz="1300" b="1">
                        <a:solidFill>
                          <a:srgbClr val="2B2B2B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7000"/>
                        </a:lnSpc>
                        <a:defRPr sz="1800"/>
                      </a:pPr>
                      <a:r>
                        <a:rPr sz="1200">
                          <a:solidFill>
                            <a:srgbClr val="3C3C3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AI法案2026年8月全面执行，按风险四级监管；主张没有任何国家能单独监管AI，呼吁联合国发挥核心作用</a:t>
                      </a:r>
                      <a:endParaRPr sz="1200">
                        <a:solidFill>
                          <a:srgbClr val="3C3C3C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5F0E8"/>
                    </a:solidFill>
                  </a:tcPr>
                </a:tc>
              </a:tr>
              <a:tr h="787400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defRPr sz="1800"/>
                      </a:pPr>
                      <a:r>
                        <a:rPr sz="1300" b="1">
                          <a:solidFill>
                            <a:srgbClr val="2B2B2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英国</a:t>
                      </a:r>
                      <a:endParaRPr sz="1300" b="1">
                        <a:solidFill>
                          <a:srgbClr val="2B2B2B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7000"/>
                        </a:lnSpc>
                        <a:defRPr sz="1800"/>
                      </a:pPr>
                      <a:r>
                        <a:rPr sz="1200">
                          <a:solidFill>
                            <a:srgbClr val="3C3C3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政府须确保AI安全和企业透明度；认为监管到位，才能真正获得AI带来的利益</a:t>
                      </a:r>
                      <a:endParaRPr sz="1200">
                        <a:solidFill>
                          <a:srgbClr val="3C3C3C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defRPr sz="1800"/>
                      </a:pPr>
                      <a:r>
                        <a:rPr sz="1300" b="1">
                          <a:solidFill>
                            <a:srgbClr val="2B2B2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俄罗斯</a:t>
                      </a:r>
                      <a:endParaRPr sz="1300" b="1">
                        <a:solidFill>
                          <a:srgbClr val="2B2B2B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7000"/>
                        </a:lnSpc>
                        <a:defRPr sz="1800"/>
                      </a:pPr>
                      <a:r>
                        <a:rPr sz="1200">
                          <a:solidFill>
                            <a:srgbClr val="3C3C3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AI控制应由各国在国家层级决定，对话须基于共识、包容，属政府间性质</a:t>
                      </a:r>
                      <a:endParaRPr sz="1200">
                        <a:solidFill>
                          <a:srgbClr val="3C3C3C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5F0E8"/>
                    </a:solidFill>
                  </a:tcPr>
                </a:tc>
              </a:tr>
            </a:tbl>
          </a:graphicData>
        </a:graphic>
      </p:graphicFrame>
      <p:sp>
        <p:nvSpPr>
          <p:cNvPr id="517" name="AutoShape 10"/>
          <p:cNvSpPr txBox="1"/>
          <p:nvPr/>
        </p:nvSpPr>
        <p:spPr>
          <a:xfrm>
            <a:off x="558800" y="7215689"/>
            <a:ext cx="10160000" cy="2159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17000"/>
              </a:lnSpc>
              <a:defRPr sz="1200" i="1">
                <a:solidFill>
                  <a:srgbClr val="786E64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除美国外，多数国家都倾向于在联合国框架下建立多边AI治理机制——"要规则、不要失控"是主流共识。</a:t>
            </a:r>
          </a:p>
        </p:txBody>
      </p:sp>
      <p:pic>
        <p:nvPicPr>
          <p:cNvPr id="6" name="Picture 6" descr="Picture 6"/>
          <p:cNvPicPr>
            <a:picLocks noChangeAspect="1"/>
          </p:cNvPicPr>
          <p:nvPr/>
        </p:nvPicPr>
        <p:blipFill>
          <a:blip r:embed="rId3"/>
          <a:srcRect t="2748" b="2748"/>
          <a:stretch>
            <a:fillRect/>
          </a:stretch>
        </p:blipFill>
        <p:spPr>
          <a:xfrm>
            <a:off x="7899400" y="-3810001"/>
            <a:ext cx="3429000" cy="2159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016"/>
                </a:moveTo>
                <a:lnTo>
                  <a:pt x="21600" y="20584"/>
                </a:lnTo>
                <a:cubicBezTo>
                  <a:pt x="21600" y="21145"/>
                  <a:pt x="21314" y="21600"/>
                  <a:pt x="20960" y="21600"/>
                </a:cubicBezTo>
                <a:lnTo>
                  <a:pt x="640" y="21600"/>
                </a:lnTo>
                <a:cubicBezTo>
                  <a:pt x="286" y="21600"/>
                  <a:pt x="0" y="21145"/>
                  <a:pt x="0" y="20584"/>
                </a:cubicBezTo>
                <a:lnTo>
                  <a:pt x="0" y="1016"/>
                </a:lnTo>
                <a:lnTo>
                  <a:pt x="3" y="912"/>
                </a:lnTo>
                <a:cubicBezTo>
                  <a:pt x="36" y="400"/>
                  <a:pt x="309" y="0"/>
                  <a:pt x="640" y="0"/>
                </a:cubicBezTo>
                <a:lnTo>
                  <a:pt x="20960" y="0"/>
                </a:lnTo>
                <a:cubicBezTo>
                  <a:pt x="21314" y="0"/>
                  <a:pt x="21600" y="455"/>
                  <a:pt x="21600" y="1016"/>
                </a:cubicBezTo>
                <a:close/>
              </a:path>
            </a:pathLst>
          </a:custGeom>
          <a:ln w="12700">
            <a:miter lim="400000"/>
            <a:headEnd/>
            <a:tailEnd/>
          </a:ln>
        </p:spPr>
      </p:pic>
      <p:sp>
        <p:nvSpPr>
          <p:cNvPr id="7" name="AutoShape 7"/>
          <p:cNvSpPr/>
          <p:nvPr/>
        </p:nvSpPr>
        <p:spPr>
          <a:xfrm>
            <a:off x="7899400" y="-1460500"/>
            <a:ext cx="3429000" cy="1460500"/>
          </a:xfrm>
          <a:prstGeom prst="roundRect">
            <a:avLst>
              <a:gd name="adj" fmla="val 6956"/>
            </a:avLst>
          </a:prstGeom>
          <a:solidFill>
            <a:srgbClr val="9C5C38">
              <a:alpha val="8000"/>
            </a:srgbClr>
          </a:solidFill>
          <a:ln w="12700">
            <a:solidFill>
              <a:srgbClr val="9C5C38">
                <a:alpha val="30000"/>
              </a:srgbClr>
            </a:solidFill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8" name="AutoShape 8"/>
          <p:cNvSpPr txBox="1"/>
          <p:nvPr/>
        </p:nvSpPr>
        <p:spPr>
          <a:xfrm>
            <a:off x="8089900" y="-1282701"/>
            <a:ext cx="3048000" cy="2159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200" b="1">
                <a:solidFill>
                  <a:srgbClr val="9C5C3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欧盟《人工智能法案》</a:t>
            </a:r>
          </a:p>
        </p:txBody>
      </p:sp>
      <p:sp>
        <p:nvSpPr>
          <p:cNvPr id="9" name="AutoShape 9"/>
          <p:cNvSpPr txBox="1"/>
          <p:nvPr/>
        </p:nvSpPr>
        <p:spPr>
          <a:xfrm>
            <a:off x="8089900" y="-914401"/>
            <a:ext cx="3048000" cy="7112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100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defRPr>
            </a:lvl1pPr>
          </a:lstStyle>
          <a:p>
            <a:r>
              <a:t>2026年8月2日进入全面执行阶段，是全球首部综合性AI法律，将AI系统按风险分为禁止、高风险、有限风险、最低风险四级监管。</a:t>
            </a:r>
          </a:p>
        </p:txBody>
      </p:sp>
      <p:sp>
        <p:nvSpPr>
          <p:cNvPr id="475" name="AutoShape 3"/>
          <p:cNvSpPr txBox="1"/>
          <p:nvPr/>
        </p:nvSpPr>
        <p:spPr>
          <a:xfrm>
            <a:off x="1127760" y="-701676"/>
            <a:ext cx="10160000" cy="4699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2600" b="1">
                <a:solidFill>
                  <a:srgbClr val="2B2B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中国：反对技术霸权，主张数字主权</a:t>
            </a:r>
          </a:p>
        </p:txBody>
      </p:sp>
      <p:sp>
        <p:nvSpPr>
          <p:cNvPr id="477" name="AutoShape 5"/>
          <p:cNvSpPr txBox="1"/>
          <p:nvPr/>
        </p:nvSpPr>
        <p:spPr>
          <a:xfrm>
            <a:off x="-4488815" y="2106295"/>
            <a:ext cx="7112000" cy="2159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200">
                <a:solidFill>
                  <a:srgbClr val="786E64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发言人：中国常驻联合国代表 傅聪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-13346430" y="2303145"/>
            <a:ext cx="7112000" cy="1365250"/>
            <a:chOff x="1600" y="4060"/>
            <a:chExt cx="11200" cy="2150"/>
          </a:xfrm>
        </p:grpSpPr>
        <p:sp>
          <p:nvSpPr>
            <p:cNvPr id="478" name="AutoShape 6"/>
            <p:cNvSpPr txBox="1"/>
            <p:nvPr/>
          </p:nvSpPr>
          <p:spPr>
            <a:xfrm>
              <a:off x="1600" y="4060"/>
              <a:ext cx="11200" cy="44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1600" b="1">
                  <a:solidFill>
                    <a:srgbClr val="9C5C38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第一，尊重数字主权</a:t>
              </a:r>
            </a:p>
          </p:txBody>
        </p:sp>
        <p:sp>
          <p:nvSpPr>
            <p:cNvPr id="479" name="AutoShape 7"/>
            <p:cNvSpPr txBox="1"/>
            <p:nvPr/>
          </p:nvSpPr>
          <p:spPr>
            <a:xfrm>
              <a:off x="1600" y="4890"/>
              <a:ext cx="11200" cy="132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33000"/>
                </a:lnSpc>
                <a:defRPr sz="1300">
                  <a:solidFill>
                    <a:srgbClr val="464646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defRPr>
              </a:lvl1pPr>
            </a:lstStyle>
            <a:p>
              <a:r>
                <a:t>各国有权根据实际需要和市场规律，自主选择AI技术、产品和服务。拼凑排他性"小圈子"、强迫选边站队，实质是将科技问题政治化、工具化，服务于个别大国垄断技术优势、谋求数字霸权的企图。</a:t>
              </a:r>
            </a:p>
          </p:txBody>
        </p:sp>
      </p:grpSp>
      <p:sp>
        <p:nvSpPr>
          <p:cNvPr id="480" name="Connector 8"/>
          <p:cNvSpPr/>
          <p:nvPr/>
        </p:nvSpPr>
        <p:spPr>
          <a:xfrm>
            <a:off x="-11833860" y="3860800"/>
            <a:ext cx="7112000" cy="0"/>
          </a:xfrm>
          <a:prstGeom prst="line">
            <a:avLst/>
          </a:prstGeom>
          <a:ln w="12700">
            <a:solidFill>
              <a:srgbClr val="9C5C38">
                <a:alpha val="15000"/>
              </a:srgbClr>
            </a:solidFill>
          </a:ln>
        </p:spPr>
        <p:txBody>
          <a:bodyPr lIns="0" tIns="0" rIns="0" bIns="0"/>
          <a:lstStyle/>
          <a:p/>
        </p:txBody>
      </p:sp>
      <p:grpSp>
        <p:nvGrpSpPr>
          <p:cNvPr id="10" name="组合 9"/>
          <p:cNvGrpSpPr/>
          <p:nvPr/>
        </p:nvGrpSpPr>
        <p:grpSpPr>
          <a:xfrm>
            <a:off x="-8089900" y="4483100"/>
            <a:ext cx="7112000" cy="1308100"/>
            <a:chOff x="1600" y="7060"/>
            <a:chExt cx="11200" cy="2060"/>
          </a:xfrm>
        </p:grpSpPr>
        <p:sp>
          <p:nvSpPr>
            <p:cNvPr id="481" name="AutoShape 9"/>
            <p:cNvSpPr txBox="1"/>
            <p:nvPr/>
          </p:nvSpPr>
          <p:spPr>
            <a:xfrm>
              <a:off x="1600" y="7060"/>
              <a:ext cx="11200" cy="44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1600" b="1">
                  <a:solidFill>
                    <a:srgbClr val="9C5C38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第二，确保安全可控</a:t>
              </a:r>
            </a:p>
          </p:txBody>
        </p:sp>
        <p:sp>
          <p:nvSpPr>
            <p:cNvPr id="482" name="AutoShape 10"/>
            <p:cNvSpPr txBox="1"/>
            <p:nvPr/>
          </p:nvSpPr>
          <p:spPr>
            <a:xfrm>
              <a:off x="1600" y="8280"/>
              <a:ext cx="11200" cy="84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33000"/>
                </a:lnSpc>
                <a:defRPr sz="1300">
                  <a:solidFill>
                    <a:srgbClr val="464646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defRPr>
              </a:lvl1pPr>
            </a:lstStyle>
            <a:p>
              <a:r>
                <a:t>AI研发应用须符合联合国宪章宗旨和原则；坚决打击恐怖组织、极端势力和跨国犯罪集团恶用滥用AI；军事领域AI应用谨慎负责，确保人类始终掌握最终决策权。</a:t>
              </a:r>
            </a:p>
          </p:txBody>
        </p:sp>
      </p:grpSp>
      <p:pic>
        <p:nvPicPr>
          <p:cNvPr id="483" name="Picture 11" descr="Picture 11"/>
          <p:cNvPicPr>
            <a:picLocks noChangeAspect="1"/>
          </p:cNvPicPr>
          <p:nvPr/>
        </p:nvPicPr>
        <p:blipFill>
          <a:blip r:embed="rId4"/>
          <a:srcRect l="780" r="780"/>
          <a:stretch>
            <a:fillRect/>
          </a:stretch>
        </p:blipFill>
        <p:spPr>
          <a:xfrm>
            <a:off x="12505055" y="2132330"/>
            <a:ext cx="2667000" cy="1524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440"/>
                </a:moveTo>
                <a:lnTo>
                  <a:pt x="21600" y="20160"/>
                </a:lnTo>
                <a:cubicBezTo>
                  <a:pt x="21600" y="20955"/>
                  <a:pt x="21232" y="21600"/>
                  <a:pt x="20777" y="21600"/>
                </a:cubicBezTo>
                <a:lnTo>
                  <a:pt x="823" y="21600"/>
                </a:lnTo>
                <a:cubicBezTo>
                  <a:pt x="368" y="21600"/>
                  <a:pt x="0" y="20955"/>
                  <a:pt x="0" y="20160"/>
                </a:cubicBezTo>
                <a:lnTo>
                  <a:pt x="0" y="1440"/>
                </a:lnTo>
                <a:lnTo>
                  <a:pt x="4" y="1293"/>
                </a:lnTo>
                <a:cubicBezTo>
                  <a:pt x="46" y="567"/>
                  <a:pt x="397" y="0"/>
                  <a:pt x="823" y="0"/>
                </a:cubicBezTo>
                <a:lnTo>
                  <a:pt x="20777" y="0"/>
                </a:lnTo>
                <a:cubicBezTo>
                  <a:pt x="21232" y="0"/>
                  <a:pt x="21600" y="645"/>
                  <a:pt x="21600" y="1440"/>
                </a:cubicBezTo>
                <a:close/>
              </a:path>
            </a:pathLst>
          </a:custGeom>
          <a:ln w="12700">
            <a:miter lim="400000"/>
            <a:headEnd/>
            <a:tailEnd/>
          </a:ln>
        </p:spPr>
      </p:pic>
      <p:grpSp>
        <p:nvGrpSpPr>
          <p:cNvPr id="11" name="组合 10"/>
          <p:cNvGrpSpPr/>
          <p:nvPr/>
        </p:nvGrpSpPr>
        <p:grpSpPr>
          <a:xfrm>
            <a:off x="17545050" y="3924935"/>
            <a:ext cx="2667000" cy="2286000"/>
            <a:chOff x="13400" y="6100"/>
            <a:chExt cx="4200" cy="3600"/>
          </a:xfrm>
        </p:grpSpPr>
        <p:sp>
          <p:nvSpPr>
            <p:cNvPr id="484" name="AutoShape 12"/>
            <p:cNvSpPr/>
            <p:nvPr/>
          </p:nvSpPr>
          <p:spPr>
            <a:xfrm>
              <a:off x="13400" y="6100"/>
              <a:ext cx="4200" cy="3600"/>
            </a:xfrm>
            <a:prstGeom prst="roundRect">
              <a:avLst>
                <a:gd name="adj" fmla="val 4444"/>
              </a:avLst>
            </a:prstGeom>
            <a:solidFill>
              <a:srgbClr val="9C5C38">
                <a:alpha val="8000"/>
              </a:srgbClr>
            </a:solidFill>
            <a:ln w="12700">
              <a:solidFill>
                <a:srgbClr val="9C5C38">
                  <a:alpha val="30000"/>
                </a:srgbClr>
              </a:solidFill>
            </a:ln>
          </p:spPr>
          <p:txBody>
            <a:bodyPr lIns="0" tIns="0" rIns="0" bIns="0" anchor="ctr"/>
            <a:lstStyle/>
            <a:p>
              <a:pPr algn="ctr"/>
            </a:p>
          </p:txBody>
        </p:sp>
        <p:sp>
          <p:nvSpPr>
            <p:cNvPr id="485" name="AutoShape 13"/>
            <p:cNvSpPr txBox="1"/>
            <p:nvPr/>
          </p:nvSpPr>
          <p:spPr>
            <a:xfrm>
              <a:off x="13700" y="7133"/>
              <a:ext cx="3600" cy="1655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/>
            <a:p>
              <a:pPr>
                <a:lnSpc>
                  <a:spcPct val="142000"/>
                </a:lnSpc>
                <a:defRPr sz="1200" b="1">
                  <a:solidFill>
                    <a:srgbClr val="9C5C38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pPr>
              <a:r>
                <a:t>中国立场核心</a:t>
              </a:r>
              <a:endParaRPr sz="1100"/>
            </a:p>
            <a:p>
              <a:pPr>
                <a:lnSpc>
                  <a:spcPct val="133000"/>
                </a:lnSpc>
                <a:defRPr sz="1100">
                  <a:solidFill>
                    <a:srgbClr val="464646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defRPr>
              </a:pPr>
              <a:r>
                <a:t>以联合国宪章为基础，坚持多边主义，反对霸权霸凌，主张AI成果由全人类共享。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extLst>
                                      <p:ext uri="{505F2C04-C923-438B-8C0F-E0CD2BADF298}">
                                        <wppc:dynamicDigit xmlns:wppc="http://www.wps.cn/officeDocument/PresentationCustomData" type="0">
                                          <p:anim to="" calcmode="lin" valueType="num">
                                            <p:cBhvr>
                                              <p:cTn id="7" dur="2000" fill="hold"/>
                                              <p:tgtEl>
                                                <p:spTgt spid="500">
                                                  <p:txEl>
                                                    <p:pRg st="0" end="0"/>
                                                  </p:txEl>
                                                </p:spTgt>
                                              </p:tgtEl>
                                              <p:attrNameLst>
                                                <p:attrName>num.show</p:attrName>
                                              </p:attrNameLst>
                                            </p:cBhvr>
                                            <p:tavLst>
                                              <p:tav tm="0">
                                                <p:val>
                                                  <p:fltVal val="0"/>
                                                </p:val>
                                              </p:tav>
                                              <p:tav tm="100000">
                                                <p:val>
                                                  <p:strVal val="#ppt_v"/>
                                                </p:val>
                                              </p:tav>
                                            </p:tavLst>
                                          </p:anim>
                                        </wppc:dynamicDigit>
                                      </p:ext>
                                    </p:extLs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AutoShape 2"/>
          <p:cNvSpPr txBox="1"/>
          <p:nvPr/>
        </p:nvSpPr>
        <p:spPr>
          <a:xfrm>
            <a:off x="1016000" y="717550"/>
            <a:ext cx="6350000" cy="2159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200">
                <a:solidFill>
                  <a:srgbClr val="9C5C3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第三章 · 各方立场</a:t>
            </a:r>
          </a:p>
        </p:txBody>
      </p:sp>
      <p:sp>
        <p:nvSpPr>
          <p:cNvPr id="510" name="AutoShape 3"/>
          <p:cNvSpPr txBox="1"/>
          <p:nvPr/>
        </p:nvSpPr>
        <p:spPr>
          <a:xfrm>
            <a:off x="1016000" y="1130299"/>
            <a:ext cx="10160000" cy="4699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2600" b="1">
                <a:solidFill>
                  <a:srgbClr val="2B2B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欧盟与其他国家怎么看？</a:t>
            </a:r>
          </a:p>
        </p:txBody>
      </p:sp>
      <p:sp>
        <p:nvSpPr>
          <p:cNvPr id="511" name="Connector 4"/>
          <p:cNvSpPr/>
          <p:nvPr/>
        </p:nvSpPr>
        <p:spPr>
          <a:xfrm>
            <a:off x="1015999" y="1803400"/>
            <a:ext cx="508319" cy="0"/>
          </a:xfrm>
          <a:prstGeom prst="line">
            <a:avLst/>
          </a:prstGeom>
          <a:ln w="25400">
            <a:solidFill>
              <a:srgbClr val="9C5C38"/>
            </a:solidFill>
          </a:ln>
        </p:spPr>
        <p:txBody>
          <a:bodyPr lIns="0" tIns="0" rIns="0" bIns="0"/>
          <a:lstStyle/>
          <a:p/>
        </p:txBody>
      </p:sp>
      <p:graphicFrame>
        <p:nvGraphicFramePr>
          <p:cNvPr id="512" name="Table 5"/>
          <p:cNvGraphicFramePr/>
          <p:nvPr/>
        </p:nvGraphicFramePr>
        <p:xfrm>
          <a:off x="1016000" y="2159000"/>
          <a:ext cx="6350000" cy="368300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270000"/>
                <a:gridCol w="5080000"/>
              </a:tblGrid>
              <a:tr h="5588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国家/机构</a:t>
                      </a:r>
                      <a:endParaRPr sz="1300" b="1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 anchorCtr="0" horzOverflow="overflow">
                    <a:lnL w="3175">
                      <a:solidFill>
                        <a:srgbClr val="000000"/>
                      </a:solidFill>
                    </a:lnL>
                    <a:lnR w="3175">
                      <a:solidFill>
                        <a:srgbClr val="000000"/>
                      </a:solidFill>
                    </a:lnR>
                    <a:lnT w="3175">
                      <a:solidFill>
                        <a:srgbClr val="000000"/>
                      </a:solidFill>
                    </a:lnT>
                    <a:lnB w="3175">
                      <a:solidFill>
                        <a:srgbClr val="000000"/>
                      </a:solidFill>
                    </a:lnB>
                    <a:solidFill>
                      <a:srgbClr val="9C5C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核心主张</a:t>
                      </a:r>
                      <a:endParaRPr sz="1300" b="1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 anchorCtr="0" horzOverflow="overflow">
                    <a:lnL w="3175">
                      <a:solidFill>
                        <a:srgbClr val="000000"/>
                      </a:solidFill>
                    </a:lnL>
                    <a:lnR w="3175">
                      <a:solidFill>
                        <a:srgbClr val="000000"/>
                      </a:solidFill>
                    </a:lnR>
                    <a:lnT w="3175">
                      <a:solidFill>
                        <a:srgbClr val="000000"/>
                      </a:solidFill>
                    </a:lnT>
                    <a:lnB w="3175">
                      <a:solidFill>
                        <a:srgbClr val="000000"/>
                      </a:solidFill>
                    </a:lnB>
                    <a:solidFill>
                      <a:srgbClr val="9C5C38"/>
                    </a:solidFill>
                  </a:tcPr>
                </a:tc>
              </a:tr>
              <a:tr h="787400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defRPr sz="1800"/>
                      </a:pPr>
                      <a:r>
                        <a:rPr sz="1300" b="1">
                          <a:solidFill>
                            <a:srgbClr val="2B2B2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法国</a:t>
                      </a:r>
                      <a:endParaRPr sz="1300" b="1">
                        <a:solidFill>
                          <a:srgbClr val="2B2B2B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3175">
                      <a:solidFill>
                        <a:srgbClr val="000000"/>
                      </a:solidFill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7000"/>
                        </a:lnSpc>
                        <a:defRPr sz="1800"/>
                      </a:pPr>
                      <a:r>
                        <a:rPr sz="1200">
                          <a:solidFill>
                            <a:srgbClr val="3C3C3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轮值主席国主持会议，敦促联合国框架内共定规则；联合20国发起"前沿AI模型控制呼吁"</a:t>
                      </a:r>
                      <a:endParaRPr sz="1200">
                        <a:solidFill>
                          <a:srgbClr val="3C3C3C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3175">
                      <a:solidFill>
                        <a:srgbClr val="000000"/>
                      </a:solidFill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</a:tr>
              <a:tr h="787400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defRPr sz="1800"/>
                      </a:pPr>
                      <a:r>
                        <a:rPr sz="1300" b="1">
                          <a:solidFill>
                            <a:srgbClr val="2B2B2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欧盟</a:t>
                      </a:r>
                      <a:endParaRPr sz="1300" b="1">
                        <a:solidFill>
                          <a:srgbClr val="2B2B2B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7000"/>
                        </a:lnSpc>
                        <a:defRPr sz="1800"/>
                      </a:pPr>
                      <a:r>
                        <a:rPr sz="1200">
                          <a:solidFill>
                            <a:srgbClr val="3C3C3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AI法案2026年8月全面执行，按风险四级监管；主张没有任何国家能单独监管AI，呼吁联合国发挥核心作用</a:t>
                      </a:r>
                      <a:endParaRPr sz="1200">
                        <a:solidFill>
                          <a:srgbClr val="3C3C3C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5F0E8"/>
                    </a:solidFill>
                  </a:tcPr>
                </a:tc>
              </a:tr>
              <a:tr h="787400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defRPr sz="1800"/>
                      </a:pPr>
                      <a:r>
                        <a:rPr sz="1300" b="1">
                          <a:solidFill>
                            <a:srgbClr val="2B2B2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英国</a:t>
                      </a:r>
                      <a:endParaRPr sz="1300" b="1">
                        <a:solidFill>
                          <a:srgbClr val="2B2B2B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7000"/>
                        </a:lnSpc>
                        <a:defRPr sz="1800"/>
                      </a:pPr>
                      <a:r>
                        <a:rPr sz="1200">
                          <a:solidFill>
                            <a:srgbClr val="3C3C3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政府须确保AI安全和企业透明度；认为监管到位，才能真正获得AI带来的利益</a:t>
                      </a:r>
                      <a:endParaRPr sz="1200">
                        <a:solidFill>
                          <a:srgbClr val="3C3C3C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defRPr sz="1800"/>
                      </a:pPr>
                      <a:r>
                        <a:rPr sz="1300" b="1">
                          <a:solidFill>
                            <a:srgbClr val="2B2B2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俄罗斯</a:t>
                      </a:r>
                      <a:endParaRPr sz="1300" b="1">
                        <a:solidFill>
                          <a:srgbClr val="2B2B2B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7000"/>
                        </a:lnSpc>
                        <a:defRPr sz="1800"/>
                      </a:pPr>
                      <a:r>
                        <a:rPr sz="1200">
                          <a:solidFill>
                            <a:srgbClr val="3C3C3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AI控制应由各国在国家层级决定，对话须基于共识、包容，属政府间性质</a:t>
                      </a:r>
                      <a:endParaRPr sz="1200">
                        <a:solidFill>
                          <a:srgbClr val="3C3C3C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5F0E8"/>
                    </a:solidFill>
                  </a:tcPr>
                </a:tc>
              </a:tr>
            </a:tbl>
          </a:graphicData>
        </a:graphic>
      </p:graphicFrame>
      <p:pic>
        <p:nvPicPr>
          <p:cNvPr id="513" name="Picture 6" descr="Picture 6"/>
          <p:cNvPicPr>
            <a:picLocks noChangeAspect="1"/>
          </p:cNvPicPr>
          <p:nvPr/>
        </p:nvPicPr>
        <p:blipFill>
          <a:blip r:embed="rId1"/>
          <a:srcRect t="2748" b="2748"/>
          <a:stretch>
            <a:fillRect/>
          </a:stretch>
        </p:blipFill>
        <p:spPr>
          <a:xfrm>
            <a:off x="7747000" y="2158999"/>
            <a:ext cx="3429000" cy="2159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016"/>
                </a:moveTo>
                <a:lnTo>
                  <a:pt x="21600" y="20584"/>
                </a:lnTo>
                <a:cubicBezTo>
                  <a:pt x="21600" y="21145"/>
                  <a:pt x="21314" y="21600"/>
                  <a:pt x="20960" y="21600"/>
                </a:cubicBezTo>
                <a:lnTo>
                  <a:pt x="640" y="21600"/>
                </a:lnTo>
                <a:cubicBezTo>
                  <a:pt x="286" y="21600"/>
                  <a:pt x="0" y="21145"/>
                  <a:pt x="0" y="20584"/>
                </a:cubicBezTo>
                <a:lnTo>
                  <a:pt x="0" y="1016"/>
                </a:lnTo>
                <a:lnTo>
                  <a:pt x="3" y="912"/>
                </a:lnTo>
                <a:cubicBezTo>
                  <a:pt x="36" y="400"/>
                  <a:pt x="309" y="0"/>
                  <a:pt x="640" y="0"/>
                </a:cubicBezTo>
                <a:lnTo>
                  <a:pt x="20960" y="0"/>
                </a:lnTo>
                <a:cubicBezTo>
                  <a:pt x="21314" y="0"/>
                  <a:pt x="21600" y="455"/>
                  <a:pt x="21600" y="1016"/>
                </a:cubicBezTo>
                <a:close/>
              </a:path>
            </a:pathLst>
          </a:custGeom>
          <a:ln w="12700">
            <a:miter lim="400000"/>
            <a:headEnd/>
            <a:tailEnd/>
          </a:ln>
        </p:spPr>
      </p:pic>
      <p:sp>
        <p:nvSpPr>
          <p:cNvPr id="514" name="AutoShape 7"/>
          <p:cNvSpPr/>
          <p:nvPr/>
        </p:nvSpPr>
        <p:spPr>
          <a:xfrm>
            <a:off x="7747000" y="4508500"/>
            <a:ext cx="3429000" cy="1460500"/>
          </a:xfrm>
          <a:prstGeom prst="roundRect">
            <a:avLst>
              <a:gd name="adj" fmla="val 6956"/>
            </a:avLst>
          </a:prstGeom>
          <a:solidFill>
            <a:srgbClr val="9C5C38">
              <a:alpha val="8000"/>
            </a:srgbClr>
          </a:solidFill>
          <a:ln w="12700">
            <a:solidFill>
              <a:srgbClr val="9C5C38">
                <a:alpha val="30000"/>
              </a:srgbClr>
            </a:solidFill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515" name="AutoShape 8"/>
          <p:cNvSpPr txBox="1"/>
          <p:nvPr/>
        </p:nvSpPr>
        <p:spPr>
          <a:xfrm>
            <a:off x="7937500" y="4686299"/>
            <a:ext cx="3048000" cy="2159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200" b="1">
                <a:solidFill>
                  <a:srgbClr val="9C5C3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欧盟《人工智能法案》</a:t>
            </a:r>
          </a:p>
        </p:txBody>
      </p:sp>
      <p:sp>
        <p:nvSpPr>
          <p:cNvPr id="516" name="AutoShape 9"/>
          <p:cNvSpPr txBox="1"/>
          <p:nvPr/>
        </p:nvSpPr>
        <p:spPr>
          <a:xfrm>
            <a:off x="7937500" y="5054599"/>
            <a:ext cx="3048000" cy="7112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100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defRPr>
            </a:lvl1pPr>
          </a:lstStyle>
          <a:p>
            <a:r>
              <a:t>2026年8月2日进入全面执行阶段，是全球首部综合性AI法律，将AI系统按风险分为禁止、高风险、有限风险、最低风险四级监管。</a:t>
            </a:r>
          </a:p>
        </p:txBody>
      </p:sp>
      <p:sp>
        <p:nvSpPr>
          <p:cNvPr id="517" name="AutoShape 10"/>
          <p:cNvSpPr txBox="1"/>
          <p:nvPr/>
        </p:nvSpPr>
        <p:spPr>
          <a:xfrm>
            <a:off x="1016000" y="6210299"/>
            <a:ext cx="10160000" cy="2159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17000"/>
              </a:lnSpc>
              <a:defRPr sz="1200" i="1">
                <a:solidFill>
                  <a:srgbClr val="786E64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除美国外，多数国家都倾向于在联合国框架下建立多边AI治理机制——"要规则、不要失控"是主流共识。</a:t>
            </a:r>
          </a:p>
        </p:txBody>
      </p:sp>
      <p:sp>
        <p:nvSpPr>
          <p:cNvPr id="518" name="AutoShape 11"/>
          <p:cNvSpPr/>
          <p:nvPr/>
        </p:nvSpPr>
        <p:spPr>
          <a:xfrm>
            <a:off x="1016000" y="6540500"/>
            <a:ext cx="635000" cy="38100"/>
          </a:xfrm>
          <a:prstGeom prst="roundRect">
            <a:avLst>
              <a:gd name="adj" fmla="val 0"/>
            </a:avLst>
          </a:prstGeom>
          <a:solidFill>
            <a:srgbClr val="9C5C38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522" name="AutoShape 2"/>
          <p:cNvSpPr txBox="1"/>
          <p:nvPr/>
        </p:nvSpPr>
        <p:spPr>
          <a:xfrm>
            <a:off x="-4756150" y="1197920"/>
            <a:ext cx="10160000" cy="2540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>
                <a:solidFill>
                  <a:srgbClr val="FAF7F2">
                    <a:alpha val="60000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第四章 · 核心分歧</a:t>
            </a:r>
          </a:p>
        </p:txBody>
      </p:sp>
      <p:sp>
        <p:nvSpPr>
          <p:cNvPr id="523" name="AutoShape 3"/>
          <p:cNvSpPr txBox="1"/>
          <p:nvPr/>
        </p:nvSpPr>
        <p:spPr>
          <a:xfrm>
            <a:off x="-4756150" y="2224506"/>
            <a:ext cx="10160000" cy="137583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>
              <a:lnSpc>
                <a:spcPct val="117000"/>
              </a:lnSpc>
              <a:defRPr sz="3600" b="1">
                <a:solidFill>
                  <a:srgbClr val="FAF7F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pPr>
            <a:r>
              <a:t>AI规则，</a:t>
            </a:r>
            <a:endParaRPr sz="1100"/>
          </a:p>
          <a:p>
            <a:pPr>
              <a:lnSpc>
                <a:spcPct val="117000"/>
              </a:lnSpc>
              <a:defRPr sz="3600" b="1">
                <a:solidFill>
                  <a:srgbClr val="FAF7F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pPr>
            <a:r>
              <a:t>到底由谁说了算？</a:t>
            </a:r>
          </a:p>
        </p:txBody>
      </p:sp>
      <p:sp>
        <p:nvSpPr>
          <p:cNvPr id="525" name="AutoShape 5"/>
          <p:cNvSpPr txBox="1"/>
          <p:nvPr/>
        </p:nvSpPr>
        <p:spPr>
          <a:xfrm>
            <a:off x="-4756150" y="4618454"/>
            <a:ext cx="8890000" cy="65193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>
              <a:lnSpc>
                <a:spcPct val="133000"/>
              </a:lnSpc>
              <a:defRPr sz="1600">
                <a:solidFill>
                  <a:srgbClr val="FAF7F2">
                    <a:alpha val="70196"/>
                  </a:srgbClr>
                </a:solidFill>
                <a:latin typeface="Kaiti SC Regular"/>
                <a:ea typeface="Kaiti SC Regular"/>
                <a:cs typeface="Kaiti SC Regular"/>
                <a:sym typeface="Kaiti SC Regular"/>
              </a:defRPr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是少数国家垄断制定权，还是世界各国平等参与？</a:t>
            </a:r>
            <a:endParaRPr sz="11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133000"/>
              </a:lnSpc>
              <a:defRPr sz="1600">
                <a:solidFill>
                  <a:srgbClr val="FAF7F2">
                    <a:alpha val="70196"/>
                  </a:srgbClr>
                </a:solidFill>
                <a:latin typeface="Kaiti SC Regular"/>
                <a:ea typeface="Kaiti SC Regular"/>
                <a:cs typeface="Kaiti SC Regular"/>
                <a:sym typeface="Kaiti SC Regular"/>
              </a:defRPr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这是全球AI治理最深层的矛盾。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26" name="AutoShape 6"/>
          <p:cNvSpPr txBox="1"/>
          <p:nvPr/>
        </p:nvSpPr>
        <p:spPr>
          <a:xfrm rot="2760000">
            <a:off x="11075247" y="6578599"/>
            <a:ext cx="3810000" cy="24384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r">
              <a:lnSpc>
                <a:spcPct val="125000"/>
              </a:lnSpc>
              <a:defRPr sz="16000" b="1">
                <a:solidFill>
                  <a:srgbClr val="FAF7F2">
                    <a:alpha val="5882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04</a:t>
            </a:r>
          </a:p>
        </p:txBody>
      </p:sp>
      <p:sp>
        <p:nvSpPr>
          <p:cNvPr id="2" name="AutoShape 3"/>
          <p:cNvSpPr txBox="1"/>
          <p:nvPr/>
        </p:nvSpPr>
        <p:spPr>
          <a:xfrm>
            <a:off x="-6026150" y="1089977"/>
            <a:ext cx="10160000" cy="4699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2600" b="1">
                <a:solidFill>
                  <a:srgbClr val="2B2B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AI是谁的共同财富？中国怎么做</a:t>
            </a:r>
          </a:p>
        </p:txBody>
      </p:sp>
      <p:sp>
        <p:nvSpPr>
          <p:cNvPr id="3" name="AutoShape 5"/>
          <p:cNvSpPr/>
          <p:nvPr/>
        </p:nvSpPr>
        <p:spPr>
          <a:xfrm>
            <a:off x="-10321290" y="2159079"/>
            <a:ext cx="10160000" cy="698500"/>
          </a:xfrm>
          <a:prstGeom prst="roundRect">
            <a:avLst>
              <a:gd name="adj" fmla="val 14545"/>
            </a:avLst>
          </a:prstGeom>
          <a:solidFill>
            <a:srgbClr val="9C5C38">
              <a:alpha val="800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494" name="AutoShape 6"/>
          <p:cNvSpPr txBox="1"/>
          <p:nvPr/>
        </p:nvSpPr>
        <p:spPr>
          <a:xfrm>
            <a:off x="-9271000" y="2406729"/>
            <a:ext cx="9652000" cy="2667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17000"/>
              </a:lnSpc>
              <a:defRPr sz="1500" b="1">
                <a:solidFill>
                  <a:srgbClr val="9C5C3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"人工智能是全人类的共同财富，不应沦为'富国和富人的游戏'。"</a:t>
            </a:r>
          </a:p>
        </p:txBody>
      </p:sp>
      <p:sp>
        <p:nvSpPr>
          <p:cNvPr id="497" name="AutoShape 9"/>
          <p:cNvSpPr txBox="1"/>
          <p:nvPr/>
        </p:nvSpPr>
        <p:spPr>
          <a:xfrm>
            <a:off x="12636500" y="3105150"/>
            <a:ext cx="4826000" cy="2667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500" b="1">
                <a:solidFill>
                  <a:srgbClr val="9C5C3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务实行动，不只说</a:t>
            </a:r>
          </a:p>
        </p:txBody>
      </p:sp>
      <p:sp>
        <p:nvSpPr>
          <p:cNvPr id="498" name="AutoShape 10"/>
          <p:cNvSpPr txBox="1"/>
          <p:nvPr/>
        </p:nvSpPr>
        <p:spPr>
          <a:xfrm>
            <a:off x="13779500" y="3786974"/>
            <a:ext cx="4826000" cy="52197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42000"/>
              </a:lnSpc>
              <a:defRPr sz="1200">
                <a:solidFill>
                  <a:srgbClr val="4646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defRPr>
            </a:lvl1pPr>
          </a:lstStyle>
          <a:p>
            <a:r>
              <a:t>提出《全球人工智能治理倡议》；推动联大通过AI能力建设合作决议；提出《人工智能能力建设普惠计划》。</a:t>
            </a:r>
          </a:p>
        </p:txBody>
      </p:sp>
      <p:sp>
        <p:nvSpPr>
          <p:cNvPr id="499" name="AutoShape 11"/>
          <p:cNvSpPr/>
          <p:nvPr/>
        </p:nvSpPr>
        <p:spPr>
          <a:xfrm>
            <a:off x="6483350" y="7562850"/>
            <a:ext cx="2286000" cy="1143000"/>
          </a:xfrm>
          <a:prstGeom prst="roundRect">
            <a:avLst>
              <a:gd name="adj" fmla="val 8888"/>
            </a:avLst>
          </a:prstGeom>
          <a:solidFill>
            <a:srgbClr val="9C5C38">
              <a:alpha val="10000"/>
            </a:srgbClr>
          </a:solidFill>
          <a:ln w="12700">
            <a:solidFill>
              <a:srgbClr val="9C5C38">
                <a:alpha val="25000"/>
              </a:srgbClr>
            </a:solidFill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500" name="AutoShape 12"/>
          <p:cNvSpPr txBox="1"/>
          <p:nvPr/>
        </p:nvSpPr>
        <p:spPr>
          <a:xfrm>
            <a:off x="6610350" y="7696200"/>
            <a:ext cx="2032000" cy="4318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ctr">
              <a:lnSpc>
                <a:spcPct val="125000"/>
              </a:lnSpc>
              <a:defRPr sz="2800" b="1">
                <a:solidFill>
                  <a:srgbClr val="9C5C3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5000</a:t>
            </a:r>
          </a:p>
        </p:txBody>
      </p:sp>
      <p:sp>
        <p:nvSpPr>
          <p:cNvPr id="501" name="AutoShape 13"/>
          <p:cNvSpPr txBox="1"/>
          <p:nvPr/>
        </p:nvSpPr>
        <p:spPr>
          <a:xfrm>
            <a:off x="6610350" y="8227695"/>
            <a:ext cx="2032000" cy="38544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ctr">
              <a:lnSpc>
                <a:spcPct val="117000"/>
              </a:lnSpc>
              <a:defRPr sz="1000">
                <a:solidFill>
                  <a:srgbClr val="504B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defRPr>
            </a:lvl1pPr>
          </a:lstStyle>
          <a:p>
            <a:r>
              <a:t>未来5年面向发展中国家的AI专题研修培训名额</a:t>
            </a:r>
          </a:p>
        </p:txBody>
      </p:sp>
      <p:sp>
        <p:nvSpPr>
          <p:cNvPr id="502" name="AutoShape 14"/>
          <p:cNvSpPr/>
          <p:nvPr/>
        </p:nvSpPr>
        <p:spPr>
          <a:xfrm>
            <a:off x="8890063" y="8630222"/>
            <a:ext cx="2286000" cy="1143000"/>
          </a:xfrm>
          <a:prstGeom prst="roundRect">
            <a:avLst>
              <a:gd name="adj" fmla="val 8888"/>
            </a:avLst>
          </a:prstGeom>
          <a:solidFill>
            <a:srgbClr val="466EA0">
              <a:alpha val="8000"/>
            </a:srgbClr>
          </a:solidFill>
          <a:ln w="12700">
            <a:solidFill>
              <a:srgbClr val="466EA0">
                <a:alpha val="25000"/>
              </a:srgbClr>
            </a:solidFill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503" name="AutoShape 15"/>
          <p:cNvSpPr txBox="1"/>
          <p:nvPr/>
        </p:nvSpPr>
        <p:spPr>
          <a:xfrm>
            <a:off x="9017063" y="8858822"/>
            <a:ext cx="2032000" cy="2540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ctr">
              <a:lnSpc>
                <a:spcPct val="125000"/>
              </a:lnSpc>
              <a:defRPr b="1">
                <a:solidFill>
                  <a:srgbClr val="466EA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上海</a:t>
            </a:r>
          </a:p>
        </p:txBody>
      </p:sp>
      <p:sp>
        <p:nvSpPr>
          <p:cNvPr id="504" name="AutoShape 16"/>
          <p:cNvSpPr txBox="1"/>
          <p:nvPr/>
        </p:nvSpPr>
        <p:spPr>
          <a:xfrm>
            <a:off x="9017063" y="9237917"/>
            <a:ext cx="2032000" cy="38544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ctr">
              <a:lnSpc>
                <a:spcPct val="117000"/>
              </a:lnSpc>
              <a:defRPr sz="1000">
                <a:solidFill>
                  <a:srgbClr val="504B4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defRPr>
            </a:lvl1pPr>
          </a:lstStyle>
          <a:p>
            <a:r>
              <a:t>世界人工智能合作组织成立——全球首个AI政府间国际组织</a:t>
            </a:r>
          </a:p>
        </p:txBody>
      </p:sp>
      <p:pic>
        <p:nvPicPr>
          <p:cNvPr id="495" name="Picture 7" descr="Picture 7"/>
          <p:cNvPicPr>
            <a:picLocks noChangeAspect="1"/>
          </p:cNvPicPr>
          <p:nvPr/>
        </p:nvPicPr>
        <p:blipFill>
          <a:blip r:embed="rId2"/>
          <a:srcRect l="749" r="750"/>
          <a:stretch>
            <a:fillRect/>
          </a:stretch>
        </p:blipFill>
        <p:spPr>
          <a:xfrm>
            <a:off x="1016000" y="3048000"/>
            <a:ext cx="4826000" cy="2476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886"/>
                </a:moveTo>
                <a:lnTo>
                  <a:pt x="21600" y="20714"/>
                </a:lnTo>
                <a:cubicBezTo>
                  <a:pt x="21600" y="21203"/>
                  <a:pt x="21396" y="21600"/>
                  <a:pt x="21145" y="21600"/>
                </a:cubicBezTo>
                <a:lnTo>
                  <a:pt x="455" y="21600"/>
                </a:lnTo>
                <a:cubicBezTo>
                  <a:pt x="204" y="21600"/>
                  <a:pt x="0" y="21203"/>
                  <a:pt x="0" y="20714"/>
                </a:cubicBezTo>
                <a:lnTo>
                  <a:pt x="0" y="886"/>
                </a:lnTo>
                <a:lnTo>
                  <a:pt x="2" y="795"/>
                </a:lnTo>
                <a:cubicBezTo>
                  <a:pt x="26" y="349"/>
                  <a:pt x="219" y="0"/>
                  <a:pt x="455" y="0"/>
                </a:cubicBezTo>
                <a:lnTo>
                  <a:pt x="21145" y="0"/>
                </a:lnTo>
                <a:cubicBezTo>
                  <a:pt x="21396" y="0"/>
                  <a:pt x="21600" y="397"/>
                  <a:pt x="21600" y="886"/>
                </a:cubicBezTo>
                <a:close/>
              </a:path>
            </a:pathLst>
          </a:custGeom>
          <a:ln w="12700">
            <a:miter lim="4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08542 0.19 L 1.37047 -1.19593 " pathEditMode="relative" rAng="0" ptsTypes="">
                                      <p:cBhvr>
                                        <p:cTn id="6" dur="500" fill="hold"/>
                                        <p:tgtEl>
                                          <p:spTgt spid="4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52" y="-482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64800000">
                                      <p:cBhvr>
                                        <p:cTn id="8" dur="500" fill="hold"/>
                                        <p:tgtEl>
                                          <p:spTgt spid="49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AutoShape 2"/>
          <p:cNvSpPr txBox="1"/>
          <p:nvPr/>
        </p:nvSpPr>
        <p:spPr>
          <a:xfrm>
            <a:off x="1016000" y="1333499"/>
            <a:ext cx="10160000" cy="2540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>
                <a:solidFill>
                  <a:srgbClr val="FAF7F2">
                    <a:alpha val="60000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第四章 · 核心分歧</a:t>
            </a:r>
          </a:p>
        </p:txBody>
      </p:sp>
      <p:sp>
        <p:nvSpPr>
          <p:cNvPr id="523" name="AutoShape 3"/>
          <p:cNvSpPr txBox="1"/>
          <p:nvPr/>
        </p:nvSpPr>
        <p:spPr>
          <a:xfrm>
            <a:off x="1016000" y="2360085"/>
            <a:ext cx="10160000" cy="137583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>
              <a:lnSpc>
                <a:spcPct val="117000"/>
              </a:lnSpc>
              <a:defRPr sz="3600" b="1">
                <a:solidFill>
                  <a:srgbClr val="FAF7F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pPr>
            <a:r>
              <a:t>AI规则，</a:t>
            </a:r>
            <a:endParaRPr sz="1100"/>
          </a:p>
          <a:p>
            <a:pPr>
              <a:lnSpc>
                <a:spcPct val="117000"/>
              </a:lnSpc>
              <a:defRPr sz="3600" b="1">
                <a:solidFill>
                  <a:srgbClr val="FAF7F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pPr>
            <a:r>
              <a:t>到底由谁说了算？</a:t>
            </a:r>
          </a:p>
        </p:txBody>
      </p:sp>
      <p:sp>
        <p:nvSpPr>
          <p:cNvPr id="524" name="Connector 4"/>
          <p:cNvSpPr/>
          <p:nvPr/>
        </p:nvSpPr>
        <p:spPr>
          <a:xfrm>
            <a:off x="1016000" y="4317999"/>
            <a:ext cx="1968658" cy="0"/>
          </a:xfrm>
          <a:prstGeom prst="line">
            <a:avLst/>
          </a:prstGeom>
          <a:ln w="25400">
            <a:solidFill>
              <a:srgbClr val="9C5C38"/>
            </a:solidFill>
          </a:ln>
        </p:spPr>
        <p:txBody>
          <a:bodyPr lIns="0" tIns="0" rIns="0" bIns="0"/>
          <a:lstStyle/>
          <a:p/>
        </p:txBody>
      </p:sp>
      <p:sp>
        <p:nvSpPr>
          <p:cNvPr id="525" name="AutoShape 5"/>
          <p:cNvSpPr txBox="1"/>
          <p:nvPr/>
        </p:nvSpPr>
        <p:spPr>
          <a:xfrm>
            <a:off x="1016000" y="4754033"/>
            <a:ext cx="8890000" cy="65193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>
              <a:lnSpc>
                <a:spcPct val="133000"/>
              </a:lnSpc>
              <a:defRPr sz="1600">
                <a:solidFill>
                  <a:srgbClr val="FAF7F2">
                    <a:alpha val="70196"/>
                  </a:srgbClr>
                </a:solidFill>
                <a:latin typeface="Kaiti SC Regular"/>
                <a:ea typeface="Kaiti SC Regular"/>
                <a:cs typeface="Kaiti SC Regular"/>
                <a:sym typeface="Kaiti SC Regular"/>
              </a:defRPr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是少数国家垄断制定权，还是世界各国平等参与？</a:t>
            </a:r>
            <a:endParaRPr sz="11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133000"/>
              </a:lnSpc>
              <a:defRPr sz="1600">
                <a:solidFill>
                  <a:srgbClr val="FAF7F2">
                    <a:alpha val="70196"/>
                  </a:srgbClr>
                </a:solidFill>
                <a:latin typeface="Kaiti SC Regular"/>
                <a:ea typeface="Kaiti SC Regular"/>
                <a:cs typeface="Kaiti SC Regular"/>
                <a:sym typeface="Kaiti SC Regular"/>
              </a:defRPr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这是全球AI治理最深层的矛盾。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26" name="AutoShape 6"/>
          <p:cNvSpPr txBox="1"/>
          <p:nvPr/>
        </p:nvSpPr>
        <p:spPr>
          <a:xfrm>
            <a:off x="7874000" y="4368799"/>
            <a:ext cx="3810000" cy="24384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r">
              <a:lnSpc>
                <a:spcPct val="125000"/>
              </a:lnSpc>
              <a:defRPr sz="16000" b="1">
                <a:solidFill>
                  <a:srgbClr val="FAF7F2">
                    <a:alpha val="5882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04</a:t>
            </a:r>
          </a:p>
        </p:txBody>
      </p:sp>
      <p:sp>
        <p:nvSpPr>
          <p:cNvPr id="530" name="AutoShape 2"/>
          <p:cNvSpPr txBox="1"/>
          <p:nvPr/>
        </p:nvSpPr>
        <p:spPr>
          <a:xfrm>
            <a:off x="-10295244" y="717550"/>
            <a:ext cx="6350000" cy="2159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200">
                <a:solidFill>
                  <a:srgbClr val="9C5C3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第四章 · 核心分歧</a:t>
            </a:r>
          </a:p>
        </p:txBody>
      </p:sp>
      <p:sp>
        <p:nvSpPr>
          <p:cNvPr id="531" name="AutoShape 3"/>
          <p:cNvSpPr txBox="1"/>
          <p:nvPr/>
        </p:nvSpPr>
        <p:spPr>
          <a:xfrm>
            <a:off x="-10295244" y="1130299"/>
            <a:ext cx="10160000" cy="4699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2600" b="1">
                <a:solidFill>
                  <a:srgbClr val="2B2B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全球AI治理的三方博弈</a:t>
            </a:r>
          </a:p>
        </p:txBody>
      </p:sp>
      <p:pic>
        <p:nvPicPr>
          <p:cNvPr id="533" name="Picture 5" descr="Picture 5"/>
          <p:cNvPicPr>
            <a:picLocks noChangeAspect="1"/>
          </p:cNvPicPr>
          <p:nvPr/>
        </p:nvPicPr>
        <p:blipFill>
          <a:blip r:embed="rId1"/>
          <a:srcRect l="123" r="124"/>
          <a:stretch>
            <a:fillRect/>
          </a:stretch>
        </p:blipFill>
        <p:spPr>
          <a:xfrm rot="5400000">
            <a:off x="996887" y="-3676625"/>
            <a:ext cx="4826001" cy="2413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909"/>
                </a:moveTo>
                <a:lnTo>
                  <a:pt x="21600" y="20691"/>
                </a:lnTo>
                <a:cubicBezTo>
                  <a:pt x="21600" y="21193"/>
                  <a:pt x="21396" y="21600"/>
                  <a:pt x="21145" y="21600"/>
                </a:cubicBezTo>
                <a:lnTo>
                  <a:pt x="455" y="21600"/>
                </a:lnTo>
                <a:cubicBezTo>
                  <a:pt x="204" y="21600"/>
                  <a:pt x="0" y="21193"/>
                  <a:pt x="0" y="20691"/>
                </a:cubicBezTo>
                <a:lnTo>
                  <a:pt x="0" y="909"/>
                </a:lnTo>
                <a:lnTo>
                  <a:pt x="2" y="816"/>
                </a:lnTo>
                <a:cubicBezTo>
                  <a:pt x="26" y="358"/>
                  <a:pt x="219" y="0"/>
                  <a:pt x="455" y="0"/>
                </a:cubicBezTo>
                <a:lnTo>
                  <a:pt x="21145" y="0"/>
                </a:lnTo>
                <a:cubicBezTo>
                  <a:pt x="21396" y="0"/>
                  <a:pt x="21600" y="407"/>
                  <a:pt x="21600" y="909"/>
                </a:cubicBezTo>
                <a:close/>
              </a:path>
            </a:pathLst>
          </a:custGeom>
          <a:ln w="12700">
            <a:miter lim="400000"/>
            <a:headEnd/>
            <a:tailEnd/>
          </a:ln>
        </p:spPr>
      </p:pic>
      <p:sp>
        <p:nvSpPr>
          <p:cNvPr id="534" name="AutoShape 6"/>
          <p:cNvSpPr/>
          <p:nvPr/>
        </p:nvSpPr>
        <p:spPr>
          <a:xfrm>
            <a:off x="-5088244" y="2095500"/>
            <a:ext cx="4953000" cy="2413000"/>
          </a:xfrm>
          <a:prstGeom prst="roundRect">
            <a:avLst>
              <a:gd name="adj" fmla="val 4210"/>
            </a:avLst>
          </a:prstGeom>
          <a:solidFill>
            <a:srgbClr val="9C5C38">
              <a:alpha val="600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536" name="AutoShape 8"/>
          <p:cNvSpPr txBox="1"/>
          <p:nvPr/>
        </p:nvSpPr>
        <p:spPr>
          <a:xfrm>
            <a:off x="-4834244" y="2781300"/>
            <a:ext cx="4445000" cy="533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33000"/>
              </a:lnSpc>
              <a:defRPr sz="1300">
                <a:solidFill>
                  <a:srgbClr val="2B2B2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defRPr>
            </a:lvl1pPr>
          </a:lstStyle>
          <a:p>
            <a:r>
              <a:t>AI全球规则的制定权，究竟由少数国家垄断，还是由世界各国平等参与、共同决定？</a:t>
            </a:r>
          </a:p>
        </p:txBody>
      </p:sp>
      <p:sp>
        <p:nvSpPr>
          <p:cNvPr id="537" name="AutoShape 9"/>
          <p:cNvSpPr txBox="1"/>
          <p:nvPr/>
        </p:nvSpPr>
        <p:spPr>
          <a:xfrm>
            <a:off x="-4834244" y="3564467"/>
            <a:ext cx="4445000" cy="74506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33000"/>
              </a:lnSpc>
              <a:defRPr sz="1100">
                <a:solidFill>
                  <a:srgbClr val="645F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defRPr>
            </a:lvl1pPr>
          </a:lstStyle>
          <a:p>
            <a:r>
              <a:t>当前全球治理呈现多套体系并行、协调机制不足的碎片化状态。若各自为政甚至设置技术壁垒，将进一步割裂全球产业链，加剧国家间的"智能鸿沟"。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14088745" y="6807200"/>
            <a:ext cx="3213100" cy="1651000"/>
            <a:chOff x="-5273" y="7500"/>
            <a:chExt cx="5060" cy="2600"/>
          </a:xfrm>
        </p:grpSpPr>
        <p:sp>
          <p:nvSpPr>
            <p:cNvPr id="544" name="AutoShape 16"/>
            <p:cNvSpPr/>
            <p:nvPr/>
          </p:nvSpPr>
          <p:spPr>
            <a:xfrm>
              <a:off x="-5273" y="7500"/>
              <a:ext cx="5060" cy="2600"/>
            </a:xfrm>
            <a:prstGeom prst="roundRect">
              <a:avLst>
                <a:gd name="adj" fmla="val 6153"/>
              </a:avLst>
            </a:prstGeom>
            <a:solidFill>
              <a:srgbClr val="466EA0">
                <a:alpha val="8000"/>
              </a:srgbClr>
            </a:solidFill>
            <a:ln w="12700">
              <a:solidFill>
                <a:srgbClr val="466EA0">
                  <a:alpha val="25000"/>
                </a:srgbClr>
              </a:solidFill>
            </a:ln>
          </p:spPr>
          <p:txBody>
            <a:bodyPr lIns="0" tIns="0" rIns="0" bIns="0" anchor="ctr"/>
            <a:lstStyle/>
            <a:p>
              <a:pPr algn="ctr"/>
            </a:p>
          </p:txBody>
        </p:sp>
        <p:sp>
          <p:nvSpPr>
            <p:cNvPr id="545" name="AutoShape 17"/>
            <p:cNvSpPr txBox="1"/>
            <p:nvPr/>
          </p:nvSpPr>
          <p:spPr>
            <a:xfrm>
              <a:off x="-4973" y="7770"/>
              <a:ext cx="4460" cy="36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1300" b="1">
                  <a:solidFill>
                    <a:srgbClr val="466EA0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欧盟及中小国家</a:t>
              </a:r>
            </a:p>
          </p:txBody>
        </p:sp>
        <p:sp>
          <p:nvSpPr>
            <p:cNvPr id="546" name="AutoShape 18"/>
            <p:cNvSpPr txBox="1"/>
            <p:nvPr/>
          </p:nvSpPr>
          <p:spPr>
            <a:xfrm>
              <a:off x="-4973" y="8503"/>
              <a:ext cx="4460" cy="1173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33000"/>
                </a:lnSpc>
                <a:defRPr sz="1100">
                  <a:solidFill>
                    <a:srgbClr val="3C3C3C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defRPr>
              </a:lvl1pPr>
            </a:lstStyle>
            <a:p>
              <a:r>
                <a:t>强化联合国框架下多边治理；建立统一监管机制；以风险分级强制合规为基线，输出监管模式获取规则话语权。</a:t>
              </a:r>
            </a:p>
          </p:txBody>
        </p:sp>
      </p:grpSp>
      <p:sp>
        <p:nvSpPr>
          <p:cNvPr id="547" name="AutoShape 19"/>
          <p:cNvSpPr txBox="1"/>
          <p:nvPr/>
        </p:nvSpPr>
        <p:spPr>
          <a:xfrm>
            <a:off x="-10295244" y="1917700"/>
            <a:ext cx="5080000" cy="1778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000">
                <a:solidFill>
                  <a:srgbClr val="9C5C38">
                    <a:alpha val="45098"/>
                  </a:srgbClr>
                </a:solidFill>
                <a:latin typeface="Kaiti SC Regular"/>
                <a:ea typeface="Kaiti SC Regular"/>
                <a:cs typeface="Kaiti SC Regular"/>
                <a:sym typeface="Kaiti SC Regular"/>
              </a:defRPr>
            </a:lvl1pPr>
          </a:lstStyle>
          <a:p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AI规则，到底由谁说了算？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32" name="Connector 4"/>
          <p:cNvSpPr/>
          <p:nvPr/>
        </p:nvSpPr>
        <p:spPr>
          <a:xfrm>
            <a:off x="-4472368" y="-1568450"/>
            <a:ext cx="4242119" cy="3448051"/>
          </a:xfrm>
          <a:prstGeom prst="line">
            <a:avLst/>
          </a:prstGeom>
          <a:ln w="25400">
            <a:solidFill>
              <a:srgbClr val="9C5C38"/>
            </a:solidFill>
          </a:ln>
        </p:spPr>
        <p:txBody>
          <a:bodyPr lIns="0" tIns="0" rIns="0" bIns="0"/>
          <a:lstStyle/>
          <a:p/>
        </p:txBody>
      </p:sp>
      <p:grpSp>
        <p:nvGrpSpPr>
          <p:cNvPr id="10" name="组合 9"/>
          <p:cNvGrpSpPr/>
          <p:nvPr userDrawn="1"/>
        </p:nvGrpSpPr>
        <p:grpSpPr>
          <a:xfrm>
            <a:off x="-3411791" y="6884099"/>
            <a:ext cx="3213100" cy="1651000"/>
            <a:chOff x="1600" y="7500"/>
            <a:chExt cx="5060" cy="2600"/>
          </a:xfrm>
        </p:grpSpPr>
        <p:sp>
          <p:nvSpPr>
            <p:cNvPr id="5" name="AutoShape 10"/>
            <p:cNvSpPr/>
            <p:nvPr/>
          </p:nvSpPr>
          <p:spPr>
            <a:xfrm>
              <a:off x="1600" y="7500"/>
              <a:ext cx="5060" cy="2600"/>
            </a:xfrm>
            <a:prstGeom prst="roundRect">
              <a:avLst>
                <a:gd name="adj" fmla="val 6153"/>
              </a:avLst>
            </a:prstGeom>
            <a:solidFill>
              <a:srgbClr val="B4503C">
                <a:alpha val="8000"/>
              </a:srgbClr>
            </a:solidFill>
            <a:ln w="12700">
              <a:solidFill>
                <a:srgbClr val="B4503C">
                  <a:alpha val="25000"/>
                </a:srgbClr>
              </a:solidFill>
            </a:ln>
          </p:spPr>
          <p:txBody>
            <a:bodyPr lIns="0" tIns="0" rIns="0" bIns="0" anchor="ctr"/>
            <a:lstStyle/>
            <a:p>
              <a:pPr algn="ctr"/>
            </a:p>
          </p:txBody>
        </p:sp>
        <p:sp>
          <p:nvSpPr>
            <p:cNvPr id="6" name="AutoShape 11"/>
            <p:cNvSpPr txBox="1"/>
            <p:nvPr/>
          </p:nvSpPr>
          <p:spPr>
            <a:xfrm>
              <a:off x="1900" y="7770"/>
              <a:ext cx="4460" cy="36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1300" b="1">
                  <a:solidFill>
                    <a:srgbClr val="B4503C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美国政府</a:t>
              </a:r>
            </a:p>
          </p:txBody>
        </p:sp>
        <p:sp>
          <p:nvSpPr>
            <p:cNvPr id="7" name="AutoShape 12"/>
            <p:cNvSpPr txBox="1"/>
            <p:nvPr/>
          </p:nvSpPr>
          <p:spPr>
            <a:xfrm>
              <a:off x="1900" y="8503"/>
              <a:ext cx="4460" cy="1173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33000"/>
                </a:lnSpc>
                <a:defRPr sz="1100">
                  <a:solidFill>
                    <a:srgbClr val="3C3C3C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defRPr>
              </a:lvl1pPr>
            </a:lstStyle>
            <a:p>
              <a:r>
                <a:t>拒绝国际管控，坚持技术领先"不暂停"；以"自愿提交审查"替代强制监管，打造排他性技术联盟。</a:t>
              </a:r>
            </a:p>
          </p:txBody>
        </p:sp>
      </p:grpSp>
      <p:grpSp>
        <p:nvGrpSpPr>
          <p:cNvPr id="3" name="组合 2"/>
          <p:cNvGrpSpPr/>
          <p:nvPr userDrawn="1"/>
        </p:nvGrpSpPr>
        <p:grpSpPr>
          <a:xfrm>
            <a:off x="4489499" y="6884156"/>
            <a:ext cx="3213100" cy="1651000"/>
            <a:chOff x="7060" y="7500"/>
            <a:chExt cx="5060" cy="2600"/>
          </a:xfrm>
        </p:grpSpPr>
        <p:sp>
          <p:nvSpPr>
            <p:cNvPr id="2" name="AutoShape 13"/>
            <p:cNvSpPr/>
            <p:nvPr/>
          </p:nvSpPr>
          <p:spPr>
            <a:xfrm>
              <a:off x="7060" y="7500"/>
              <a:ext cx="5060" cy="2600"/>
            </a:xfrm>
            <a:prstGeom prst="roundRect">
              <a:avLst>
                <a:gd name="adj" fmla="val 6153"/>
              </a:avLst>
            </a:prstGeom>
            <a:solidFill>
              <a:srgbClr val="9C5C38">
                <a:alpha val="10000"/>
              </a:srgbClr>
            </a:solidFill>
            <a:ln w="12700">
              <a:solidFill>
                <a:srgbClr val="9C5C38">
                  <a:alpha val="30000"/>
                </a:srgbClr>
              </a:solidFill>
            </a:ln>
          </p:spPr>
          <p:txBody>
            <a:bodyPr lIns="0" tIns="0" rIns="0" bIns="0" anchor="ctr"/>
            <a:lstStyle/>
            <a:p>
              <a:pPr algn="ctr"/>
            </a:p>
          </p:txBody>
        </p:sp>
        <p:sp>
          <p:nvSpPr>
            <p:cNvPr id="4" name="AutoShape 14"/>
            <p:cNvSpPr txBox="1"/>
            <p:nvPr/>
          </p:nvSpPr>
          <p:spPr>
            <a:xfrm>
              <a:off x="7360" y="7770"/>
              <a:ext cx="4460" cy="36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1300" b="1">
                  <a:solidFill>
                    <a:srgbClr val="9C5C38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中国</a:t>
              </a:r>
            </a:p>
          </p:txBody>
        </p:sp>
        <p:sp>
          <p:nvSpPr>
            <p:cNvPr id="8" name="AutoShape 15"/>
            <p:cNvSpPr txBox="1"/>
            <p:nvPr/>
          </p:nvSpPr>
          <p:spPr>
            <a:xfrm>
              <a:off x="7360" y="8503"/>
              <a:ext cx="4460" cy="1173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33000"/>
                </a:lnSpc>
                <a:defRPr sz="1100">
                  <a:solidFill>
                    <a:srgbClr val="3C3C3C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defRPr>
              </a:lvl1pPr>
            </a:lstStyle>
            <a:p>
              <a:r>
                <a:t>反对技术霸权与选边站队；主张公平普惠、多边共治；支持联合国发挥主渠道作用，推动AI造福全人类。</a:t>
              </a:r>
            </a:p>
          </p:txBody>
        </p:sp>
      </p:grpSp>
      <p:graphicFrame>
        <p:nvGraphicFramePr>
          <p:cNvPr id="512" name="Table 5"/>
          <p:cNvGraphicFramePr/>
          <p:nvPr/>
        </p:nvGraphicFramePr>
        <p:xfrm>
          <a:off x="1016000" y="7284085"/>
          <a:ext cx="6350000" cy="368300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270000"/>
                <a:gridCol w="5080000"/>
              </a:tblGrid>
              <a:tr h="5588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国家/机构</a:t>
                      </a:r>
                      <a:endParaRPr sz="1300" b="1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 anchorCtr="0" horzOverflow="overflow">
                    <a:lnL w="3175">
                      <a:solidFill>
                        <a:srgbClr val="000000"/>
                      </a:solidFill>
                    </a:lnL>
                    <a:lnR w="3175">
                      <a:solidFill>
                        <a:srgbClr val="000000"/>
                      </a:solidFill>
                    </a:lnR>
                    <a:lnT w="3175">
                      <a:solidFill>
                        <a:srgbClr val="000000"/>
                      </a:solidFill>
                    </a:lnT>
                    <a:lnB w="3175">
                      <a:solidFill>
                        <a:srgbClr val="000000"/>
                      </a:solidFill>
                    </a:lnB>
                    <a:solidFill>
                      <a:srgbClr val="9C5C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核心主张</a:t>
                      </a:r>
                      <a:endParaRPr sz="1300" b="1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 anchorCtr="0" horzOverflow="overflow">
                    <a:lnL w="3175">
                      <a:solidFill>
                        <a:srgbClr val="000000"/>
                      </a:solidFill>
                    </a:lnL>
                    <a:lnR w="3175">
                      <a:solidFill>
                        <a:srgbClr val="000000"/>
                      </a:solidFill>
                    </a:lnR>
                    <a:lnT w="3175">
                      <a:solidFill>
                        <a:srgbClr val="000000"/>
                      </a:solidFill>
                    </a:lnT>
                    <a:lnB w="3175">
                      <a:solidFill>
                        <a:srgbClr val="000000"/>
                      </a:solidFill>
                    </a:lnB>
                    <a:solidFill>
                      <a:srgbClr val="9C5C38"/>
                    </a:solidFill>
                  </a:tcPr>
                </a:tc>
              </a:tr>
              <a:tr h="787400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defRPr sz="1800"/>
                      </a:pPr>
                      <a:r>
                        <a:rPr sz="1300" b="1">
                          <a:solidFill>
                            <a:srgbClr val="2B2B2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法国</a:t>
                      </a:r>
                      <a:endParaRPr sz="1300" b="1">
                        <a:solidFill>
                          <a:srgbClr val="2B2B2B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3175">
                      <a:solidFill>
                        <a:srgbClr val="000000"/>
                      </a:solidFill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7000"/>
                        </a:lnSpc>
                        <a:defRPr sz="1800"/>
                      </a:pPr>
                      <a:r>
                        <a:rPr sz="1200">
                          <a:solidFill>
                            <a:srgbClr val="3C3C3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轮值主席国主持会议，敦促联合国框架内共定规则；联合20国发起"前沿AI模型控制呼吁"</a:t>
                      </a:r>
                      <a:endParaRPr sz="1200">
                        <a:solidFill>
                          <a:srgbClr val="3C3C3C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3175">
                      <a:solidFill>
                        <a:srgbClr val="000000"/>
                      </a:solidFill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</a:tr>
              <a:tr h="787400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defRPr sz="1800"/>
                      </a:pPr>
                      <a:r>
                        <a:rPr sz="1300" b="1">
                          <a:solidFill>
                            <a:srgbClr val="2B2B2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欧盟</a:t>
                      </a:r>
                      <a:endParaRPr sz="1300" b="1">
                        <a:solidFill>
                          <a:srgbClr val="2B2B2B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7000"/>
                        </a:lnSpc>
                        <a:defRPr sz="1800"/>
                      </a:pPr>
                      <a:r>
                        <a:rPr sz="1200">
                          <a:solidFill>
                            <a:srgbClr val="3C3C3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AI法案2026年8月全面执行，按风险四级监管；主张没有任何国家能单独监管AI，呼吁联合国发挥核心作用</a:t>
                      </a:r>
                      <a:endParaRPr sz="1200">
                        <a:solidFill>
                          <a:srgbClr val="3C3C3C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5F0E8"/>
                    </a:solidFill>
                  </a:tcPr>
                </a:tc>
              </a:tr>
              <a:tr h="787400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defRPr sz="1800"/>
                      </a:pPr>
                      <a:r>
                        <a:rPr sz="1300" b="1">
                          <a:solidFill>
                            <a:srgbClr val="2B2B2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英国</a:t>
                      </a:r>
                      <a:endParaRPr sz="1300" b="1">
                        <a:solidFill>
                          <a:srgbClr val="2B2B2B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7000"/>
                        </a:lnSpc>
                        <a:defRPr sz="1800"/>
                      </a:pPr>
                      <a:r>
                        <a:rPr sz="1200">
                          <a:solidFill>
                            <a:srgbClr val="3C3C3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政府须确保AI安全和企业透明度；认为监管到位，才能真正获得AI带来的利益</a:t>
                      </a:r>
                      <a:endParaRPr sz="1200">
                        <a:solidFill>
                          <a:srgbClr val="3C3C3C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defRPr sz="1800"/>
                      </a:pPr>
                      <a:r>
                        <a:rPr sz="1300" b="1">
                          <a:solidFill>
                            <a:srgbClr val="2B2B2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俄罗斯</a:t>
                      </a:r>
                      <a:endParaRPr sz="1300" b="1">
                        <a:solidFill>
                          <a:srgbClr val="2B2B2B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7000"/>
                        </a:lnSpc>
                        <a:defRPr sz="1800"/>
                      </a:pPr>
                      <a:r>
                        <a:rPr sz="1200">
                          <a:solidFill>
                            <a:srgbClr val="3C3C3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AI控制应由各国在国家层级决定，对话须基于共识、包容，属政府间性质</a:t>
                      </a:r>
                      <a:endParaRPr sz="1200">
                        <a:solidFill>
                          <a:srgbClr val="3C3C3C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5F0E8"/>
                    </a:solidFill>
                  </a:tcPr>
                </a:tc>
              </a:tr>
            </a:tbl>
          </a:graphicData>
        </a:graphic>
      </p:graphicFrame>
      <p:pic>
        <p:nvPicPr>
          <p:cNvPr id="513" name="Picture 6" descr="Picture 6"/>
          <p:cNvPicPr>
            <a:picLocks noChangeAspect="1"/>
          </p:cNvPicPr>
          <p:nvPr/>
        </p:nvPicPr>
        <p:blipFill>
          <a:blip r:embed="rId2"/>
          <a:srcRect t="2748" b="2748"/>
          <a:stretch>
            <a:fillRect/>
          </a:stretch>
        </p:blipFill>
        <p:spPr>
          <a:xfrm>
            <a:off x="7702550" y="8037829"/>
            <a:ext cx="3429000" cy="2159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016"/>
                </a:moveTo>
                <a:lnTo>
                  <a:pt x="21600" y="20584"/>
                </a:lnTo>
                <a:cubicBezTo>
                  <a:pt x="21600" y="21145"/>
                  <a:pt x="21314" y="21600"/>
                  <a:pt x="20960" y="21600"/>
                </a:cubicBezTo>
                <a:lnTo>
                  <a:pt x="640" y="21600"/>
                </a:lnTo>
                <a:cubicBezTo>
                  <a:pt x="286" y="21600"/>
                  <a:pt x="0" y="21145"/>
                  <a:pt x="0" y="20584"/>
                </a:cubicBezTo>
                <a:lnTo>
                  <a:pt x="0" y="1016"/>
                </a:lnTo>
                <a:lnTo>
                  <a:pt x="3" y="912"/>
                </a:lnTo>
                <a:cubicBezTo>
                  <a:pt x="36" y="400"/>
                  <a:pt x="309" y="0"/>
                  <a:pt x="640" y="0"/>
                </a:cubicBezTo>
                <a:lnTo>
                  <a:pt x="20960" y="0"/>
                </a:lnTo>
                <a:cubicBezTo>
                  <a:pt x="21314" y="0"/>
                  <a:pt x="21600" y="455"/>
                  <a:pt x="21600" y="1016"/>
                </a:cubicBezTo>
                <a:close/>
              </a:path>
            </a:pathLst>
          </a:custGeom>
          <a:ln w="12700">
            <a:miter lim="400000"/>
            <a:headEnd/>
            <a:tailEnd/>
          </a:ln>
        </p:spPr>
      </p:pic>
      <p:sp>
        <p:nvSpPr>
          <p:cNvPr id="514" name="AutoShape 7"/>
          <p:cNvSpPr/>
          <p:nvPr/>
        </p:nvSpPr>
        <p:spPr>
          <a:xfrm>
            <a:off x="7702550" y="12948920"/>
            <a:ext cx="3429000" cy="1460500"/>
          </a:xfrm>
          <a:prstGeom prst="roundRect">
            <a:avLst>
              <a:gd name="adj" fmla="val 6956"/>
            </a:avLst>
          </a:prstGeom>
          <a:solidFill>
            <a:srgbClr val="9C5C38">
              <a:alpha val="8000"/>
            </a:srgbClr>
          </a:solidFill>
          <a:ln w="12700">
            <a:solidFill>
              <a:srgbClr val="9C5C38">
                <a:alpha val="30000"/>
              </a:srgbClr>
            </a:solidFill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515" name="AutoShape 8"/>
          <p:cNvSpPr txBox="1"/>
          <p:nvPr/>
        </p:nvSpPr>
        <p:spPr>
          <a:xfrm>
            <a:off x="7893050" y="13126719"/>
            <a:ext cx="3048000" cy="2159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200" b="1">
                <a:solidFill>
                  <a:srgbClr val="9C5C3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欧盟《人工智能法案》</a:t>
            </a:r>
          </a:p>
        </p:txBody>
      </p:sp>
      <p:sp>
        <p:nvSpPr>
          <p:cNvPr id="516" name="AutoShape 9"/>
          <p:cNvSpPr txBox="1"/>
          <p:nvPr/>
        </p:nvSpPr>
        <p:spPr>
          <a:xfrm>
            <a:off x="7893050" y="13495019"/>
            <a:ext cx="3048000" cy="7112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100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defRPr>
            </a:lvl1pPr>
          </a:lstStyle>
          <a:p>
            <a:r>
              <a:t>2026年8月2日进入全面执行阶段，是全球首部综合性AI法律，将AI系统按风险分为禁止、高风险、有限风险、最低风险四级监管。</a:t>
            </a:r>
          </a:p>
        </p:txBody>
      </p:sp>
      <p:sp>
        <p:nvSpPr>
          <p:cNvPr id="12" name="AutoShape 6"/>
          <p:cNvSpPr txBox="1"/>
          <p:nvPr/>
        </p:nvSpPr>
        <p:spPr>
          <a:xfrm rot="2760000">
            <a:off x="11030797" y="15019019"/>
            <a:ext cx="3810000" cy="24384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r">
              <a:lnSpc>
                <a:spcPct val="125000"/>
              </a:lnSpc>
              <a:defRPr sz="16000" b="1">
                <a:solidFill>
                  <a:srgbClr val="FAF7F2">
                    <a:alpha val="5882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04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AutoShape 2"/>
          <p:cNvSpPr txBox="1"/>
          <p:nvPr/>
        </p:nvSpPr>
        <p:spPr>
          <a:xfrm>
            <a:off x="1016000" y="717550"/>
            <a:ext cx="6350000" cy="2159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200">
                <a:solidFill>
                  <a:srgbClr val="9C5C3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第四章 · 核心分歧</a:t>
            </a:r>
          </a:p>
        </p:txBody>
      </p:sp>
      <p:sp>
        <p:nvSpPr>
          <p:cNvPr id="531" name="AutoShape 3"/>
          <p:cNvSpPr txBox="1"/>
          <p:nvPr/>
        </p:nvSpPr>
        <p:spPr>
          <a:xfrm>
            <a:off x="1016000" y="1130299"/>
            <a:ext cx="10160000" cy="4699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2600" b="1">
                <a:solidFill>
                  <a:srgbClr val="2B2B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全球AI治理的三方博弈</a:t>
            </a:r>
          </a:p>
        </p:txBody>
      </p:sp>
      <p:sp>
        <p:nvSpPr>
          <p:cNvPr id="532" name="Connector 4"/>
          <p:cNvSpPr/>
          <p:nvPr/>
        </p:nvSpPr>
        <p:spPr>
          <a:xfrm>
            <a:off x="1015999" y="1803400"/>
            <a:ext cx="508319" cy="0"/>
          </a:xfrm>
          <a:prstGeom prst="line">
            <a:avLst/>
          </a:prstGeom>
          <a:ln w="25400">
            <a:solidFill>
              <a:srgbClr val="9C5C38"/>
            </a:solidFill>
          </a:ln>
        </p:spPr>
        <p:txBody>
          <a:bodyPr lIns="0" tIns="0" rIns="0" bIns="0"/>
          <a:lstStyle/>
          <a:p/>
        </p:txBody>
      </p:sp>
      <p:pic>
        <p:nvPicPr>
          <p:cNvPr id="533" name="Picture 5" descr="Picture 5"/>
          <p:cNvPicPr>
            <a:picLocks noChangeAspect="1"/>
          </p:cNvPicPr>
          <p:nvPr/>
        </p:nvPicPr>
        <p:blipFill>
          <a:blip r:embed="rId1"/>
          <a:srcRect l="123" r="124"/>
          <a:stretch>
            <a:fillRect/>
          </a:stretch>
        </p:blipFill>
        <p:spPr>
          <a:xfrm>
            <a:off x="1016000" y="2095500"/>
            <a:ext cx="4826001" cy="2413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909"/>
                </a:moveTo>
                <a:lnTo>
                  <a:pt x="21600" y="20691"/>
                </a:lnTo>
                <a:cubicBezTo>
                  <a:pt x="21600" y="21193"/>
                  <a:pt x="21396" y="21600"/>
                  <a:pt x="21145" y="21600"/>
                </a:cubicBezTo>
                <a:lnTo>
                  <a:pt x="455" y="21600"/>
                </a:lnTo>
                <a:cubicBezTo>
                  <a:pt x="204" y="21600"/>
                  <a:pt x="0" y="21193"/>
                  <a:pt x="0" y="20691"/>
                </a:cubicBezTo>
                <a:lnTo>
                  <a:pt x="0" y="909"/>
                </a:lnTo>
                <a:lnTo>
                  <a:pt x="2" y="816"/>
                </a:lnTo>
                <a:cubicBezTo>
                  <a:pt x="26" y="358"/>
                  <a:pt x="219" y="0"/>
                  <a:pt x="455" y="0"/>
                </a:cubicBezTo>
                <a:lnTo>
                  <a:pt x="21145" y="0"/>
                </a:lnTo>
                <a:cubicBezTo>
                  <a:pt x="21396" y="0"/>
                  <a:pt x="21600" y="407"/>
                  <a:pt x="21600" y="909"/>
                </a:cubicBezTo>
                <a:close/>
              </a:path>
            </a:pathLst>
          </a:custGeom>
          <a:ln w="12700">
            <a:miter lim="400000"/>
            <a:headEnd/>
            <a:tailEnd/>
          </a:ln>
        </p:spPr>
      </p:pic>
      <p:grpSp>
        <p:nvGrpSpPr>
          <p:cNvPr id="14" name="组合 13"/>
          <p:cNvGrpSpPr/>
          <p:nvPr userDrawn="1"/>
        </p:nvGrpSpPr>
        <p:grpSpPr>
          <a:xfrm>
            <a:off x="6223000" y="2095500"/>
            <a:ext cx="4953000" cy="2413000"/>
            <a:chOff x="9800" y="3300"/>
            <a:chExt cx="7800" cy="3800"/>
          </a:xfrm>
        </p:grpSpPr>
        <p:sp>
          <p:nvSpPr>
            <p:cNvPr id="534" name="AutoShape 6"/>
            <p:cNvSpPr/>
            <p:nvPr/>
          </p:nvSpPr>
          <p:spPr>
            <a:xfrm>
              <a:off x="9800" y="3300"/>
              <a:ext cx="7800" cy="3800"/>
            </a:xfrm>
            <a:prstGeom prst="roundRect">
              <a:avLst>
                <a:gd name="adj" fmla="val 4210"/>
              </a:avLst>
            </a:prstGeom>
            <a:solidFill>
              <a:srgbClr val="9C5C38">
                <a:alpha val="6000"/>
              </a:srgb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ctr"/>
            </a:p>
          </p:txBody>
        </p:sp>
        <p:sp>
          <p:nvSpPr>
            <p:cNvPr id="535" name="AutoShape 7"/>
            <p:cNvSpPr txBox="1"/>
            <p:nvPr/>
          </p:nvSpPr>
          <p:spPr>
            <a:xfrm>
              <a:off x="10200" y="3700"/>
              <a:ext cx="7000" cy="40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b="1">
                  <a:solidFill>
                    <a:srgbClr val="9C5C38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深层矛盾</a:t>
              </a:r>
            </a:p>
          </p:txBody>
        </p:sp>
        <p:sp>
          <p:nvSpPr>
            <p:cNvPr id="536" name="AutoShape 8"/>
            <p:cNvSpPr txBox="1"/>
            <p:nvPr/>
          </p:nvSpPr>
          <p:spPr>
            <a:xfrm>
              <a:off x="10200" y="4380"/>
              <a:ext cx="7000" cy="84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33000"/>
                </a:lnSpc>
                <a:defRPr sz="1300">
                  <a:solidFill>
                    <a:srgbClr val="2B2B2B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defRPr>
              </a:lvl1pPr>
            </a:lstStyle>
            <a:p>
              <a:r>
                <a:t>AI全球规则的制定权，究竟由少数国家垄断，还是由世界各国平等参与、共同决定？</a:t>
              </a:r>
            </a:p>
          </p:txBody>
        </p:sp>
        <p:sp>
          <p:nvSpPr>
            <p:cNvPr id="537" name="AutoShape 9"/>
            <p:cNvSpPr txBox="1"/>
            <p:nvPr/>
          </p:nvSpPr>
          <p:spPr>
            <a:xfrm>
              <a:off x="10200" y="5613"/>
              <a:ext cx="7000" cy="1173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33000"/>
                </a:lnSpc>
                <a:defRPr sz="1100">
                  <a:solidFill>
                    <a:srgbClr val="645F5A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defRPr>
              </a:lvl1pPr>
            </a:lstStyle>
            <a:p>
              <a:r>
                <a:t>当前全球治理呈现多套体系并行、协调机制不足的碎片化状态。若各自为政甚至设置技术壁垒，将进一步割裂全球产业链，加剧国家间的"智能鸿沟"。</a:t>
              </a: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1016000" y="4762500"/>
            <a:ext cx="3213100" cy="1651000"/>
            <a:chOff x="1600" y="7500"/>
            <a:chExt cx="5060" cy="2600"/>
          </a:xfrm>
        </p:grpSpPr>
        <p:sp>
          <p:nvSpPr>
            <p:cNvPr id="538" name="AutoShape 10"/>
            <p:cNvSpPr/>
            <p:nvPr/>
          </p:nvSpPr>
          <p:spPr>
            <a:xfrm>
              <a:off x="1600" y="7500"/>
              <a:ext cx="5060" cy="2600"/>
            </a:xfrm>
            <a:prstGeom prst="roundRect">
              <a:avLst>
                <a:gd name="adj" fmla="val 6153"/>
              </a:avLst>
            </a:prstGeom>
            <a:solidFill>
              <a:srgbClr val="B4503C">
                <a:alpha val="8000"/>
              </a:srgbClr>
            </a:solidFill>
            <a:ln w="12700">
              <a:solidFill>
                <a:srgbClr val="B4503C">
                  <a:alpha val="25000"/>
                </a:srgbClr>
              </a:solidFill>
            </a:ln>
          </p:spPr>
          <p:txBody>
            <a:bodyPr lIns="0" tIns="0" rIns="0" bIns="0" anchor="ctr"/>
            <a:lstStyle/>
            <a:p>
              <a:pPr algn="ctr"/>
            </a:p>
          </p:txBody>
        </p:sp>
        <p:sp>
          <p:nvSpPr>
            <p:cNvPr id="539" name="AutoShape 11"/>
            <p:cNvSpPr txBox="1"/>
            <p:nvPr/>
          </p:nvSpPr>
          <p:spPr>
            <a:xfrm>
              <a:off x="1900" y="7770"/>
              <a:ext cx="4460" cy="36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1300" b="1">
                  <a:solidFill>
                    <a:srgbClr val="B4503C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美国政府</a:t>
              </a:r>
            </a:p>
          </p:txBody>
        </p:sp>
        <p:sp>
          <p:nvSpPr>
            <p:cNvPr id="540" name="AutoShape 12"/>
            <p:cNvSpPr txBox="1"/>
            <p:nvPr/>
          </p:nvSpPr>
          <p:spPr>
            <a:xfrm>
              <a:off x="1900" y="8503"/>
              <a:ext cx="4460" cy="1173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33000"/>
                </a:lnSpc>
                <a:defRPr sz="1100">
                  <a:solidFill>
                    <a:srgbClr val="3C3C3C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defRPr>
              </a:lvl1pPr>
            </a:lstStyle>
            <a:p>
              <a:r>
                <a:t>拒绝国际管控，坚持技术领先"不暂停"；以"自愿提交审查"替代强制监管，打造排他性技术联盟。</a:t>
              </a:r>
            </a:p>
          </p:txBody>
        </p:sp>
      </p:grpSp>
      <p:grpSp>
        <p:nvGrpSpPr>
          <p:cNvPr id="4" name="组合 3"/>
          <p:cNvGrpSpPr/>
          <p:nvPr userDrawn="1"/>
        </p:nvGrpSpPr>
        <p:grpSpPr>
          <a:xfrm>
            <a:off x="4483100" y="4762500"/>
            <a:ext cx="3213100" cy="1651000"/>
            <a:chOff x="7060" y="7500"/>
            <a:chExt cx="5060" cy="2600"/>
          </a:xfrm>
        </p:grpSpPr>
        <p:sp>
          <p:nvSpPr>
            <p:cNvPr id="541" name="AutoShape 13"/>
            <p:cNvSpPr/>
            <p:nvPr/>
          </p:nvSpPr>
          <p:spPr>
            <a:xfrm>
              <a:off x="7060" y="7500"/>
              <a:ext cx="5060" cy="2600"/>
            </a:xfrm>
            <a:prstGeom prst="roundRect">
              <a:avLst>
                <a:gd name="adj" fmla="val 6153"/>
              </a:avLst>
            </a:prstGeom>
            <a:solidFill>
              <a:srgbClr val="9C5C38">
                <a:alpha val="10000"/>
              </a:srgbClr>
            </a:solidFill>
            <a:ln w="12700">
              <a:solidFill>
                <a:srgbClr val="9C5C38">
                  <a:alpha val="30000"/>
                </a:srgbClr>
              </a:solidFill>
            </a:ln>
          </p:spPr>
          <p:txBody>
            <a:bodyPr lIns="0" tIns="0" rIns="0" bIns="0" anchor="ctr"/>
            <a:lstStyle/>
            <a:p>
              <a:pPr algn="ctr"/>
            </a:p>
          </p:txBody>
        </p:sp>
        <p:sp>
          <p:nvSpPr>
            <p:cNvPr id="542" name="AutoShape 14"/>
            <p:cNvSpPr txBox="1"/>
            <p:nvPr/>
          </p:nvSpPr>
          <p:spPr>
            <a:xfrm>
              <a:off x="7360" y="7770"/>
              <a:ext cx="4460" cy="36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1300" b="1">
                  <a:solidFill>
                    <a:srgbClr val="9C5C38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中国</a:t>
              </a:r>
            </a:p>
          </p:txBody>
        </p:sp>
        <p:sp>
          <p:nvSpPr>
            <p:cNvPr id="543" name="AutoShape 15"/>
            <p:cNvSpPr txBox="1"/>
            <p:nvPr/>
          </p:nvSpPr>
          <p:spPr>
            <a:xfrm>
              <a:off x="7360" y="8503"/>
              <a:ext cx="4460" cy="1173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33000"/>
                </a:lnSpc>
                <a:defRPr sz="1100">
                  <a:solidFill>
                    <a:srgbClr val="3C3C3C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defRPr>
              </a:lvl1pPr>
            </a:lstStyle>
            <a:p>
              <a:r>
                <a:t>反对技术霸权与选边站队；主张公平普惠、多边共治；支持联合国发挥主渠道作用，推动AI造福全人类。</a:t>
              </a:r>
            </a:p>
          </p:txBody>
        </p:sp>
      </p:grpSp>
      <p:grpSp>
        <p:nvGrpSpPr>
          <p:cNvPr id="11" name="组合 10"/>
          <p:cNvGrpSpPr/>
          <p:nvPr userDrawn="1"/>
        </p:nvGrpSpPr>
        <p:grpSpPr>
          <a:xfrm>
            <a:off x="7962900" y="4762500"/>
            <a:ext cx="3213100" cy="1651000"/>
            <a:chOff x="12540" y="7500"/>
            <a:chExt cx="5060" cy="2600"/>
          </a:xfrm>
        </p:grpSpPr>
        <p:sp>
          <p:nvSpPr>
            <p:cNvPr id="544" name="AutoShape 16"/>
            <p:cNvSpPr/>
            <p:nvPr/>
          </p:nvSpPr>
          <p:spPr>
            <a:xfrm>
              <a:off x="12540" y="7500"/>
              <a:ext cx="5060" cy="2600"/>
            </a:xfrm>
            <a:prstGeom prst="roundRect">
              <a:avLst>
                <a:gd name="adj" fmla="val 6153"/>
              </a:avLst>
            </a:prstGeom>
            <a:solidFill>
              <a:srgbClr val="466EA0">
                <a:alpha val="8000"/>
              </a:srgbClr>
            </a:solidFill>
            <a:ln w="12700">
              <a:solidFill>
                <a:srgbClr val="466EA0">
                  <a:alpha val="25000"/>
                </a:srgbClr>
              </a:solidFill>
            </a:ln>
          </p:spPr>
          <p:txBody>
            <a:bodyPr lIns="0" tIns="0" rIns="0" bIns="0" anchor="ctr"/>
            <a:lstStyle/>
            <a:p>
              <a:pPr algn="ctr"/>
            </a:p>
          </p:txBody>
        </p:sp>
        <p:sp>
          <p:nvSpPr>
            <p:cNvPr id="545" name="AutoShape 17"/>
            <p:cNvSpPr txBox="1"/>
            <p:nvPr/>
          </p:nvSpPr>
          <p:spPr>
            <a:xfrm>
              <a:off x="12840" y="7770"/>
              <a:ext cx="4460" cy="36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1300" b="1">
                  <a:solidFill>
                    <a:srgbClr val="466EA0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欧盟及中小国家</a:t>
              </a:r>
            </a:p>
          </p:txBody>
        </p:sp>
        <p:sp>
          <p:nvSpPr>
            <p:cNvPr id="546" name="AutoShape 18"/>
            <p:cNvSpPr txBox="1"/>
            <p:nvPr/>
          </p:nvSpPr>
          <p:spPr>
            <a:xfrm>
              <a:off x="12840" y="8503"/>
              <a:ext cx="4460" cy="1173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33000"/>
                </a:lnSpc>
                <a:defRPr sz="1100">
                  <a:solidFill>
                    <a:srgbClr val="3C3C3C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defRPr>
              </a:lvl1pPr>
            </a:lstStyle>
            <a:p>
              <a:r>
                <a:t>强化联合国框架下多边治理；建立统一监管机制；以风险分级强制合规为基线，输出监管模式获取规则话语权。</a:t>
              </a:r>
            </a:p>
          </p:txBody>
        </p:sp>
      </p:grpSp>
      <p:sp>
        <p:nvSpPr>
          <p:cNvPr id="547" name="AutoShape 19"/>
          <p:cNvSpPr txBox="1"/>
          <p:nvPr/>
        </p:nvSpPr>
        <p:spPr>
          <a:xfrm>
            <a:off x="1016000" y="1917700"/>
            <a:ext cx="5080000" cy="1778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000">
                <a:solidFill>
                  <a:srgbClr val="9C5C38">
                    <a:alpha val="45098"/>
                  </a:srgbClr>
                </a:solidFill>
                <a:latin typeface="Kaiti SC Regular"/>
                <a:ea typeface="Kaiti SC Regular"/>
                <a:cs typeface="Kaiti SC Regular"/>
                <a:sym typeface="Kaiti SC Regular"/>
              </a:defRPr>
            </a:lvl1pPr>
          </a:lstStyle>
          <a:p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AI规则，到底由谁说了算？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48" name="AutoShape 20"/>
          <p:cNvSpPr/>
          <p:nvPr/>
        </p:nvSpPr>
        <p:spPr>
          <a:xfrm>
            <a:off x="1016000" y="6540500"/>
            <a:ext cx="635000" cy="38100"/>
          </a:xfrm>
          <a:prstGeom prst="roundRect">
            <a:avLst>
              <a:gd name="adj" fmla="val 0"/>
            </a:avLst>
          </a:prstGeom>
          <a:solidFill>
            <a:srgbClr val="9C5C38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5" name="AutoShape 2"/>
          <p:cNvSpPr txBox="1"/>
          <p:nvPr/>
        </p:nvSpPr>
        <p:spPr>
          <a:xfrm>
            <a:off x="-7404548" y="1388468"/>
            <a:ext cx="10160000" cy="2540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>
                <a:solidFill>
                  <a:srgbClr val="FAF7F2">
                    <a:alpha val="60000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第五章 · 中国国内治理</a:t>
            </a:r>
          </a:p>
        </p:txBody>
      </p:sp>
      <p:sp>
        <p:nvSpPr>
          <p:cNvPr id="6" name="AutoShape 3"/>
          <p:cNvSpPr txBox="1"/>
          <p:nvPr/>
        </p:nvSpPr>
        <p:spPr>
          <a:xfrm>
            <a:off x="-7404548" y="2415054"/>
            <a:ext cx="10160000" cy="137583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>
              <a:lnSpc>
                <a:spcPct val="117000"/>
              </a:lnSpc>
              <a:defRPr sz="3600" b="1">
                <a:solidFill>
                  <a:srgbClr val="FAF7F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pPr>
            <a:r>
              <a:t>在国际上发声，</a:t>
            </a:r>
            <a:endParaRPr sz="1100"/>
          </a:p>
          <a:p>
            <a:pPr>
              <a:lnSpc>
                <a:spcPct val="117000"/>
              </a:lnSpc>
              <a:defRPr sz="3600" b="1">
                <a:solidFill>
                  <a:srgbClr val="FAF7F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pPr>
            <a:r>
              <a:t>在国内先立规矩</a:t>
            </a:r>
          </a:p>
        </p:txBody>
      </p:sp>
      <p:sp>
        <p:nvSpPr>
          <p:cNvPr id="7" name="AutoShape 5"/>
          <p:cNvSpPr txBox="1"/>
          <p:nvPr/>
        </p:nvSpPr>
        <p:spPr>
          <a:xfrm>
            <a:off x="-7404548" y="4809002"/>
            <a:ext cx="8890000" cy="65193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>
              <a:lnSpc>
                <a:spcPct val="133000"/>
              </a:lnSpc>
              <a:defRPr sz="1600">
                <a:solidFill>
                  <a:srgbClr val="FAF7F2">
                    <a:alpha val="70196"/>
                  </a:srgbClr>
                </a:solidFill>
                <a:latin typeface="Kaiti SC Regular"/>
                <a:ea typeface="Kaiti SC Regular"/>
                <a:cs typeface="Kaiti SC Regular"/>
                <a:sym typeface="Kaiti SC Regular"/>
              </a:defRPr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从治理框架到分级标准，从内容标识到执法打击——</a:t>
            </a:r>
            <a:endParaRPr sz="11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133000"/>
              </a:lnSpc>
              <a:defRPr sz="1600">
                <a:solidFill>
                  <a:srgbClr val="FAF7F2">
                    <a:alpha val="70196"/>
                  </a:srgbClr>
                </a:solidFill>
                <a:latin typeface="Kaiti SC Regular"/>
                <a:ea typeface="Kaiti SC Regular"/>
                <a:cs typeface="Kaiti SC Regular"/>
                <a:sym typeface="Kaiti SC Regular"/>
              </a:defRPr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中国正在构建全链条AI治理体系。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56" name="AutoShape 6"/>
          <p:cNvSpPr txBox="1"/>
          <p:nvPr/>
        </p:nvSpPr>
        <p:spPr>
          <a:xfrm rot="2520000">
            <a:off x="11690679" y="4368776"/>
            <a:ext cx="3810000" cy="24384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r">
              <a:lnSpc>
                <a:spcPct val="125000"/>
              </a:lnSpc>
              <a:defRPr sz="16000" b="1">
                <a:solidFill>
                  <a:srgbClr val="FAF7F2">
                    <a:alpha val="5882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05</a:t>
            </a:r>
          </a:p>
        </p:txBody>
      </p:sp>
      <p:sp>
        <p:nvSpPr>
          <p:cNvPr id="8" name="AutoShape 2"/>
          <p:cNvSpPr txBox="1"/>
          <p:nvPr/>
        </p:nvSpPr>
        <p:spPr>
          <a:xfrm>
            <a:off x="1015937" y="-415544"/>
            <a:ext cx="10160000" cy="2540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>
                <a:solidFill>
                  <a:srgbClr val="FAF7F2">
                    <a:alpha val="60000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第五章 · 中国国内治理</a:t>
            </a:r>
          </a:p>
        </p:txBody>
      </p:sp>
      <p:grpSp>
        <p:nvGrpSpPr>
          <p:cNvPr id="2" name="组合 1"/>
          <p:cNvGrpSpPr/>
          <p:nvPr userDrawn="1"/>
        </p:nvGrpSpPr>
        <p:grpSpPr>
          <a:xfrm>
            <a:off x="-6337300" y="1492314"/>
            <a:ext cx="10160000" cy="311150"/>
            <a:chOff x="1600" y="2140"/>
            <a:chExt cx="16000" cy="490"/>
          </a:xfrm>
        </p:grpSpPr>
        <p:sp>
          <p:nvSpPr>
            <p:cNvPr id="575" name="AutoShape 3"/>
            <p:cNvSpPr txBox="1"/>
            <p:nvPr/>
          </p:nvSpPr>
          <p:spPr>
            <a:xfrm>
              <a:off x="1600" y="2140"/>
              <a:ext cx="1000" cy="48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2000" b="1">
                  <a:solidFill>
                    <a:srgbClr val="9C5C38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1</a:t>
              </a:r>
            </a:p>
          </p:txBody>
        </p:sp>
        <p:sp>
          <p:nvSpPr>
            <p:cNvPr id="576" name="AutoShape 4"/>
            <p:cNvSpPr txBox="1"/>
            <p:nvPr/>
          </p:nvSpPr>
          <p:spPr>
            <a:xfrm>
              <a:off x="2600" y="2210"/>
              <a:ext cx="15000" cy="42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1500">
                  <a:solidFill>
                    <a:srgbClr val="FAF7F2">
                      <a:alpha val="92157"/>
                    </a:srgbClr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AI安全已从科幻变为真实全球议题，失控事件倒逼全球治理</a:t>
              </a:r>
            </a:p>
          </p:txBody>
        </p:sp>
      </p:grpSp>
      <p:grpSp>
        <p:nvGrpSpPr>
          <p:cNvPr id="3" name="组合 2"/>
          <p:cNvGrpSpPr/>
          <p:nvPr userDrawn="1"/>
        </p:nvGrpSpPr>
        <p:grpSpPr>
          <a:xfrm>
            <a:off x="-6337364" y="2037334"/>
            <a:ext cx="10160000" cy="311150"/>
            <a:chOff x="1600" y="3140"/>
            <a:chExt cx="16000" cy="490"/>
          </a:xfrm>
        </p:grpSpPr>
        <p:sp>
          <p:nvSpPr>
            <p:cNvPr id="577" name="AutoShape 5"/>
            <p:cNvSpPr txBox="1"/>
            <p:nvPr/>
          </p:nvSpPr>
          <p:spPr>
            <a:xfrm>
              <a:off x="1600" y="3140"/>
              <a:ext cx="1000" cy="48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2000" b="1">
                  <a:solidFill>
                    <a:srgbClr val="9C5C38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2</a:t>
              </a:r>
            </a:p>
          </p:txBody>
        </p:sp>
        <p:sp>
          <p:nvSpPr>
            <p:cNvPr id="578" name="AutoShape 6"/>
            <p:cNvSpPr txBox="1"/>
            <p:nvPr/>
          </p:nvSpPr>
          <p:spPr>
            <a:xfrm>
              <a:off x="2600" y="3210"/>
              <a:ext cx="15000" cy="42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1500">
                  <a:solidFill>
                    <a:srgbClr val="FAF7F2">
                      <a:alpha val="92157"/>
                    </a:srgbClr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全球治理多方博弈，规则制定权是核心矛盾</a:t>
              </a:r>
            </a:p>
          </p:txBody>
        </p:sp>
      </p:grpSp>
      <p:grpSp>
        <p:nvGrpSpPr>
          <p:cNvPr id="9" name="组合 8"/>
          <p:cNvGrpSpPr/>
          <p:nvPr userDrawn="1"/>
        </p:nvGrpSpPr>
        <p:grpSpPr>
          <a:xfrm>
            <a:off x="-6337364" y="2902141"/>
            <a:ext cx="10160000" cy="311150"/>
            <a:chOff x="1600" y="4140"/>
            <a:chExt cx="16000" cy="490"/>
          </a:xfrm>
        </p:grpSpPr>
        <p:sp>
          <p:nvSpPr>
            <p:cNvPr id="579" name="AutoShape 7"/>
            <p:cNvSpPr txBox="1"/>
            <p:nvPr/>
          </p:nvSpPr>
          <p:spPr>
            <a:xfrm>
              <a:off x="1600" y="4140"/>
              <a:ext cx="1000" cy="48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2000" b="1">
                  <a:solidFill>
                    <a:srgbClr val="9C5C38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3</a:t>
              </a:r>
            </a:p>
          </p:txBody>
        </p:sp>
        <p:sp>
          <p:nvSpPr>
            <p:cNvPr id="580" name="AutoShape 8"/>
            <p:cNvSpPr txBox="1"/>
            <p:nvPr/>
          </p:nvSpPr>
          <p:spPr>
            <a:xfrm>
              <a:off x="2600" y="4210"/>
              <a:ext cx="15000" cy="42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1500">
                  <a:solidFill>
                    <a:srgbClr val="FAF7F2">
                      <a:alpha val="92157"/>
                    </a:srgbClr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中国坚持数字主权、公平普惠，为全球治理贡献中国方案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AutoShape 2"/>
          <p:cNvSpPr txBox="1"/>
          <p:nvPr/>
        </p:nvSpPr>
        <p:spPr>
          <a:xfrm>
            <a:off x="1016000" y="1333499"/>
            <a:ext cx="10160000" cy="2540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>
                <a:solidFill>
                  <a:srgbClr val="FAF7F2">
                    <a:alpha val="60000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第五章 · 中国国内治理</a:t>
            </a:r>
          </a:p>
        </p:txBody>
      </p:sp>
      <p:sp>
        <p:nvSpPr>
          <p:cNvPr id="553" name="AutoShape 3"/>
          <p:cNvSpPr txBox="1"/>
          <p:nvPr/>
        </p:nvSpPr>
        <p:spPr>
          <a:xfrm>
            <a:off x="1016000" y="2360085"/>
            <a:ext cx="10160000" cy="137583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>
              <a:lnSpc>
                <a:spcPct val="117000"/>
              </a:lnSpc>
              <a:defRPr sz="3600" b="1">
                <a:solidFill>
                  <a:srgbClr val="FAF7F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pPr>
            <a:r>
              <a:t>在国际上发声，</a:t>
            </a:r>
            <a:endParaRPr sz="1100"/>
          </a:p>
          <a:p>
            <a:pPr>
              <a:lnSpc>
                <a:spcPct val="117000"/>
              </a:lnSpc>
              <a:defRPr sz="3600" b="1">
                <a:solidFill>
                  <a:srgbClr val="FAF7F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pPr>
            <a:r>
              <a:t>在国内先立规矩</a:t>
            </a:r>
          </a:p>
        </p:txBody>
      </p:sp>
      <p:sp>
        <p:nvSpPr>
          <p:cNvPr id="554" name="Connector 4"/>
          <p:cNvSpPr/>
          <p:nvPr/>
        </p:nvSpPr>
        <p:spPr>
          <a:xfrm>
            <a:off x="1016000" y="4317999"/>
            <a:ext cx="1016158" cy="2"/>
          </a:xfrm>
          <a:prstGeom prst="line">
            <a:avLst/>
          </a:prstGeom>
          <a:ln w="25400">
            <a:solidFill>
              <a:srgbClr val="9C5C38"/>
            </a:solidFill>
          </a:ln>
        </p:spPr>
        <p:txBody>
          <a:bodyPr lIns="0" tIns="0" rIns="0" bIns="0"/>
          <a:lstStyle/>
          <a:p/>
        </p:txBody>
      </p:sp>
      <p:sp>
        <p:nvSpPr>
          <p:cNvPr id="555" name="AutoShape 5"/>
          <p:cNvSpPr txBox="1"/>
          <p:nvPr/>
        </p:nvSpPr>
        <p:spPr>
          <a:xfrm>
            <a:off x="1016000" y="4754033"/>
            <a:ext cx="8890000" cy="65193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>
              <a:lnSpc>
                <a:spcPct val="133000"/>
              </a:lnSpc>
              <a:defRPr sz="1600">
                <a:solidFill>
                  <a:srgbClr val="FAF7F2">
                    <a:alpha val="70196"/>
                  </a:srgbClr>
                </a:solidFill>
                <a:latin typeface="Kaiti SC Regular"/>
                <a:ea typeface="Kaiti SC Regular"/>
                <a:cs typeface="Kaiti SC Regular"/>
                <a:sym typeface="Kaiti SC Regular"/>
              </a:defRPr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从治理框架到分级标准，从内容标识到执法打击——</a:t>
            </a:r>
            <a:endParaRPr sz="11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133000"/>
              </a:lnSpc>
              <a:defRPr sz="1600">
                <a:solidFill>
                  <a:srgbClr val="FAF7F2">
                    <a:alpha val="70196"/>
                  </a:srgbClr>
                </a:solidFill>
                <a:latin typeface="Kaiti SC Regular"/>
                <a:ea typeface="Kaiti SC Regular"/>
                <a:cs typeface="Kaiti SC Regular"/>
                <a:sym typeface="Kaiti SC Regular"/>
              </a:defRPr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中国正在构建全链条AI治理体系。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56" name="AutoShape 6"/>
          <p:cNvSpPr txBox="1"/>
          <p:nvPr/>
        </p:nvSpPr>
        <p:spPr>
          <a:xfrm>
            <a:off x="7874000" y="4368799"/>
            <a:ext cx="3810000" cy="24384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r">
              <a:lnSpc>
                <a:spcPct val="125000"/>
              </a:lnSpc>
              <a:defRPr sz="16000" b="1">
                <a:solidFill>
                  <a:srgbClr val="FAF7F2">
                    <a:alpha val="5882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05</a:t>
            </a:r>
          </a:p>
        </p:txBody>
      </p:sp>
      <p:sp>
        <p:nvSpPr>
          <p:cNvPr id="560" name="AutoShape 2"/>
          <p:cNvSpPr txBox="1"/>
          <p:nvPr/>
        </p:nvSpPr>
        <p:spPr>
          <a:xfrm>
            <a:off x="-10160000" y="573477"/>
            <a:ext cx="6350000" cy="2159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200">
                <a:solidFill>
                  <a:srgbClr val="9C5C3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第五章 · 中国国内治理</a:t>
            </a:r>
          </a:p>
        </p:txBody>
      </p:sp>
      <p:sp>
        <p:nvSpPr>
          <p:cNvPr id="561" name="AutoShape 3"/>
          <p:cNvSpPr txBox="1"/>
          <p:nvPr/>
        </p:nvSpPr>
        <p:spPr>
          <a:xfrm>
            <a:off x="-10160000" y="986226"/>
            <a:ext cx="10160000" cy="4699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2600" b="1">
                <a:solidFill>
                  <a:srgbClr val="2B2B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中国国内也在"立规矩"</a:t>
            </a:r>
          </a:p>
        </p:txBody>
      </p:sp>
      <p:sp>
        <p:nvSpPr>
          <p:cNvPr id="562" name="Connector 4"/>
          <p:cNvSpPr/>
          <p:nvPr/>
        </p:nvSpPr>
        <p:spPr>
          <a:xfrm>
            <a:off x="-10160001" y="1659327"/>
            <a:ext cx="508319" cy="0"/>
          </a:xfrm>
          <a:prstGeom prst="line">
            <a:avLst/>
          </a:prstGeom>
          <a:ln w="25400">
            <a:solidFill>
              <a:srgbClr val="9C5C38"/>
            </a:solidFill>
          </a:ln>
        </p:spPr>
        <p:txBody>
          <a:bodyPr lIns="0" tIns="0" rIns="0" bIns="0"/>
          <a:lstStyle/>
          <a:p/>
        </p:txBody>
      </p:sp>
      <p:graphicFrame>
        <p:nvGraphicFramePr>
          <p:cNvPr id="563" name="Table 5"/>
          <p:cNvGraphicFramePr/>
          <p:nvPr/>
        </p:nvGraphicFramePr>
        <p:xfrm>
          <a:off x="-10160000" y="2014927"/>
          <a:ext cx="6350000" cy="368300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778000"/>
                <a:gridCol w="3429000"/>
                <a:gridCol w="1143000"/>
              </a:tblGrid>
              <a:tr h="5080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治理举措</a:t>
                      </a:r>
                      <a:endParaRPr sz="1200" b="1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9C5C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核心内容</a:t>
                      </a:r>
                      <a:endParaRPr sz="1200" b="1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9C5C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时间</a:t>
                      </a:r>
                      <a:endParaRPr sz="1200" b="1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9C5C38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defRPr sz="1800"/>
                      </a:pPr>
                      <a:r>
                        <a:rPr sz="1100" b="1">
                          <a:solidFill>
                            <a:srgbClr val="2B2B2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AI安全治理框架3.0</a:t>
                      </a:r>
                      <a:endParaRPr sz="1100" b="1">
                        <a:solidFill>
                          <a:srgbClr val="2B2B2B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7000"/>
                        </a:lnSpc>
                        <a:defRPr sz="1800"/>
                      </a:pPr>
                      <a:r>
                        <a:rPr sz="1100">
                          <a:solidFill>
                            <a:srgbClr val="3C3C3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网安标委发布，延续"风险分类、技术应对、综合治理"逻辑，更新风险分类与治理措施</a:t>
                      </a:r>
                      <a:endParaRPr sz="1100">
                        <a:solidFill>
                          <a:srgbClr val="3C3C3C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defRPr sz="1800"/>
                      </a:pPr>
                      <a:r>
                        <a:rPr sz="1100">
                          <a:solidFill>
                            <a:srgbClr val="9C5C3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2026.09</a:t>
                      </a:r>
                      <a:endParaRPr sz="1100">
                        <a:solidFill>
                          <a:srgbClr val="9C5C38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defRPr sz="1800"/>
                      </a:pPr>
                      <a:r>
                        <a:rPr sz="1100" b="1">
                          <a:solidFill>
                            <a:srgbClr val="2B2B2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大模型分级技术标准</a:t>
                      </a:r>
                      <a:endParaRPr sz="1100" b="1">
                        <a:solidFill>
                          <a:srgbClr val="2B2B2B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7000"/>
                        </a:lnSpc>
                        <a:defRPr sz="1800"/>
                      </a:pPr>
                      <a:r>
                        <a:rPr sz="1100">
                          <a:solidFill>
                            <a:srgbClr val="3C3C3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工信部AI标委会发布，电信和互联网行业首部大模型分类方法和分级技术要求行业标准</a:t>
                      </a:r>
                      <a:endParaRPr sz="1100">
                        <a:solidFill>
                          <a:srgbClr val="3C3C3C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defRPr sz="1800"/>
                      </a:pPr>
                      <a:r>
                        <a:rPr sz="1100">
                          <a:solidFill>
                            <a:srgbClr val="9C5C3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2026.06</a:t>
                      </a:r>
                      <a:endParaRPr sz="1100">
                        <a:solidFill>
                          <a:srgbClr val="9C5C38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5F0E8"/>
                    </a:solidFill>
                  </a:tcPr>
                </a:tc>
              </a:tr>
              <a:tr h="787400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defRPr sz="1800"/>
                      </a:pPr>
                      <a:r>
                        <a:rPr sz="1100" b="1">
                          <a:solidFill>
                            <a:srgbClr val="2B2B2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AI生成内容标识办法</a:t>
                      </a:r>
                      <a:endParaRPr sz="1100" b="1">
                        <a:solidFill>
                          <a:srgbClr val="2B2B2B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7000"/>
                        </a:lnSpc>
                        <a:defRPr sz="1800"/>
                      </a:pPr>
                      <a:r>
                        <a:rPr sz="1100">
                          <a:solidFill>
                            <a:srgbClr val="3C3C3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要求文本、音频、图片、视频均须标识，2026年6月全平台强制落地，防范深度伪造滥用</a:t>
                      </a:r>
                      <a:endParaRPr sz="1100">
                        <a:solidFill>
                          <a:srgbClr val="3C3C3C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defRPr sz="1800"/>
                      </a:pPr>
                      <a:r>
                        <a:rPr sz="1100">
                          <a:solidFill>
                            <a:srgbClr val="9C5C3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2025.09</a:t>
                      </a:r>
                      <a:endParaRPr sz="1100">
                        <a:solidFill>
                          <a:srgbClr val="9C5C38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</a:tr>
              <a:tr h="787400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defRPr sz="1800"/>
                      </a:pPr>
                      <a:r>
                        <a:rPr sz="1100" b="1">
                          <a:solidFill>
                            <a:srgbClr val="2B2B2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打击深度伪造</a:t>
                      </a:r>
                      <a:endParaRPr sz="1100" b="1">
                        <a:solidFill>
                          <a:srgbClr val="2B2B2B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7000"/>
                        </a:lnSpc>
                        <a:defRPr sz="1800"/>
                      </a:pPr>
                      <a:r>
                        <a:rPr sz="1100">
                          <a:solidFill>
                            <a:srgbClr val="3C3C3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公安部通报AI换脸诈骗破案79起，单案涉案1300余万元；AI造谣企业者被刑拘</a:t>
                      </a:r>
                      <a:endParaRPr sz="1100">
                        <a:solidFill>
                          <a:srgbClr val="3C3C3C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defRPr sz="1800"/>
                      </a:pPr>
                      <a:r>
                        <a:rPr sz="1100">
                          <a:solidFill>
                            <a:srgbClr val="9C5C3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2026</a:t>
                      </a:r>
                      <a:endParaRPr sz="1100">
                        <a:solidFill>
                          <a:srgbClr val="9C5C38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5F0E8"/>
                    </a:solidFill>
                  </a:tcPr>
                </a:tc>
              </a:tr>
            </a:tbl>
          </a:graphicData>
        </a:graphic>
      </p:graphicFrame>
      <p:pic>
        <p:nvPicPr>
          <p:cNvPr id="564" name="Picture 6" descr="Picture 6"/>
          <p:cNvPicPr>
            <a:picLocks noChangeAspect="1"/>
          </p:cNvPicPr>
          <p:nvPr/>
        </p:nvPicPr>
        <p:blipFill>
          <a:blip r:embed="rId1"/>
          <a:srcRect t="2709" b="2710"/>
          <a:stretch>
            <a:fillRect/>
          </a:stretch>
        </p:blipFill>
        <p:spPr>
          <a:xfrm rot="2280000">
            <a:off x="12633629" y="2023853"/>
            <a:ext cx="3429000" cy="2159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016"/>
                </a:moveTo>
                <a:lnTo>
                  <a:pt x="21600" y="20584"/>
                </a:lnTo>
                <a:cubicBezTo>
                  <a:pt x="21600" y="21145"/>
                  <a:pt x="21314" y="21600"/>
                  <a:pt x="20960" y="21600"/>
                </a:cubicBezTo>
                <a:lnTo>
                  <a:pt x="640" y="21600"/>
                </a:lnTo>
                <a:cubicBezTo>
                  <a:pt x="286" y="21600"/>
                  <a:pt x="0" y="21145"/>
                  <a:pt x="0" y="20584"/>
                </a:cubicBezTo>
                <a:lnTo>
                  <a:pt x="0" y="1016"/>
                </a:lnTo>
                <a:lnTo>
                  <a:pt x="3" y="912"/>
                </a:lnTo>
                <a:cubicBezTo>
                  <a:pt x="36" y="400"/>
                  <a:pt x="309" y="0"/>
                  <a:pt x="640" y="0"/>
                </a:cubicBezTo>
                <a:lnTo>
                  <a:pt x="20960" y="0"/>
                </a:lnTo>
                <a:cubicBezTo>
                  <a:pt x="21314" y="0"/>
                  <a:pt x="21600" y="455"/>
                  <a:pt x="21600" y="1016"/>
                </a:cubicBezTo>
                <a:close/>
              </a:path>
            </a:pathLst>
          </a:custGeom>
          <a:ln w="12700">
            <a:miter lim="400000"/>
            <a:headEnd/>
            <a:tailEnd/>
          </a:ln>
        </p:spPr>
      </p:pic>
      <p:sp>
        <p:nvSpPr>
          <p:cNvPr id="565" name="AutoShape 7"/>
          <p:cNvSpPr/>
          <p:nvPr/>
        </p:nvSpPr>
        <p:spPr>
          <a:xfrm>
            <a:off x="12191975" y="4359442"/>
            <a:ext cx="3429000" cy="1460500"/>
          </a:xfrm>
          <a:prstGeom prst="roundRect">
            <a:avLst>
              <a:gd name="adj" fmla="val 6956"/>
            </a:avLst>
          </a:prstGeom>
          <a:solidFill>
            <a:srgbClr val="9C5C38">
              <a:alpha val="8000"/>
            </a:srgbClr>
          </a:solidFill>
          <a:ln w="12700">
            <a:solidFill>
              <a:srgbClr val="9C5C38">
                <a:alpha val="30000"/>
              </a:srgbClr>
            </a:solidFill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566" name="AutoShape 8"/>
          <p:cNvSpPr txBox="1"/>
          <p:nvPr/>
        </p:nvSpPr>
        <p:spPr>
          <a:xfrm>
            <a:off x="12382451" y="4542226"/>
            <a:ext cx="3048000" cy="2159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200" b="1">
                <a:solidFill>
                  <a:srgbClr val="9C5C3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治理思路</a:t>
            </a:r>
          </a:p>
        </p:txBody>
      </p:sp>
      <p:sp>
        <p:nvSpPr>
          <p:cNvPr id="567" name="AutoShape 9"/>
          <p:cNvSpPr txBox="1"/>
          <p:nvPr/>
        </p:nvSpPr>
        <p:spPr>
          <a:xfrm>
            <a:off x="12382451" y="4893594"/>
            <a:ext cx="3048000" cy="74506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33000"/>
              </a:lnSpc>
              <a:defRPr sz="1100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defRPr>
            </a:lvl1pPr>
          </a:lstStyle>
          <a:p>
            <a:r>
              <a:t>坚持"发展与安全并重"，构建覆盖"框架指引—分级标准—标识管理—执法打击"的全链条治理体系，既包容创新又守牢底线。</a:t>
            </a:r>
          </a:p>
        </p:txBody>
      </p:sp>
      <p:sp>
        <p:nvSpPr>
          <p:cNvPr id="568" name="AutoShape 10"/>
          <p:cNvSpPr txBox="1"/>
          <p:nvPr/>
        </p:nvSpPr>
        <p:spPr>
          <a:xfrm>
            <a:off x="0" y="6853950"/>
            <a:ext cx="10160000" cy="2159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17000"/>
              </a:lnSpc>
              <a:defRPr sz="1200" i="1">
                <a:solidFill>
                  <a:srgbClr val="786E64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中国在AI治理上走的是"先立规矩、再促发展"的路子——规则越清晰，创新才越有底气。</a:t>
            </a:r>
          </a:p>
        </p:txBody>
      </p:sp>
      <p:sp>
        <p:nvSpPr>
          <p:cNvPr id="569" name="AutoShape 11"/>
          <p:cNvSpPr txBox="1"/>
          <p:nvPr/>
        </p:nvSpPr>
        <p:spPr>
          <a:xfrm>
            <a:off x="-10160000" y="1773627"/>
            <a:ext cx="8890000" cy="1778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000">
                <a:solidFill>
                  <a:srgbClr val="9C5C38">
                    <a:alpha val="45098"/>
                  </a:srgbClr>
                </a:solidFill>
                <a:latin typeface="Kaiti SC Regular"/>
                <a:ea typeface="Kaiti SC Regular"/>
                <a:cs typeface="Kaiti SC Regular"/>
                <a:sym typeface="Kaiti SC Regular"/>
              </a:defRPr>
            </a:lvl1pPr>
          </a:lstStyle>
          <a:p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在国际上发声，在国内先立规矩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31" name="AutoShape 3"/>
          <p:cNvSpPr txBox="1"/>
          <p:nvPr/>
        </p:nvSpPr>
        <p:spPr>
          <a:xfrm>
            <a:off x="-4127500" y="1115885"/>
            <a:ext cx="10160000" cy="4699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2600" b="1">
                <a:solidFill>
                  <a:srgbClr val="2B2B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全球AI治理的三方博弈</a:t>
            </a:r>
          </a:p>
        </p:txBody>
      </p:sp>
      <p:pic>
        <p:nvPicPr>
          <p:cNvPr id="533" name="Picture 5" descr="Picture 5"/>
          <p:cNvPicPr>
            <a:picLocks noChangeAspect="1"/>
          </p:cNvPicPr>
          <p:nvPr/>
        </p:nvPicPr>
        <p:blipFill>
          <a:blip r:embed="rId2"/>
          <a:srcRect l="123" r="124"/>
          <a:stretch>
            <a:fillRect/>
          </a:stretch>
        </p:blipFill>
        <p:spPr>
          <a:xfrm>
            <a:off x="-5861050" y="2014919"/>
            <a:ext cx="4826001" cy="2413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909"/>
                </a:moveTo>
                <a:lnTo>
                  <a:pt x="21600" y="20691"/>
                </a:lnTo>
                <a:cubicBezTo>
                  <a:pt x="21600" y="21193"/>
                  <a:pt x="21396" y="21600"/>
                  <a:pt x="21145" y="21600"/>
                </a:cubicBezTo>
                <a:lnTo>
                  <a:pt x="455" y="21600"/>
                </a:lnTo>
                <a:cubicBezTo>
                  <a:pt x="204" y="21600"/>
                  <a:pt x="0" y="21193"/>
                  <a:pt x="0" y="20691"/>
                </a:cubicBezTo>
                <a:lnTo>
                  <a:pt x="0" y="909"/>
                </a:lnTo>
                <a:lnTo>
                  <a:pt x="2" y="816"/>
                </a:lnTo>
                <a:cubicBezTo>
                  <a:pt x="26" y="358"/>
                  <a:pt x="219" y="0"/>
                  <a:pt x="455" y="0"/>
                </a:cubicBezTo>
                <a:lnTo>
                  <a:pt x="21145" y="0"/>
                </a:lnTo>
                <a:cubicBezTo>
                  <a:pt x="21396" y="0"/>
                  <a:pt x="21600" y="407"/>
                  <a:pt x="21600" y="909"/>
                </a:cubicBezTo>
                <a:close/>
              </a:path>
            </a:pathLst>
          </a:custGeom>
          <a:ln w="12700">
            <a:miter lim="400000"/>
            <a:headEnd/>
            <a:tailEnd/>
          </a:ln>
        </p:spPr>
      </p:pic>
      <p:grpSp>
        <p:nvGrpSpPr>
          <p:cNvPr id="10" name="组合 9"/>
          <p:cNvGrpSpPr/>
          <p:nvPr userDrawn="1"/>
        </p:nvGrpSpPr>
        <p:grpSpPr>
          <a:xfrm>
            <a:off x="1015936" y="7429500"/>
            <a:ext cx="3213100" cy="1651000"/>
            <a:chOff x="1600" y="7500"/>
            <a:chExt cx="5060" cy="2600"/>
          </a:xfrm>
        </p:grpSpPr>
        <p:sp>
          <p:nvSpPr>
            <p:cNvPr id="538" name="AutoShape 10"/>
            <p:cNvSpPr/>
            <p:nvPr/>
          </p:nvSpPr>
          <p:spPr>
            <a:xfrm>
              <a:off x="1600" y="7500"/>
              <a:ext cx="5060" cy="2600"/>
            </a:xfrm>
            <a:prstGeom prst="roundRect">
              <a:avLst>
                <a:gd name="adj" fmla="val 6153"/>
              </a:avLst>
            </a:prstGeom>
            <a:solidFill>
              <a:srgbClr val="B4503C">
                <a:alpha val="8000"/>
              </a:srgbClr>
            </a:solidFill>
            <a:ln w="12700">
              <a:solidFill>
                <a:srgbClr val="B4503C">
                  <a:alpha val="25000"/>
                </a:srgbClr>
              </a:solidFill>
            </a:ln>
          </p:spPr>
          <p:txBody>
            <a:bodyPr lIns="0" tIns="0" rIns="0" bIns="0" anchor="ctr"/>
            <a:lstStyle/>
            <a:p>
              <a:pPr algn="ctr"/>
            </a:p>
          </p:txBody>
        </p:sp>
        <p:sp>
          <p:nvSpPr>
            <p:cNvPr id="539" name="AutoShape 11"/>
            <p:cNvSpPr txBox="1"/>
            <p:nvPr/>
          </p:nvSpPr>
          <p:spPr>
            <a:xfrm>
              <a:off x="1900" y="7770"/>
              <a:ext cx="4460" cy="36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1300" b="1">
                  <a:solidFill>
                    <a:srgbClr val="B4503C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美国政府</a:t>
              </a:r>
            </a:p>
          </p:txBody>
        </p:sp>
        <p:sp>
          <p:nvSpPr>
            <p:cNvPr id="540" name="AutoShape 12"/>
            <p:cNvSpPr txBox="1"/>
            <p:nvPr/>
          </p:nvSpPr>
          <p:spPr>
            <a:xfrm>
              <a:off x="1900" y="8503"/>
              <a:ext cx="4460" cy="1173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33000"/>
                </a:lnSpc>
                <a:defRPr sz="1100">
                  <a:solidFill>
                    <a:srgbClr val="3C3C3C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defRPr>
              </a:lvl1pPr>
            </a:lstStyle>
            <a:p>
              <a:r>
                <a:t>拒绝国际管控，坚持技术领先"不暂停"；以"自愿提交审查"替代强制监管，打造排他性技术联盟。</a:t>
              </a:r>
            </a:p>
          </p:txBody>
        </p:sp>
      </p:grpSp>
      <p:grpSp>
        <p:nvGrpSpPr>
          <p:cNvPr id="4" name="组合 3"/>
          <p:cNvGrpSpPr/>
          <p:nvPr userDrawn="1"/>
        </p:nvGrpSpPr>
        <p:grpSpPr>
          <a:xfrm>
            <a:off x="4489450" y="7834122"/>
            <a:ext cx="3213100" cy="1651000"/>
            <a:chOff x="7060" y="7500"/>
            <a:chExt cx="5060" cy="2600"/>
          </a:xfrm>
        </p:grpSpPr>
        <p:sp>
          <p:nvSpPr>
            <p:cNvPr id="541" name="AutoShape 13"/>
            <p:cNvSpPr/>
            <p:nvPr/>
          </p:nvSpPr>
          <p:spPr>
            <a:xfrm>
              <a:off x="7060" y="7500"/>
              <a:ext cx="5060" cy="2600"/>
            </a:xfrm>
            <a:prstGeom prst="roundRect">
              <a:avLst>
                <a:gd name="adj" fmla="val 6153"/>
              </a:avLst>
            </a:prstGeom>
            <a:solidFill>
              <a:srgbClr val="9C5C38">
                <a:alpha val="10000"/>
              </a:srgbClr>
            </a:solidFill>
            <a:ln w="12700">
              <a:solidFill>
                <a:srgbClr val="9C5C38">
                  <a:alpha val="30000"/>
                </a:srgbClr>
              </a:solidFill>
            </a:ln>
          </p:spPr>
          <p:txBody>
            <a:bodyPr lIns="0" tIns="0" rIns="0" bIns="0" anchor="ctr"/>
            <a:lstStyle/>
            <a:p>
              <a:pPr algn="ctr"/>
            </a:p>
          </p:txBody>
        </p:sp>
        <p:sp>
          <p:nvSpPr>
            <p:cNvPr id="542" name="AutoShape 14"/>
            <p:cNvSpPr txBox="1"/>
            <p:nvPr/>
          </p:nvSpPr>
          <p:spPr>
            <a:xfrm>
              <a:off x="7360" y="7770"/>
              <a:ext cx="4460" cy="36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1300" b="1">
                  <a:solidFill>
                    <a:srgbClr val="9C5C38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中国</a:t>
              </a:r>
            </a:p>
          </p:txBody>
        </p:sp>
        <p:sp>
          <p:nvSpPr>
            <p:cNvPr id="543" name="AutoShape 15"/>
            <p:cNvSpPr txBox="1"/>
            <p:nvPr/>
          </p:nvSpPr>
          <p:spPr>
            <a:xfrm>
              <a:off x="7360" y="8503"/>
              <a:ext cx="4460" cy="1173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33000"/>
                </a:lnSpc>
                <a:defRPr sz="1100">
                  <a:solidFill>
                    <a:srgbClr val="3C3C3C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defRPr>
              </a:lvl1pPr>
            </a:lstStyle>
            <a:p>
              <a:r>
                <a:t>反对技术霸权与选边站队；主张公平普惠、多边共治；支持联合国发挥主渠道作用，推动AI造福全人类。</a:t>
              </a:r>
            </a:p>
          </p:txBody>
        </p:sp>
      </p:grpSp>
      <p:grpSp>
        <p:nvGrpSpPr>
          <p:cNvPr id="11" name="组合 10"/>
          <p:cNvGrpSpPr/>
          <p:nvPr userDrawn="1"/>
        </p:nvGrpSpPr>
        <p:grpSpPr>
          <a:xfrm>
            <a:off x="8172387" y="8514588"/>
            <a:ext cx="3213100" cy="1651000"/>
            <a:chOff x="12540" y="7500"/>
            <a:chExt cx="5060" cy="2600"/>
          </a:xfrm>
        </p:grpSpPr>
        <p:sp>
          <p:nvSpPr>
            <p:cNvPr id="2" name="AutoShape 16"/>
            <p:cNvSpPr/>
            <p:nvPr/>
          </p:nvSpPr>
          <p:spPr>
            <a:xfrm>
              <a:off x="12540" y="7500"/>
              <a:ext cx="5060" cy="2600"/>
            </a:xfrm>
            <a:prstGeom prst="roundRect">
              <a:avLst>
                <a:gd name="adj" fmla="val 6153"/>
              </a:avLst>
            </a:prstGeom>
            <a:solidFill>
              <a:srgbClr val="466EA0">
                <a:alpha val="8000"/>
              </a:srgbClr>
            </a:solidFill>
            <a:ln w="12700">
              <a:solidFill>
                <a:srgbClr val="466EA0">
                  <a:alpha val="25000"/>
                </a:srgbClr>
              </a:solidFill>
            </a:ln>
          </p:spPr>
          <p:txBody>
            <a:bodyPr lIns="0" tIns="0" rIns="0" bIns="0" anchor="ctr"/>
            <a:lstStyle/>
            <a:p>
              <a:pPr algn="ctr"/>
            </a:p>
          </p:txBody>
        </p:sp>
        <p:sp>
          <p:nvSpPr>
            <p:cNvPr id="545" name="AutoShape 17"/>
            <p:cNvSpPr txBox="1"/>
            <p:nvPr/>
          </p:nvSpPr>
          <p:spPr>
            <a:xfrm>
              <a:off x="12840" y="7770"/>
              <a:ext cx="4460" cy="36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1300" b="1">
                  <a:solidFill>
                    <a:srgbClr val="466EA0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欧盟及中小国家</a:t>
              </a:r>
            </a:p>
          </p:txBody>
        </p:sp>
        <p:sp>
          <p:nvSpPr>
            <p:cNvPr id="546" name="AutoShape 18"/>
            <p:cNvSpPr txBox="1"/>
            <p:nvPr/>
          </p:nvSpPr>
          <p:spPr>
            <a:xfrm>
              <a:off x="12840" y="8503"/>
              <a:ext cx="4460" cy="1173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33000"/>
                </a:lnSpc>
                <a:defRPr sz="1100">
                  <a:solidFill>
                    <a:srgbClr val="3C3C3C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defRPr>
              </a:lvl1pPr>
            </a:lstStyle>
            <a:p>
              <a:r>
                <a:t>强化联合国框架下多边治理；建立统一监管机制；以风险分级强制合规为基线，输出监管模式获取规则话语权。</a:t>
              </a: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13233400" y="1771079"/>
            <a:ext cx="4953000" cy="2413000"/>
            <a:chOff x="9800" y="3300"/>
            <a:chExt cx="7800" cy="3800"/>
          </a:xfrm>
        </p:grpSpPr>
        <p:sp>
          <p:nvSpPr>
            <p:cNvPr id="16" name="AutoShape 6"/>
            <p:cNvSpPr/>
            <p:nvPr/>
          </p:nvSpPr>
          <p:spPr>
            <a:xfrm>
              <a:off x="9800" y="3300"/>
              <a:ext cx="7800" cy="3800"/>
            </a:xfrm>
            <a:prstGeom prst="roundRect">
              <a:avLst>
                <a:gd name="adj" fmla="val 4210"/>
              </a:avLst>
            </a:prstGeom>
            <a:solidFill>
              <a:srgbClr val="9C5C38">
                <a:alpha val="6000"/>
              </a:srgb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ctr"/>
            </a:p>
          </p:txBody>
        </p:sp>
        <p:sp>
          <p:nvSpPr>
            <p:cNvPr id="17" name="AutoShape 7"/>
            <p:cNvSpPr txBox="1"/>
            <p:nvPr/>
          </p:nvSpPr>
          <p:spPr>
            <a:xfrm>
              <a:off x="10200" y="3700"/>
              <a:ext cx="7000" cy="40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b="1">
                  <a:solidFill>
                    <a:srgbClr val="9C5C38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深层矛盾</a:t>
              </a:r>
            </a:p>
          </p:txBody>
        </p:sp>
        <p:sp>
          <p:nvSpPr>
            <p:cNvPr id="18" name="AutoShape 8"/>
            <p:cNvSpPr txBox="1"/>
            <p:nvPr/>
          </p:nvSpPr>
          <p:spPr>
            <a:xfrm>
              <a:off x="10200" y="4380"/>
              <a:ext cx="7000" cy="84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33000"/>
                </a:lnSpc>
                <a:defRPr sz="1300">
                  <a:solidFill>
                    <a:srgbClr val="2B2B2B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defRPr>
              </a:lvl1pPr>
            </a:lstStyle>
            <a:p>
              <a:r>
                <a:t>AI全球规则的制定权，究竟由少数国家垄断，还是由世界各国平等参与、共同决定？</a:t>
              </a:r>
            </a:p>
          </p:txBody>
        </p:sp>
        <p:sp>
          <p:nvSpPr>
            <p:cNvPr id="19" name="AutoShape 9"/>
            <p:cNvSpPr txBox="1"/>
            <p:nvPr/>
          </p:nvSpPr>
          <p:spPr>
            <a:xfrm>
              <a:off x="10200" y="5613"/>
              <a:ext cx="7000" cy="1173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33000"/>
                </a:lnSpc>
                <a:defRPr sz="1100">
                  <a:solidFill>
                    <a:srgbClr val="645F5A"/>
                  </a:solidFill>
                  <a:latin typeface="Noto Sans SC" panose="020B0200000000000000" charset="-122"/>
                  <a:ea typeface="Noto Sans SC" panose="020B0200000000000000" charset="-122"/>
                  <a:cs typeface="Noto Sans SC" panose="020B0200000000000000" charset="-122"/>
                  <a:sym typeface="Noto Sans SC" panose="020B0200000000000000" charset="-122"/>
                </a:defRPr>
              </a:lvl1pPr>
            </a:lstStyle>
            <a:p>
              <a:r>
                <a:t>当前全球治理呈现多套体系并行、协调机制不足的碎片化状态。若各自为政甚至设置技术壁垒，将进一步割裂全球产业链，加剧国家间的"智能鸿沟"。</a:t>
              </a:r>
            </a:p>
          </p:txBody>
        </p:sp>
      </p:grpSp>
      <p:sp>
        <p:nvSpPr>
          <p:cNvPr id="20" name="AutoShape 19"/>
          <p:cNvSpPr txBox="1"/>
          <p:nvPr/>
        </p:nvSpPr>
        <p:spPr>
          <a:xfrm>
            <a:off x="-1670050" y="1917700"/>
            <a:ext cx="5080000" cy="1778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000">
                <a:solidFill>
                  <a:srgbClr val="9C5C38">
                    <a:alpha val="45098"/>
                  </a:srgbClr>
                </a:solidFill>
                <a:latin typeface="Kaiti SC Regular"/>
                <a:ea typeface="Kaiti SC Regular"/>
                <a:cs typeface="Kaiti SC Regular"/>
                <a:sym typeface="Kaiti SC Regular"/>
              </a:defRPr>
            </a:lvl1pPr>
          </a:lstStyle>
          <a:p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AI规则，到底由谁说了算？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AutoShape 2"/>
          <p:cNvSpPr txBox="1"/>
          <p:nvPr/>
        </p:nvSpPr>
        <p:spPr>
          <a:xfrm>
            <a:off x="1016000" y="717550"/>
            <a:ext cx="6350000" cy="2159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200">
                <a:solidFill>
                  <a:srgbClr val="9C5C3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第五章 · 中国国内治理</a:t>
            </a:r>
          </a:p>
        </p:txBody>
      </p:sp>
      <p:sp>
        <p:nvSpPr>
          <p:cNvPr id="561" name="AutoShape 3"/>
          <p:cNvSpPr txBox="1"/>
          <p:nvPr/>
        </p:nvSpPr>
        <p:spPr>
          <a:xfrm>
            <a:off x="1016000" y="1130299"/>
            <a:ext cx="10160000" cy="4699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2600" b="1">
                <a:solidFill>
                  <a:srgbClr val="2B2B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中国国内也在"立规矩"</a:t>
            </a:r>
          </a:p>
        </p:txBody>
      </p:sp>
      <p:sp>
        <p:nvSpPr>
          <p:cNvPr id="562" name="Connector 4"/>
          <p:cNvSpPr/>
          <p:nvPr/>
        </p:nvSpPr>
        <p:spPr>
          <a:xfrm>
            <a:off x="1015999" y="1803400"/>
            <a:ext cx="508319" cy="0"/>
          </a:xfrm>
          <a:prstGeom prst="line">
            <a:avLst/>
          </a:prstGeom>
          <a:ln w="25400">
            <a:solidFill>
              <a:srgbClr val="9C5C38"/>
            </a:solidFill>
          </a:ln>
        </p:spPr>
        <p:txBody>
          <a:bodyPr lIns="0" tIns="0" rIns="0" bIns="0"/>
          <a:lstStyle/>
          <a:p/>
        </p:txBody>
      </p:sp>
      <p:graphicFrame>
        <p:nvGraphicFramePr>
          <p:cNvPr id="563" name="Table 5"/>
          <p:cNvGraphicFramePr/>
          <p:nvPr/>
        </p:nvGraphicFramePr>
        <p:xfrm>
          <a:off x="839470" y="2165350"/>
          <a:ext cx="6350000" cy="368300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778000"/>
                <a:gridCol w="3429000"/>
                <a:gridCol w="1143000"/>
              </a:tblGrid>
              <a:tr h="5080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治理举措</a:t>
                      </a:r>
                      <a:endParaRPr sz="1200" b="1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9C5C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核心内容</a:t>
                      </a:r>
                      <a:endParaRPr sz="1200" b="1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9C5C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时间</a:t>
                      </a:r>
                      <a:endParaRPr sz="1200" b="1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9C5C38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defRPr sz="1800"/>
                      </a:pPr>
                      <a:r>
                        <a:rPr sz="1100" b="1">
                          <a:solidFill>
                            <a:srgbClr val="2B2B2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AI安全治理框架3.0</a:t>
                      </a:r>
                      <a:endParaRPr sz="1100" b="1">
                        <a:solidFill>
                          <a:srgbClr val="2B2B2B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7000"/>
                        </a:lnSpc>
                        <a:defRPr sz="1800"/>
                      </a:pPr>
                      <a:r>
                        <a:rPr sz="1100">
                          <a:solidFill>
                            <a:srgbClr val="3C3C3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网安标委发布，延续"风险分类、技术应对、综合治理"逻辑，更新风险分类与治理措施</a:t>
                      </a:r>
                      <a:endParaRPr sz="1100">
                        <a:solidFill>
                          <a:srgbClr val="3C3C3C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defRPr sz="1800"/>
                      </a:pPr>
                      <a:r>
                        <a:rPr sz="1100">
                          <a:solidFill>
                            <a:srgbClr val="9C5C3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2026.09</a:t>
                      </a:r>
                      <a:endParaRPr sz="1100">
                        <a:solidFill>
                          <a:srgbClr val="9C5C38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defRPr sz="1800"/>
                      </a:pPr>
                      <a:r>
                        <a:rPr sz="1100" b="1">
                          <a:solidFill>
                            <a:srgbClr val="2B2B2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大模型分级技术标准</a:t>
                      </a:r>
                      <a:endParaRPr sz="1100" b="1">
                        <a:solidFill>
                          <a:srgbClr val="2B2B2B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7000"/>
                        </a:lnSpc>
                        <a:defRPr sz="1800"/>
                      </a:pPr>
                      <a:r>
                        <a:rPr sz="1100">
                          <a:solidFill>
                            <a:srgbClr val="3C3C3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工信部AI标委会发布，电信和互联网行业首部大模型分类方法和分级技术要求行业标准</a:t>
                      </a:r>
                      <a:endParaRPr sz="1100">
                        <a:solidFill>
                          <a:srgbClr val="3C3C3C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defRPr sz="1800"/>
                      </a:pPr>
                      <a:r>
                        <a:rPr sz="1100">
                          <a:solidFill>
                            <a:srgbClr val="9C5C3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2026.06</a:t>
                      </a:r>
                      <a:endParaRPr sz="1100">
                        <a:solidFill>
                          <a:srgbClr val="9C5C38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5F0E8"/>
                    </a:solidFill>
                  </a:tcPr>
                </a:tc>
              </a:tr>
              <a:tr h="787400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defRPr sz="1800"/>
                      </a:pPr>
                      <a:r>
                        <a:rPr sz="1100" b="1">
                          <a:solidFill>
                            <a:srgbClr val="2B2B2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AI生成内容标识办法</a:t>
                      </a:r>
                      <a:endParaRPr sz="1100" b="1">
                        <a:solidFill>
                          <a:srgbClr val="2B2B2B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7000"/>
                        </a:lnSpc>
                        <a:defRPr sz="1800"/>
                      </a:pPr>
                      <a:r>
                        <a:rPr sz="1100">
                          <a:solidFill>
                            <a:srgbClr val="3C3C3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要求文本、音频、图片、视频均须标识，2026年6月全平台强制落地，防范深度伪造滥用</a:t>
                      </a:r>
                      <a:endParaRPr sz="1100">
                        <a:solidFill>
                          <a:srgbClr val="3C3C3C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defRPr sz="1800"/>
                      </a:pPr>
                      <a:r>
                        <a:rPr sz="1100">
                          <a:solidFill>
                            <a:srgbClr val="9C5C3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2025.09</a:t>
                      </a:r>
                      <a:endParaRPr sz="1100">
                        <a:solidFill>
                          <a:srgbClr val="9C5C38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</a:tr>
              <a:tr h="787400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defRPr sz="1800"/>
                      </a:pPr>
                      <a:r>
                        <a:rPr sz="1100" b="1">
                          <a:solidFill>
                            <a:srgbClr val="2B2B2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打击深度伪造</a:t>
                      </a:r>
                      <a:endParaRPr sz="1100" b="1">
                        <a:solidFill>
                          <a:srgbClr val="2B2B2B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7000"/>
                        </a:lnSpc>
                        <a:defRPr sz="1800"/>
                      </a:pPr>
                      <a:r>
                        <a:rPr sz="1100">
                          <a:solidFill>
                            <a:srgbClr val="3C3C3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公安部通报AI换脸诈骗破案79起，单案涉案1300余万元；AI造谣企业者被刑拘</a:t>
                      </a:r>
                      <a:endParaRPr sz="1100">
                        <a:solidFill>
                          <a:srgbClr val="3C3C3C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defRPr sz="1800"/>
                      </a:pPr>
                      <a:r>
                        <a:rPr sz="1100">
                          <a:solidFill>
                            <a:srgbClr val="9C5C3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2026</a:t>
                      </a:r>
                      <a:endParaRPr sz="1100">
                        <a:solidFill>
                          <a:srgbClr val="9C5C38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5F0E8"/>
                    </a:solidFill>
                  </a:tcPr>
                </a:tc>
              </a:tr>
            </a:tbl>
          </a:graphicData>
        </a:graphic>
      </p:graphicFrame>
      <p:pic>
        <p:nvPicPr>
          <p:cNvPr id="564" name="Picture 6" descr="Picture 6"/>
          <p:cNvPicPr>
            <a:picLocks noChangeAspect="1"/>
          </p:cNvPicPr>
          <p:nvPr/>
        </p:nvPicPr>
        <p:blipFill>
          <a:blip r:embed="rId1"/>
          <a:srcRect t="2709" b="2710"/>
          <a:stretch>
            <a:fillRect/>
          </a:stretch>
        </p:blipFill>
        <p:spPr>
          <a:xfrm>
            <a:off x="7747000" y="2159000"/>
            <a:ext cx="3429000" cy="2159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016"/>
                </a:moveTo>
                <a:lnTo>
                  <a:pt x="21600" y="20584"/>
                </a:lnTo>
                <a:cubicBezTo>
                  <a:pt x="21600" y="21145"/>
                  <a:pt x="21314" y="21600"/>
                  <a:pt x="20960" y="21600"/>
                </a:cubicBezTo>
                <a:lnTo>
                  <a:pt x="640" y="21600"/>
                </a:lnTo>
                <a:cubicBezTo>
                  <a:pt x="286" y="21600"/>
                  <a:pt x="0" y="21145"/>
                  <a:pt x="0" y="20584"/>
                </a:cubicBezTo>
                <a:lnTo>
                  <a:pt x="0" y="1016"/>
                </a:lnTo>
                <a:lnTo>
                  <a:pt x="3" y="912"/>
                </a:lnTo>
                <a:cubicBezTo>
                  <a:pt x="36" y="400"/>
                  <a:pt x="309" y="0"/>
                  <a:pt x="640" y="0"/>
                </a:cubicBezTo>
                <a:lnTo>
                  <a:pt x="20960" y="0"/>
                </a:lnTo>
                <a:cubicBezTo>
                  <a:pt x="21314" y="0"/>
                  <a:pt x="21600" y="455"/>
                  <a:pt x="21600" y="1016"/>
                </a:cubicBezTo>
                <a:close/>
              </a:path>
            </a:pathLst>
          </a:custGeom>
          <a:ln w="12700">
            <a:miter lim="400000"/>
            <a:headEnd/>
            <a:tailEnd/>
          </a:ln>
        </p:spPr>
      </p:pic>
      <p:sp>
        <p:nvSpPr>
          <p:cNvPr id="565" name="AutoShape 7"/>
          <p:cNvSpPr/>
          <p:nvPr/>
        </p:nvSpPr>
        <p:spPr>
          <a:xfrm>
            <a:off x="7747000" y="4508500"/>
            <a:ext cx="3429000" cy="1460500"/>
          </a:xfrm>
          <a:prstGeom prst="roundRect">
            <a:avLst>
              <a:gd name="adj" fmla="val 6956"/>
            </a:avLst>
          </a:prstGeom>
          <a:solidFill>
            <a:srgbClr val="9C5C38">
              <a:alpha val="8000"/>
            </a:srgbClr>
          </a:solidFill>
          <a:ln w="12700">
            <a:solidFill>
              <a:srgbClr val="9C5C38">
                <a:alpha val="30000"/>
              </a:srgbClr>
            </a:solidFill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566" name="AutoShape 8"/>
          <p:cNvSpPr txBox="1"/>
          <p:nvPr/>
        </p:nvSpPr>
        <p:spPr>
          <a:xfrm>
            <a:off x="7937500" y="4686299"/>
            <a:ext cx="3048000" cy="2159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200" b="1">
                <a:solidFill>
                  <a:srgbClr val="9C5C3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治理思路</a:t>
            </a:r>
          </a:p>
        </p:txBody>
      </p:sp>
      <p:sp>
        <p:nvSpPr>
          <p:cNvPr id="567" name="AutoShape 9"/>
          <p:cNvSpPr txBox="1"/>
          <p:nvPr/>
        </p:nvSpPr>
        <p:spPr>
          <a:xfrm>
            <a:off x="7937500" y="5037667"/>
            <a:ext cx="3048000" cy="74506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33000"/>
              </a:lnSpc>
              <a:defRPr sz="1100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defRPr>
            </a:lvl1pPr>
          </a:lstStyle>
          <a:p>
            <a:r>
              <a:t>坚持"发展与安全并重"，构建覆盖"框架指引—分级标准—标识管理—执法打击"的全链条治理体系，既包容创新又守牢底线。</a:t>
            </a:r>
          </a:p>
        </p:txBody>
      </p:sp>
      <p:sp>
        <p:nvSpPr>
          <p:cNvPr id="568" name="AutoShape 10"/>
          <p:cNvSpPr txBox="1"/>
          <p:nvPr/>
        </p:nvSpPr>
        <p:spPr>
          <a:xfrm>
            <a:off x="1016000" y="6210299"/>
            <a:ext cx="10160000" cy="2159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17000"/>
              </a:lnSpc>
              <a:defRPr sz="1200" i="1">
                <a:solidFill>
                  <a:srgbClr val="786E64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中国在AI治理上走的是"先立规矩、再促发展"的路子——规则越清晰，创新才越有底气。</a:t>
            </a:r>
          </a:p>
        </p:txBody>
      </p:sp>
      <p:sp>
        <p:nvSpPr>
          <p:cNvPr id="569" name="AutoShape 11"/>
          <p:cNvSpPr txBox="1"/>
          <p:nvPr/>
        </p:nvSpPr>
        <p:spPr>
          <a:xfrm>
            <a:off x="1016000" y="1917700"/>
            <a:ext cx="8890000" cy="1778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000">
                <a:solidFill>
                  <a:srgbClr val="9C5C38">
                    <a:alpha val="45098"/>
                  </a:srgbClr>
                </a:solidFill>
                <a:latin typeface="Kaiti SC Regular"/>
                <a:ea typeface="Kaiti SC Regular"/>
                <a:cs typeface="Kaiti SC Regular"/>
                <a:sym typeface="Kaiti SC Regular"/>
              </a:defRPr>
            </a:lvl1pPr>
          </a:lstStyle>
          <a:p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在国际上发声，在国内先立规矩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70" name="AutoShape 12"/>
          <p:cNvSpPr/>
          <p:nvPr/>
        </p:nvSpPr>
        <p:spPr>
          <a:xfrm>
            <a:off x="1016000" y="6540500"/>
            <a:ext cx="635000" cy="38100"/>
          </a:xfrm>
          <a:prstGeom prst="roundRect">
            <a:avLst>
              <a:gd name="adj" fmla="val 0"/>
            </a:avLst>
          </a:prstGeom>
          <a:solidFill>
            <a:srgbClr val="9C5C38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2" name="AutoShape 2"/>
          <p:cNvSpPr txBox="1"/>
          <p:nvPr/>
        </p:nvSpPr>
        <p:spPr>
          <a:xfrm>
            <a:off x="-10362475" y="761999"/>
            <a:ext cx="10160000" cy="2540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>
                <a:solidFill>
                  <a:srgbClr val="FAF7F2">
                    <a:alpha val="60000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总结与思考</a:t>
            </a:r>
          </a:p>
        </p:txBody>
      </p:sp>
      <p:sp>
        <p:nvSpPr>
          <p:cNvPr id="4" name="AutoShape 4"/>
          <p:cNvSpPr txBox="1"/>
          <p:nvPr/>
        </p:nvSpPr>
        <p:spPr>
          <a:xfrm>
            <a:off x="12192024" y="1423618"/>
            <a:ext cx="9525000" cy="266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500">
                <a:solidFill>
                  <a:srgbClr val="FAF7F2">
                    <a:alpha val="92157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AI安全已从科幻变为真实全球议题，失控事件倒逼全球治理</a:t>
            </a:r>
          </a:p>
        </p:txBody>
      </p:sp>
      <p:sp>
        <p:nvSpPr>
          <p:cNvPr id="6" name="AutoShape 6"/>
          <p:cNvSpPr txBox="1"/>
          <p:nvPr/>
        </p:nvSpPr>
        <p:spPr>
          <a:xfrm>
            <a:off x="12192024" y="2058618"/>
            <a:ext cx="9525000" cy="266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500">
                <a:solidFill>
                  <a:srgbClr val="FAF7F2">
                    <a:alpha val="92157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全球治理多方博弈，规则制定权是核心矛盾</a:t>
            </a:r>
          </a:p>
        </p:txBody>
      </p:sp>
      <p:sp>
        <p:nvSpPr>
          <p:cNvPr id="8" name="AutoShape 8"/>
          <p:cNvSpPr txBox="1"/>
          <p:nvPr/>
        </p:nvSpPr>
        <p:spPr>
          <a:xfrm>
            <a:off x="12192024" y="2693618"/>
            <a:ext cx="9525000" cy="266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500">
                <a:solidFill>
                  <a:srgbClr val="FAF7F2">
                    <a:alpha val="92157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中国坚持数字主权、公平普惠，为全球治理贡献中国方案</a:t>
            </a:r>
          </a:p>
        </p:txBody>
      </p:sp>
      <p:sp>
        <p:nvSpPr>
          <p:cNvPr id="9" name="Connector 9"/>
          <p:cNvSpPr/>
          <p:nvPr/>
        </p:nvSpPr>
        <p:spPr>
          <a:xfrm>
            <a:off x="-10362475" y="5146366"/>
            <a:ext cx="1016080" cy="1"/>
          </a:xfrm>
          <a:prstGeom prst="line">
            <a:avLst/>
          </a:prstGeom>
          <a:ln w="25400" cmpd="sng">
            <a:noFill/>
            <a:prstDash val="solid"/>
            <a:miter lim="800000"/>
          </a:ln>
        </p:spPr>
        <p:txBody>
          <a:bodyPr lIns="0" tIns="0" rIns="0" bIns="0"/>
          <a:lstStyle/>
          <a:p/>
        </p:txBody>
      </p:sp>
      <p:sp>
        <p:nvSpPr>
          <p:cNvPr id="10" name="AutoShape 10"/>
          <p:cNvSpPr txBox="1"/>
          <p:nvPr/>
        </p:nvSpPr>
        <p:spPr>
          <a:xfrm>
            <a:off x="-10362475" y="5485033"/>
            <a:ext cx="10160000" cy="592667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>
              <a:lnSpc>
                <a:spcPct val="133000"/>
              </a:lnSpc>
              <a:defRPr>
                <a:solidFill>
                  <a:srgbClr val="FAF7F2">
                    <a:alpha val="65098"/>
                  </a:srgbClr>
                </a:solidFill>
                <a:latin typeface="Kaiti SC Regular"/>
                <a:ea typeface="Kaiti SC Regular"/>
                <a:cs typeface="Kaiti SC Regular"/>
                <a:sym typeface="Kaiti SC Regular"/>
              </a:defRPr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它也和我们有关：AI换脸、语音合成诈骗已有涉案1300余万元的案件；</a:t>
            </a:r>
            <a:endParaRPr sz="11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133000"/>
              </a:lnSpc>
              <a:defRPr>
                <a:solidFill>
                  <a:srgbClr val="FAF7F2">
                    <a:alpha val="65098"/>
                  </a:srgbClr>
                </a:solidFill>
                <a:latin typeface="Kaiti SC Regular"/>
                <a:ea typeface="Kaiti SC Regular"/>
                <a:cs typeface="Kaiti SC Regular"/>
                <a:sym typeface="Kaiti SC Regular"/>
              </a:defRPr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算法沉迷、AI代写作业，都是我们正在面对的现实。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53" name="AutoShape 3"/>
          <p:cNvSpPr txBox="1"/>
          <p:nvPr/>
        </p:nvSpPr>
        <p:spPr>
          <a:xfrm>
            <a:off x="-10160000" y="2495252"/>
            <a:ext cx="10160000" cy="137583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>
              <a:lnSpc>
                <a:spcPct val="117000"/>
              </a:lnSpc>
              <a:defRPr sz="3600" b="1">
                <a:solidFill>
                  <a:srgbClr val="FAF7F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pPr>
            <a:r>
              <a:t>在国际上发声，</a:t>
            </a:r>
            <a:endParaRPr sz="1100"/>
          </a:p>
          <a:p>
            <a:pPr>
              <a:lnSpc>
                <a:spcPct val="117000"/>
              </a:lnSpc>
              <a:defRPr sz="3600" b="1">
                <a:solidFill>
                  <a:srgbClr val="FAF7F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pPr>
            <a:r>
              <a:t>在国内先立规矩</a:t>
            </a:r>
          </a:p>
        </p:txBody>
      </p:sp>
      <p:sp>
        <p:nvSpPr>
          <p:cNvPr id="555" name="AutoShape 5"/>
          <p:cNvSpPr txBox="1"/>
          <p:nvPr/>
        </p:nvSpPr>
        <p:spPr>
          <a:xfrm>
            <a:off x="1015936" y="7321974"/>
            <a:ext cx="8890000" cy="65193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>
              <a:lnSpc>
                <a:spcPct val="133000"/>
              </a:lnSpc>
              <a:defRPr sz="1600">
                <a:solidFill>
                  <a:srgbClr val="FAF7F2">
                    <a:alpha val="70196"/>
                  </a:srgbClr>
                </a:solidFill>
                <a:latin typeface="Kaiti SC Regular"/>
                <a:ea typeface="Kaiti SC Regular"/>
                <a:cs typeface="Kaiti SC Regular"/>
                <a:sym typeface="Kaiti SC Regular"/>
              </a:defRPr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从治理框架到分级标准，从内容标识到执法打击——</a:t>
            </a:r>
            <a:endParaRPr sz="11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133000"/>
              </a:lnSpc>
              <a:defRPr sz="1600">
                <a:solidFill>
                  <a:srgbClr val="FAF7F2">
                    <a:alpha val="70196"/>
                  </a:srgbClr>
                </a:solidFill>
                <a:latin typeface="Kaiti SC Regular"/>
                <a:ea typeface="Kaiti SC Regular"/>
                <a:cs typeface="Kaiti SC Regular"/>
                <a:sym typeface="Kaiti SC Regular"/>
              </a:defRPr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中国正在构建全链条AI治理体系。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56" name="AutoShape 6"/>
          <p:cNvSpPr txBox="1"/>
          <p:nvPr/>
        </p:nvSpPr>
        <p:spPr>
          <a:xfrm>
            <a:off x="7873937" y="6936740"/>
            <a:ext cx="3810000" cy="24384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r">
              <a:lnSpc>
                <a:spcPct val="125000"/>
              </a:lnSpc>
              <a:defRPr sz="16000" b="1">
                <a:solidFill>
                  <a:srgbClr val="FAF7F2">
                    <a:alpha val="5882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05</a:t>
            </a:r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-10586312" y="1267267"/>
            <a:ext cx="10160000" cy="311150"/>
            <a:chOff x="1600" y="2140"/>
            <a:chExt cx="16000" cy="490"/>
          </a:xfrm>
        </p:grpSpPr>
        <p:sp>
          <p:nvSpPr>
            <p:cNvPr id="575" name="AutoShape 3"/>
            <p:cNvSpPr txBox="1"/>
            <p:nvPr/>
          </p:nvSpPr>
          <p:spPr>
            <a:xfrm>
              <a:off x="1600" y="2140"/>
              <a:ext cx="1000" cy="48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2000" b="1">
                  <a:solidFill>
                    <a:srgbClr val="9C5C38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1</a:t>
              </a:r>
            </a:p>
          </p:txBody>
        </p:sp>
        <p:sp>
          <p:nvSpPr>
            <p:cNvPr id="576" name="AutoShape 4"/>
            <p:cNvSpPr txBox="1"/>
            <p:nvPr/>
          </p:nvSpPr>
          <p:spPr>
            <a:xfrm>
              <a:off x="2600" y="2210"/>
              <a:ext cx="15000" cy="42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1500">
                  <a:solidFill>
                    <a:srgbClr val="FAF7F2">
                      <a:alpha val="92157"/>
                    </a:srgbClr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AI安全已从科幻变为真实全球议题，失控事件倒逼全球治理</a:t>
              </a: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-11014937" y="1902267"/>
            <a:ext cx="10160000" cy="311150"/>
            <a:chOff x="1600" y="3140"/>
            <a:chExt cx="16000" cy="490"/>
          </a:xfrm>
        </p:grpSpPr>
        <p:sp>
          <p:nvSpPr>
            <p:cNvPr id="577" name="AutoShape 5"/>
            <p:cNvSpPr txBox="1"/>
            <p:nvPr/>
          </p:nvSpPr>
          <p:spPr>
            <a:xfrm>
              <a:off x="1600" y="3140"/>
              <a:ext cx="1000" cy="48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2000" b="1">
                  <a:solidFill>
                    <a:srgbClr val="9C5C38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2</a:t>
              </a:r>
            </a:p>
          </p:txBody>
        </p:sp>
        <p:sp>
          <p:nvSpPr>
            <p:cNvPr id="578" name="AutoShape 6"/>
            <p:cNvSpPr txBox="1"/>
            <p:nvPr/>
          </p:nvSpPr>
          <p:spPr>
            <a:xfrm>
              <a:off x="2600" y="3210"/>
              <a:ext cx="15000" cy="42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1500">
                  <a:solidFill>
                    <a:srgbClr val="FAF7F2">
                      <a:alpha val="92157"/>
                    </a:srgbClr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全球治理多方博弈，规则制定权是核心矛盾</a:t>
              </a:r>
            </a:p>
          </p:txBody>
        </p:sp>
      </p:grpSp>
      <p:grpSp>
        <p:nvGrpSpPr>
          <p:cNvPr id="13" name="组合 12"/>
          <p:cNvGrpSpPr/>
          <p:nvPr userDrawn="1"/>
        </p:nvGrpSpPr>
        <p:grpSpPr>
          <a:xfrm>
            <a:off x="-12237312" y="2434873"/>
            <a:ext cx="10160000" cy="311150"/>
            <a:chOff x="1600" y="4140"/>
            <a:chExt cx="16000" cy="490"/>
          </a:xfrm>
        </p:grpSpPr>
        <p:sp>
          <p:nvSpPr>
            <p:cNvPr id="579" name="AutoShape 7"/>
            <p:cNvSpPr txBox="1"/>
            <p:nvPr/>
          </p:nvSpPr>
          <p:spPr>
            <a:xfrm>
              <a:off x="1600" y="4140"/>
              <a:ext cx="1000" cy="48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2000" b="1">
                  <a:solidFill>
                    <a:srgbClr val="9C5C38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3</a:t>
              </a:r>
            </a:p>
          </p:txBody>
        </p:sp>
        <p:sp>
          <p:nvSpPr>
            <p:cNvPr id="580" name="AutoShape 8"/>
            <p:cNvSpPr txBox="1"/>
            <p:nvPr/>
          </p:nvSpPr>
          <p:spPr>
            <a:xfrm>
              <a:off x="2600" y="4210"/>
              <a:ext cx="15000" cy="42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1500">
                  <a:solidFill>
                    <a:srgbClr val="FAF7F2">
                      <a:alpha val="92157"/>
                    </a:srgbClr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中国坚持数字主权、公平普惠，为全球治理贡献中国方案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-7657465" y="3857625"/>
            <a:ext cx="8875395" cy="103822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 upright="0">
            <a:spAutoFit/>
          </a:bodyPr>
          <a:p>
            <a:pPr marR="0" algn="l" defTabSz="914400" rtl="0" ea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sz="1500" b="0" i="0" u="none" strike="noStrike" cap="none" spc="0" normalizeH="0" baseline="0">
                <a:ln>
                  <a:noFill/>
                </a:ln>
                <a:solidFill>
                  <a:srgbClr val="FAF7F2">
                    <a:alpha val="92157"/>
                  </a:srgbClr>
                </a:solidFill>
                <a:effectLst/>
                <a:uFillTx/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Arial" panose="020B0604020202020204"/>
              </a:rPr>
              <a:t>资料收集：林承凯</a:t>
            </a:r>
            <a:endParaRPr kumimoji="0" sz="1500" b="0" i="0" u="none" strike="noStrike" cap="none" spc="0" normalizeH="0" baseline="0">
              <a:ln>
                <a:noFill/>
              </a:ln>
              <a:solidFill>
                <a:srgbClr val="FAF7F2">
                  <a:alpha val="92157"/>
                </a:srgbClr>
              </a:solidFill>
              <a:effectLst/>
              <a:uFillTx/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Arial" panose="020B0604020202020204"/>
            </a:endParaRPr>
          </a:p>
          <a:p>
            <a:pPr marR="0" algn="l" defTabSz="914400" rtl="0" ea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sz="1500" b="0" i="0" u="none" strike="noStrike" cap="none" spc="0" normalizeH="0" baseline="0">
                <a:ln>
                  <a:noFill/>
                </a:ln>
                <a:solidFill>
                  <a:srgbClr val="FAF7F2">
                    <a:alpha val="92157"/>
                  </a:srgbClr>
                </a:solidFill>
                <a:effectLst/>
                <a:uFillTx/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Arial" panose="020B0604020202020204"/>
              </a:rPr>
              <a:t>PPT制作：李俊毅、李天睿、翁裕煊</a:t>
            </a:r>
            <a:endParaRPr kumimoji="0" sz="1500" b="0" i="0" u="none" strike="noStrike" cap="none" spc="0" normalizeH="0" baseline="0">
              <a:ln>
                <a:noFill/>
              </a:ln>
              <a:solidFill>
                <a:srgbClr val="FAF7F2">
                  <a:alpha val="92157"/>
                </a:srgbClr>
              </a:solidFill>
              <a:effectLst/>
              <a:uFillTx/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Arial" panose="020B0604020202020204"/>
            </a:endParaRPr>
          </a:p>
          <a:p>
            <a:pPr marR="0" algn="l" defTabSz="914400" rtl="0" ea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sz="1500" b="0" i="0" u="none" strike="noStrike" cap="none" spc="0" normalizeH="0" baseline="0">
                <a:ln>
                  <a:noFill/>
                </a:ln>
                <a:solidFill>
                  <a:srgbClr val="FAF7F2">
                    <a:alpha val="92157"/>
                  </a:srgbClr>
                </a:solidFill>
                <a:effectLst/>
                <a:uFillTx/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Arial" panose="020B0604020202020204"/>
              </a:rPr>
              <a:t>演讲：郁泽明</a:t>
            </a:r>
            <a:endParaRPr kumimoji="0" sz="1500" b="0" i="0" u="none" strike="noStrike" cap="none" spc="0" normalizeH="0" baseline="0">
              <a:ln>
                <a:noFill/>
              </a:ln>
              <a:solidFill>
                <a:srgbClr val="FAF7F2">
                  <a:alpha val="92157"/>
                </a:srgbClr>
              </a:solidFill>
              <a:effectLst/>
              <a:uFillTx/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AutoShape 2"/>
          <p:cNvSpPr txBox="1"/>
          <p:nvPr/>
        </p:nvSpPr>
        <p:spPr>
          <a:xfrm>
            <a:off x="1016000" y="761999"/>
            <a:ext cx="10160000" cy="2540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>
                <a:solidFill>
                  <a:srgbClr val="FAF7F2">
                    <a:alpha val="60000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总结与思考</a:t>
            </a:r>
          </a:p>
        </p:txBody>
      </p:sp>
      <p:grpSp>
        <p:nvGrpSpPr>
          <p:cNvPr id="2" name="组合 1"/>
          <p:cNvGrpSpPr/>
          <p:nvPr userDrawn="1"/>
        </p:nvGrpSpPr>
        <p:grpSpPr>
          <a:xfrm>
            <a:off x="1016000" y="1358900"/>
            <a:ext cx="10160000" cy="311150"/>
            <a:chOff x="1600" y="2140"/>
            <a:chExt cx="16000" cy="490"/>
          </a:xfrm>
        </p:grpSpPr>
        <p:sp>
          <p:nvSpPr>
            <p:cNvPr id="575" name="AutoShape 3"/>
            <p:cNvSpPr txBox="1"/>
            <p:nvPr/>
          </p:nvSpPr>
          <p:spPr>
            <a:xfrm>
              <a:off x="1600" y="2140"/>
              <a:ext cx="1000" cy="48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2000" b="1">
                  <a:solidFill>
                    <a:srgbClr val="9C5C38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1</a:t>
              </a:r>
            </a:p>
          </p:txBody>
        </p:sp>
        <p:sp>
          <p:nvSpPr>
            <p:cNvPr id="576" name="AutoShape 4"/>
            <p:cNvSpPr txBox="1"/>
            <p:nvPr/>
          </p:nvSpPr>
          <p:spPr>
            <a:xfrm>
              <a:off x="2600" y="2210"/>
              <a:ext cx="15000" cy="42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1500">
                  <a:solidFill>
                    <a:srgbClr val="FAF7F2">
                      <a:alpha val="92157"/>
                    </a:srgbClr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AI安全已从科幻变为真实全球议题，失控事件倒逼全球治理</a:t>
              </a:r>
            </a:p>
          </p:txBody>
        </p:sp>
      </p:grpSp>
      <p:grpSp>
        <p:nvGrpSpPr>
          <p:cNvPr id="3" name="组合 2"/>
          <p:cNvGrpSpPr/>
          <p:nvPr userDrawn="1"/>
        </p:nvGrpSpPr>
        <p:grpSpPr>
          <a:xfrm>
            <a:off x="1016000" y="1993900"/>
            <a:ext cx="10160000" cy="311150"/>
            <a:chOff x="1600" y="3140"/>
            <a:chExt cx="16000" cy="490"/>
          </a:xfrm>
        </p:grpSpPr>
        <p:sp>
          <p:nvSpPr>
            <p:cNvPr id="577" name="AutoShape 5"/>
            <p:cNvSpPr txBox="1"/>
            <p:nvPr/>
          </p:nvSpPr>
          <p:spPr>
            <a:xfrm>
              <a:off x="1600" y="3140"/>
              <a:ext cx="1000" cy="48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2000" b="1">
                  <a:solidFill>
                    <a:srgbClr val="9C5C38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2</a:t>
              </a:r>
            </a:p>
          </p:txBody>
        </p:sp>
        <p:sp>
          <p:nvSpPr>
            <p:cNvPr id="578" name="AutoShape 6"/>
            <p:cNvSpPr txBox="1"/>
            <p:nvPr/>
          </p:nvSpPr>
          <p:spPr>
            <a:xfrm>
              <a:off x="2600" y="3210"/>
              <a:ext cx="15000" cy="42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1500">
                  <a:solidFill>
                    <a:srgbClr val="FAF7F2">
                      <a:alpha val="92157"/>
                    </a:srgbClr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全球治理多方博弈，规则制定权是核心矛盾</a:t>
              </a:r>
            </a:p>
          </p:txBody>
        </p:sp>
      </p:grpSp>
      <p:grpSp>
        <p:nvGrpSpPr>
          <p:cNvPr id="4" name="组合 3"/>
          <p:cNvGrpSpPr/>
          <p:nvPr userDrawn="1"/>
        </p:nvGrpSpPr>
        <p:grpSpPr>
          <a:xfrm>
            <a:off x="1016000" y="2628900"/>
            <a:ext cx="10160000" cy="311150"/>
            <a:chOff x="1600" y="4140"/>
            <a:chExt cx="16000" cy="490"/>
          </a:xfrm>
        </p:grpSpPr>
        <p:sp>
          <p:nvSpPr>
            <p:cNvPr id="579" name="AutoShape 7"/>
            <p:cNvSpPr txBox="1"/>
            <p:nvPr/>
          </p:nvSpPr>
          <p:spPr>
            <a:xfrm>
              <a:off x="1600" y="4140"/>
              <a:ext cx="1000" cy="48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2000" b="1">
                  <a:solidFill>
                    <a:srgbClr val="9C5C38"/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3</a:t>
              </a:r>
            </a:p>
          </p:txBody>
        </p:sp>
        <p:sp>
          <p:nvSpPr>
            <p:cNvPr id="580" name="AutoShape 8"/>
            <p:cNvSpPr txBox="1"/>
            <p:nvPr/>
          </p:nvSpPr>
          <p:spPr>
            <a:xfrm>
              <a:off x="2600" y="4210"/>
              <a:ext cx="15000" cy="420"/>
            </a:xfrm>
            <a:prstGeom prst="rect">
              <a:avLst/>
            </a:prstGeom>
            <a:ln w="12700">
              <a:miter lim="400000"/>
            </a:ln>
          </p:spPr>
          <p:txBody>
            <a:bodyPr lIns="0" tIns="0" rIns="0" bIns="0" anchor="ctr">
              <a:spAutoFit/>
            </a:bodyPr>
            <a:lstStyle>
              <a:lvl1pPr>
                <a:lnSpc>
                  <a:spcPct val="125000"/>
                </a:lnSpc>
                <a:defRPr sz="1500">
                  <a:solidFill>
                    <a:srgbClr val="FAF7F2">
                      <a:alpha val="92157"/>
                    </a:srgbClr>
                  </a:solidFill>
                  <a:latin typeface="Noto Serif SC" panose="02020200000000000000" charset="-122"/>
                  <a:ea typeface="Noto Serif SC" panose="02020200000000000000" charset="-122"/>
                  <a:cs typeface="Noto Serif SC" panose="02020200000000000000" charset="-122"/>
                  <a:sym typeface="Noto Serif SC" panose="02020200000000000000" charset="-122"/>
                </a:defRPr>
              </a:lvl1pPr>
            </a:lstStyle>
            <a:p>
              <a:r>
                <a:t>中国坚持数字主权、公平普惠，为全球治理贡献中国方案</a:t>
              </a:r>
            </a:p>
          </p:txBody>
        </p:sp>
      </p:grpSp>
      <p:sp>
        <p:nvSpPr>
          <p:cNvPr id="581" name="Connector 9"/>
          <p:cNvSpPr/>
          <p:nvPr/>
        </p:nvSpPr>
        <p:spPr>
          <a:xfrm>
            <a:off x="1055187" y="5146367"/>
            <a:ext cx="1577757" cy="0"/>
          </a:xfrm>
          <a:prstGeom prst="line">
            <a:avLst/>
          </a:prstGeom>
          <a:ln w="25400">
            <a:solidFill>
              <a:srgbClr val="9C5C38"/>
            </a:solidFill>
          </a:ln>
        </p:spPr>
        <p:txBody>
          <a:bodyPr lIns="0" tIns="0" rIns="0" bIns="0"/>
          <a:lstStyle/>
          <a:p/>
        </p:txBody>
      </p:sp>
      <p:sp>
        <p:nvSpPr>
          <p:cNvPr id="582" name="AutoShape 10"/>
          <p:cNvSpPr txBox="1"/>
          <p:nvPr/>
        </p:nvSpPr>
        <p:spPr>
          <a:xfrm>
            <a:off x="1016000" y="5485033"/>
            <a:ext cx="10160000" cy="592667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>
              <a:lnSpc>
                <a:spcPct val="133000"/>
              </a:lnSpc>
              <a:defRPr>
                <a:solidFill>
                  <a:srgbClr val="FAF7F2">
                    <a:alpha val="65098"/>
                  </a:srgbClr>
                </a:solidFill>
                <a:latin typeface="Kaiti SC Regular"/>
                <a:ea typeface="Kaiti SC Regular"/>
                <a:cs typeface="Kaiti SC Regular"/>
                <a:sym typeface="Kaiti SC Regular"/>
              </a:defRPr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它也和我们有关：AI换脸、语音合成诈骗已有涉案1300余万元的案件；</a:t>
            </a:r>
            <a:endParaRPr sz="11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>
              <a:lnSpc>
                <a:spcPct val="133000"/>
              </a:lnSpc>
              <a:defRPr>
                <a:solidFill>
                  <a:srgbClr val="FAF7F2">
                    <a:alpha val="65098"/>
                  </a:srgbClr>
                </a:solidFill>
                <a:latin typeface="Kaiti SC Regular"/>
                <a:ea typeface="Kaiti SC Regular"/>
                <a:cs typeface="Kaiti SC Regular"/>
                <a:sym typeface="Kaiti SC Regular"/>
              </a:defRPr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算法沉迷、AI代写作业，都是我们正在面对的现实。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60" name="AutoShape 2"/>
          <p:cNvSpPr txBox="1"/>
          <p:nvPr/>
        </p:nvSpPr>
        <p:spPr>
          <a:xfrm>
            <a:off x="-6375400" y="573526"/>
            <a:ext cx="6350000" cy="2159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200">
                <a:solidFill>
                  <a:srgbClr val="9C5C3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第五章 · 中国国内治理</a:t>
            </a:r>
          </a:p>
        </p:txBody>
      </p:sp>
      <p:sp>
        <p:nvSpPr>
          <p:cNvPr id="561" name="AutoShape 3"/>
          <p:cNvSpPr txBox="1"/>
          <p:nvPr/>
        </p:nvSpPr>
        <p:spPr>
          <a:xfrm>
            <a:off x="-6375400" y="986275"/>
            <a:ext cx="10160000" cy="4699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2600" b="1">
                <a:solidFill>
                  <a:srgbClr val="2B2B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中国国内也在"立规矩"</a:t>
            </a:r>
          </a:p>
        </p:txBody>
      </p:sp>
      <p:sp>
        <p:nvSpPr>
          <p:cNvPr id="562" name="Connector 4"/>
          <p:cNvSpPr/>
          <p:nvPr/>
        </p:nvSpPr>
        <p:spPr>
          <a:xfrm>
            <a:off x="-6375401" y="1659376"/>
            <a:ext cx="508319" cy="0"/>
          </a:xfrm>
          <a:prstGeom prst="line">
            <a:avLst/>
          </a:prstGeom>
          <a:ln w="25400">
            <a:solidFill>
              <a:srgbClr val="9C5C38"/>
            </a:solidFill>
          </a:ln>
        </p:spPr>
        <p:txBody>
          <a:bodyPr lIns="0" tIns="0" rIns="0" bIns="0"/>
          <a:lstStyle/>
          <a:p/>
        </p:txBody>
      </p:sp>
      <p:graphicFrame>
        <p:nvGraphicFramePr>
          <p:cNvPr id="563" name="Table 5"/>
          <p:cNvGraphicFramePr/>
          <p:nvPr/>
        </p:nvGraphicFramePr>
        <p:xfrm>
          <a:off x="-6375400" y="2014976"/>
          <a:ext cx="6350000" cy="368300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778000"/>
                <a:gridCol w="3429000"/>
                <a:gridCol w="1143000"/>
              </a:tblGrid>
              <a:tr h="5080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治理举措</a:t>
                      </a:r>
                      <a:endParaRPr sz="1200" b="1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9C5C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核心内容</a:t>
                      </a:r>
                      <a:endParaRPr sz="1200" b="1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9C5C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时间</a:t>
                      </a:r>
                      <a:endParaRPr sz="1200" b="1">
                        <a:solidFill>
                          <a:srgbClr val="FFFFFF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9C5C38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defRPr sz="1800"/>
                      </a:pPr>
                      <a:r>
                        <a:rPr sz="1100" b="1">
                          <a:solidFill>
                            <a:srgbClr val="2B2B2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AI安全治理框架3.0</a:t>
                      </a:r>
                      <a:endParaRPr sz="1100" b="1">
                        <a:solidFill>
                          <a:srgbClr val="2B2B2B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7000"/>
                        </a:lnSpc>
                        <a:defRPr sz="1800"/>
                      </a:pPr>
                      <a:r>
                        <a:rPr sz="1100">
                          <a:solidFill>
                            <a:srgbClr val="3C3C3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网安标委发布，延续"风险分类、技术应对、综合治理"逻辑，更新风险分类与治理措施</a:t>
                      </a:r>
                      <a:endParaRPr sz="1100">
                        <a:solidFill>
                          <a:srgbClr val="3C3C3C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defRPr sz="1800"/>
                      </a:pPr>
                      <a:r>
                        <a:rPr sz="1100">
                          <a:solidFill>
                            <a:srgbClr val="9C5C3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2026.09</a:t>
                      </a:r>
                      <a:endParaRPr sz="1100">
                        <a:solidFill>
                          <a:srgbClr val="9C5C38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defRPr sz="1800"/>
                      </a:pPr>
                      <a:r>
                        <a:rPr sz="1100" b="1">
                          <a:solidFill>
                            <a:srgbClr val="2B2B2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大模型分级技术标准</a:t>
                      </a:r>
                      <a:endParaRPr sz="1100" b="1">
                        <a:solidFill>
                          <a:srgbClr val="2B2B2B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7000"/>
                        </a:lnSpc>
                        <a:defRPr sz="1800"/>
                      </a:pPr>
                      <a:r>
                        <a:rPr sz="1100">
                          <a:solidFill>
                            <a:srgbClr val="3C3C3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工信部AI标委会发布，电信和互联网行业首部大模型分类方法和分级技术要求行业标准</a:t>
                      </a:r>
                      <a:endParaRPr sz="1100">
                        <a:solidFill>
                          <a:srgbClr val="3C3C3C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defRPr sz="1800"/>
                      </a:pPr>
                      <a:r>
                        <a:rPr sz="1100">
                          <a:solidFill>
                            <a:srgbClr val="9C5C3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2026.06</a:t>
                      </a:r>
                      <a:endParaRPr sz="1100">
                        <a:solidFill>
                          <a:srgbClr val="9C5C38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5F0E8"/>
                    </a:solidFill>
                  </a:tcPr>
                </a:tc>
              </a:tr>
              <a:tr h="787400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defRPr sz="1800"/>
                      </a:pPr>
                      <a:r>
                        <a:rPr sz="1100" b="1">
                          <a:solidFill>
                            <a:srgbClr val="2B2B2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AI生成内容标识办法</a:t>
                      </a:r>
                      <a:endParaRPr sz="1100" b="1">
                        <a:solidFill>
                          <a:srgbClr val="2B2B2B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7000"/>
                        </a:lnSpc>
                        <a:defRPr sz="1800"/>
                      </a:pPr>
                      <a:r>
                        <a:rPr sz="1100">
                          <a:solidFill>
                            <a:srgbClr val="3C3C3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要求文本、音频、图片、视频均须标识，2026年6月全平台强制落地，防范深度伪造滥用</a:t>
                      </a:r>
                      <a:endParaRPr sz="1100">
                        <a:solidFill>
                          <a:srgbClr val="3C3C3C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defRPr sz="1800"/>
                      </a:pPr>
                      <a:r>
                        <a:rPr sz="1100">
                          <a:solidFill>
                            <a:srgbClr val="9C5C3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2025.09</a:t>
                      </a:r>
                      <a:endParaRPr sz="1100">
                        <a:solidFill>
                          <a:srgbClr val="9C5C38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</a:tr>
              <a:tr h="787400"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defRPr sz="1800"/>
                      </a:pPr>
                      <a:r>
                        <a:rPr sz="1100" b="1">
                          <a:solidFill>
                            <a:srgbClr val="2B2B2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打击深度伪造</a:t>
                      </a:r>
                      <a:endParaRPr sz="1100" b="1">
                        <a:solidFill>
                          <a:srgbClr val="2B2B2B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7000"/>
                        </a:lnSpc>
                        <a:defRPr sz="1800"/>
                      </a:pPr>
                      <a:r>
                        <a:rPr sz="1100">
                          <a:solidFill>
                            <a:srgbClr val="3C3C3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公安部通报AI换脸诈骗破案79起，单案涉案1300余万元；AI造谣企业者被刑拘</a:t>
                      </a:r>
                      <a:endParaRPr sz="1100">
                        <a:solidFill>
                          <a:srgbClr val="3C3C3C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8000"/>
                        </a:lnSpc>
                        <a:defRPr sz="1800"/>
                      </a:pPr>
                      <a:r>
                        <a:rPr sz="1100">
                          <a:solidFill>
                            <a:srgbClr val="9C5C3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2026</a:t>
                      </a:r>
                      <a:endParaRPr sz="1100">
                        <a:solidFill>
                          <a:srgbClr val="9C5C38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5F0E8"/>
                    </a:solidFill>
                  </a:tcPr>
                </a:tc>
              </a:tr>
            </a:tbl>
          </a:graphicData>
        </a:graphic>
      </p:graphicFrame>
      <p:sp>
        <p:nvSpPr>
          <p:cNvPr id="568" name="AutoShape 10"/>
          <p:cNvSpPr txBox="1"/>
          <p:nvPr/>
        </p:nvSpPr>
        <p:spPr>
          <a:xfrm>
            <a:off x="-6375400" y="6066275"/>
            <a:ext cx="10160000" cy="2159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17000"/>
              </a:lnSpc>
              <a:defRPr sz="1200" i="1">
                <a:solidFill>
                  <a:srgbClr val="786E64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中国在AI治理上走的是"先立规矩、再促发展"的路子——规则越清晰，创新才越有底气。</a:t>
            </a:r>
          </a:p>
        </p:txBody>
      </p:sp>
      <p:sp>
        <p:nvSpPr>
          <p:cNvPr id="569" name="AutoShape 11"/>
          <p:cNvSpPr txBox="1"/>
          <p:nvPr/>
        </p:nvSpPr>
        <p:spPr>
          <a:xfrm>
            <a:off x="-6375400" y="1773676"/>
            <a:ext cx="8890000" cy="1778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000">
                <a:solidFill>
                  <a:srgbClr val="9C5C38">
                    <a:alpha val="45098"/>
                  </a:srgbClr>
                </a:solidFill>
                <a:latin typeface="Kaiti SC Regular"/>
                <a:ea typeface="Kaiti SC Regular"/>
                <a:cs typeface="Kaiti SC Regular"/>
                <a:sym typeface="Kaiti SC Regular"/>
              </a:defRPr>
            </a:lvl1pPr>
          </a:lstStyle>
          <a:p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在国际上发声，在国内先立规矩</a:t>
            </a:r>
            <a:endParaRPr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564" name="Picture 6" descr="Picture 6"/>
          <p:cNvPicPr>
            <a:picLocks noChangeAspect="1"/>
          </p:cNvPicPr>
          <p:nvPr/>
        </p:nvPicPr>
        <p:blipFill>
          <a:blip r:embed="rId1"/>
          <a:srcRect t="2709" b="2710"/>
          <a:stretch>
            <a:fillRect/>
          </a:stretch>
        </p:blipFill>
        <p:spPr>
          <a:xfrm rot="3480000">
            <a:off x="12291441" y="-2159001"/>
            <a:ext cx="3429000" cy="2159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016"/>
                </a:moveTo>
                <a:lnTo>
                  <a:pt x="21600" y="20584"/>
                </a:lnTo>
                <a:cubicBezTo>
                  <a:pt x="21600" y="21145"/>
                  <a:pt x="21314" y="21600"/>
                  <a:pt x="20960" y="21600"/>
                </a:cubicBezTo>
                <a:lnTo>
                  <a:pt x="640" y="21600"/>
                </a:lnTo>
                <a:cubicBezTo>
                  <a:pt x="286" y="21600"/>
                  <a:pt x="0" y="21145"/>
                  <a:pt x="0" y="20584"/>
                </a:cubicBezTo>
                <a:lnTo>
                  <a:pt x="0" y="1016"/>
                </a:lnTo>
                <a:lnTo>
                  <a:pt x="3" y="912"/>
                </a:lnTo>
                <a:cubicBezTo>
                  <a:pt x="36" y="400"/>
                  <a:pt x="309" y="0"/>
                  <a:pt x="640" y="0"/>
                </a:cubicBezTo>
                <a:lnTo>
                  <a:pt x="20960" y="0"/>
                </a:lnTo>
                <a:cubicBezTo>
                  <a:pt x="21314" y="0"/>
                  <a:pt x="21600" y="455"/>
                  <a:pt x="21600" y="1016"/>
                </a:cubicBezTo>
                <a:close/>
              </a:path>
            </a:pathLst>
          </a:custGeom>
          <a:ln w="12700">
            <a:miter lim="400000"/>
            <a:headEnd/>
            <a:tailEnd/>
          </a:ln>
        </p:spPr>
      </p:pic>
      <p:sp>
        <p:nvSpPr>
          <p:cNvPr id="565" name="AutoShape 7"/>
          <p:cNvSpPr/>
          <p:nvPr/>
        </p:nvSpPr>
        <p:spPr>
          <a:xfrm rot="7620000">
            <a:off x="12192000" y="6858000"/>
            <a:ext cx="3429000" cy="1460500"/>
          </a:xfrm>
          <a:prstGeom prst="roundRect">
            <a:avLst>
              <a:gd name="adj" fmla="val 6956"/>
            </a:avLst>
          </a:prstGeom>
          <a:solidFill>
            <a:srgbClr val="9C5C38">
              <a:alpha val="8000"/>
            </a:srgbClr>
          </a:solidFill>
          <a:ln w="12700">
            <a:solidFill>
              <a:srgbClr val="9C5C38">
                <a:alpha val="30000"/>
              </a:srgbClr>
            </a:solidFill>
          </a:ln>
        </p:spPr>
        <p:txBody>
          <a:bodyPr lIns="0" tIns="0" rIns="0" bIns="0" anchor="ctr"/>
          <a:lstStyle/>
          <a:p>
            <a:pPr algn="ctr"/>
          </a:p>
        </p:txBody>
      </p:sp>
      <p:sp>
        <p:nvSpPr>
          <p:cNvPr id="566" name="AutoShape 8"/>
          <p:cNvSpPr txBox="1"/>
          <p:nvPr/>
        </p:nvSpPr>
        <p:spPr>
          <a:xfrm rot="7620000">
            <a:off x="12382500" y="7035799"/>
            <a:ext cx="3048000" cy="2159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25000"/>
              </a:lnSpc>
              <a:defRPr sz="1200" b="1">
                <a:solidFill>
                  <a:srgbClr val="9C5C3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defRPr>
            </a:lvl1pPr>
          </a:lstStyle>
          <a:p>
            <a:r>
              <a:t>治理思路</a:t>
            </a:r>
          </a:p>
        </p:txBody>
      </p:sp>
      <p:sp>
        <p:nvSpPr>
          <p:cNvPr id="567" name="AutoShape 9"/>
          <p:cNvSpPr txBox="1"/>
          <p:nvPr/>
        </p:nvSpPr>
        <p:spPr>
          <a:xfrm rot="7620000">
            <a:off x="12382500" y="7387167"/>
            <a:ext cx="3048000" cy="74506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lnSpc>
                <a:spcPct val="133000"/>
              </a:lnSpc>
              <a:defRPr sz="1100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defRPr>
            </a:lvl1pPr>
          </a:lstStyle>
          <a:p>
            <a:r>
              <a:t>坚持"发展与安全并重"，构建覆盖"框架指引—分级标准—标识管理—执法打击"的全链条治理体系，既包容创新又守牢底线。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016000" y="3892550"/>
            <a:ext cx="8875395" cy="103822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 upright="0">
            <a:spAutoFit/>
          </a:bodyPr>
          <a:p>
            <a:pPr marR="0" algn="l" defTabSz="914400" rtl="0" ea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sz="1500" b="0" i="0" u="none" strike="noStrike" cap="none" spc="0" normalizeH="0" baseline="0">
                <a:ln>
                  <a:noFill/>
                </a:ln>
                <a:solidFill>
                  <a:srgbClr val="FAF7F2">
                    <a:alpha val="92157"/>
                  </a:srgbClr>
                </a:solidFill>
                <a:effectLst/>
                <a:uFillTx/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Arial" panose="020B0604020202020204"/>
              </a:rPr>
              <a:t>资料收集：林承凯</a:t>
            </a:r>
            <a:endParaRPr kumimoji="0" sz="1500" b="0" i="0" u="none" strike="noStrike" cap="none" spc="0" normalizeH="0" baseline="0">
              <a:ln>
                <a:noFill/>
              </a:ln>
              <a:solidFill>
                <a:srgbClr val="FAF7F2">
                  <a:alpha val="92157"/>
                </a:srgbClr>
              </a:solidFill>
              <a:effectLst/>
              <a:uFillTx/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Arial" panose="020B0604020202020204"/>
            </a:endParaRPr>
          </a:p>
          <a:p>
            <a:pPr marR="0" algn="l" defTabSz="914400" rtl="0" ea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sz="1500" b="0" i="0" u="none" strike="noStrike" cap="none" spc="0" normalizeH="0" baseline="0">
                <a:ln>
                  <a:noFill/>
                </a:ln>
                <a:solidFill>
                  <a:srgbClr val="FAF7F2">
                    <a:alpha val="92157"/>
                  </a:srgbClr>
                </a:solidFill>
                <a:effectLst/>
                <a:uFillTx/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Arial" panose="020B0604020202020204"/>
              </a:rPr>
              <a:t>PPT制作：李俊毅、李天睿、翁裕煊</a:t>
            </a:r>
            <a:endParaRPr kumimoji="0" sz="1500" b="0" i="0" u="none" strike="noStrike" cap="none" spc="0" normalizeH="0" baseline="0">
              <a:ln>
                <a:noFill/>
              </a:ln>
              <a:solidFill>
                <a:srgbClr val="FAF7F2">
                  <a:alpha val="92157"/>
                </a:srgbClr>
              </a:solidFill>
              <a:effectLst/>
              <a:uFillTx/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Arial" panose="020B0604020202020204"/>
            </a:endParaRPr>
          </a:p>
          <a:p>
            <a:pPr marR="0" algn="l" defTabSz="914400" rtl="0" ea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sz="1500" b="0" i="0" u="none" strike="noStrike" cap="none" spc="0" normalizeH="0" baseline="0">
                <a:ln>
                  <a:noFill/>
                </a:ln>
                <a:solidFill>
                  <a:srgbClr val="FAF7F2">
                    <a:alpha val="92157"/>
                  </a:srgbClr>
                </a:solidFill>
                <a:effectLst/>
                <a:uFillTx/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Arial" panose="020B0604020202020204"/>
              </a:rPr>
              <a:t>演讲：郁泽明</a:t>
            </a:r>
            <a:endParaRPr kumimoji="0" sz="1500" b="0" i="0" u="none" strike="noStrike" cap="none" spc="0" normalizeH="0" baseline="0">
              <a:ln>
                <a:noFill/>
              </a:ln>
              <a:solidFill>
                <a:srgbClr val="FAF7F2">
                  <a:alpha val="92157"/>
                </a:srgbClr>
              </a:solidFill>
              <a:effectLst/>
              <a:uFillTx/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182.7,&quot;left&quot;:60,&quot;top&quot;:174.8,&quot;width&quot;:840}"/>
</p:tagLst>
</file>

<file path=ppt/tags/tag2.xml><?xml version="1.0" encoding="utf-8"?>
<p:tagLst xmlns:p="http://schemas.openxmlformats.org/presentationml/2006/main">
  <p:tag name="KSO_WM_DIAGRAM_VIRTUALLY_FRAME" val="{&quot;height&quot;:182.7,&quot;left&quot;:60,&quot;top&quot;:174.8,&quot;width&quot;:840}"/>
</p:tagLst>
</file>

<file path=ppt/tags/tag3.xml><?xml version="1.0" encoding="utf-8"?>
<p:tagLst xmlns:p="http://schemas.openxmlformats.org/presentationml/2006/main">
  <p:tag name="KSO_WM_DIAGRAM_VIRTUALLY_FRAME" val="{&quot;height&quot;:182.7,&quot;left&quot;:60,&quot;top&quot;:174.8,&quot;width&quot;:840}"/>
</p:tagLst>
</file>

<file path=ppt/tags/tag4.xml><?xml version="1.0" encoding="utf-8"?>
<p:tagLst xmlns:p="http://schemas.openxmlformats.org/presentationml/2006/main">
  <p:tag name="KSO_WM_DIAGRAM_VIRTUALLY_FRAME" val="{&quot;height&quot;:182.7,&quot;left&quot;:60,&quot;top&quot;:174.8,&quot;width&quot;:840}"/>
</p:tagLst>
</file>

<file path=ppt/tags/tag5.xml><?xml version="1.0" encoding="utf-8"?>
<p:tagLst xmlns:p="http://schemas.openxmlformats.org/presentationml/2006/main">
  <p:tag name="KSO_WM_DIAGRAM_VIRTUALLY_FRAME" val="{&quot;height&quot;:182.7,&quot;left&quot;:60,&quot;top&quot;:174.8,&quot;width&quot;:840}"/>
</p:tagLst>
</file>

<file path=ppt/tags/tag6.xml><?xml version="1.0" encoding="utf-8"?>
<p:tagLst xmlns:p="http://schemas.openxmlformats.org/presentationml/2006/main">
  <p:tag name="KSO_WM_DIAGRAM_VIRTUALLY_FRAME" val="{&quot;height&quot;:182.7,&quot;left&quot;:60,&quot;top&quot;:174.8,&quot;width&quot;:840}"/>
</p:tagLst>
</file>

<file path=ppt/tags/tag7.xml><?xml version="1.0" encoding="utf-8"?>
<p:tagLst xmlns:p="http://schemas.openxmlformats.org/presentationml/2006/main">
  <p:tag name="KSO_WM_DIAGRAM_VIRTUALLY_FRAME" val="{&quot;height&quot;:180.17787401574805,&quot;left&quot;:60,&quot;top&quot;:174.82496062992124,&quot;width&quot;:840}"/>
</p:tagLst>
</file>

<file path=ppt/tags/tag8.xml><?xml version="1.0" encoding="utf-8"?>
<p:tagLst xmlns:p="http://schemas.openxmlformats.org/presentationml/2006/main">
  <p:tag name="KSO_WM_DIAGRAM_VIRTUALLY_FRAME" val="{&quot;height&quot;:182.7,&quot;left&quot;:60,&quot;top&quot;:174.8,&quot;width&quot;:840}"/>
</p:tagLst>
</file>

<file path=ppt/tags/tag9.xml><?xml version="1.0" encoding="utf-8"?>
<p:tagLst xmlns:p="http://schemas.openxmlformats.org/presentationml/2006/main">
  <p:tag name="KSO_WM_DIAGRAM_VIRTUALLY_FRAME" val="{&quot;height&quot;:182.7,&quot;left&quot;:60,&quot;top&quot;:174.8,&quot;width&quot;:840}"/>
</p:tagLst>
</file>

<file path=ppt/tags/tag10.xml><?xml version="1.0" encoding="utf-8"?>
<p:tagLst xmlns:p="http://schemas.openxmlformats.org/presentationml/2006/main">
  <p:tag name="KSO_WM_DIAGRAM_VIRTUALLY_FRAME" val="{&quot;height&quot;:182.7,&quot;left&quot;:60,&quot;top&quot;:174.8,&quot;width&quot;:840}"/>
</p:tagLst>
</file>

<file path=ppt/tags/tag11.xml><?xml version="1.0" encoding="utf-8"?>
<p:tagLst xmlns:p="http://schemas.openxmlformats.org/presentationml/2006/main">
  <p:tag name="KSO_WM_DIAGRAM_VIRTUALLY_FRAME" val="{&quot;height&quot;:180.17787401574805,&quot;left&quot;:60,&quot;top&quot;:174.82496062992124,&quot;width&quot;:840}"/>
</p:tagLst>
</file>

<file path=ppt/tags/tag12.xml><?xml version="1.0" encoding="utf-8"?>
<p:tagLst xmlns:p="http://schemas.openxmlformats.org/presentationml/2006/main">
  <p:tag name="KSO_WM_DIAGRAM_VIRTUALLY_FRAME" val="{&quot;height&quot;:182.7,&quot;left&quot;:60,&quot;top&quot;:174.8,&quot;width&quot;:840}"/>
</p:tagLst>
</file>

<file path=ppt/tags/tag13.xml><?xml version="1.0" encoding="utf-8"?>
<p:tagLst xmlns:p="http://schemas.openxmlformats.org/presentationml/2006/main">
  <p:tag name="KSO_WM_DIAGRAM_VIRTUALLY_FRAME" val="{&quot;height&quot;:182.7,&quot;left&quot;:60,&quot;top&quot;:174.8,&quot;width&quot;:840}"/>
</p:tagLst>
</file>

<file path=ppt/tags/tag14.xml><?xml version="1.0" encoding="utf-8"?>
<p:tagLst xmlns:p="http://schemas.openxmlformats.org/presentationml/2006/main">
  <p:tag name="KSO_WM_DIAGRAM_VIRTUALLY_FRAME" val="{&quot;height&quot;:182.7,&quot;left&quot;:60,&quot;top&quot;:174.8,&quot;width&quot;:840}"/>
</p:tagLst>
</file>

<file path=ppt/tags/tag15.xml><?xml version="1.0" encoding="utf-8"?>
<p:tagLst xmlns:p="http://schemas.openxmlformats.org/presentationml/2006/main">
  <p:tag name="KSO_WM_DIAGRAM_VIRTUALLY_FRAME" val="{&quot;height&quot;:182.7,&quot;left&quot;:60,&quot;top&quot;:174.8,&quot;width&quot;:840}"/>
</p:tagLst>
</file>

<file path=ppt/tags/tag16.xml><?xml version="1.0" encoding="utf-8"?>
<p:tagLst xmlns:p="http://schemas.openxmlformats.org/presentationml/2006/main">
  <p:tag name="KSO_WM_DIAGRAM_VIRTUALLY_FRAME" val="{&quot;height&quot;:182.7,&quot;left&quot;:60,&quot;top&quot;:174.8,&quot;width&quot;:840}"/>
</p:tagLst>
</file>

<file path=ppt/tags/tag17.xml><?xml version="1.0" encoding="utf-8"?>
<p:tagLst xmlns:p="http://schemas.openxmlformats.org/presentationml/2006/main">
  <p:tag name="KSO_WM_DIAGRAM_VIRTUALLY_FRAME" val="{&quot;height&quot;:182.7,&quot;left&quot;:60,&quot;top&quot;:174.8,&quot;width&quot;:840}"/>
</p:tagLst>
</file>

<file path=ppt/tags/tag18.xml><?xml version="1.0" encoding="utf-8"?>
<p:tagLst xmlns:p="http://schemas.openxmlformats.org/presentationml/2006/main">
  <p:tag name="KSO_WM_DIAGRAM_VIRTUALLY_FRAME" val="{&quot;height&quot;:182.7,&quot;left&quot;:60,&quot;top&quot;:174.8,&quot;width&quot;:840}"/>
</p:tagLst>
</file>

<file path=ppt/tags/tag19.xml><?xml version="1.0" encoding="utf-8"?>
<p:tagLst xmlns:p="http://schemas.openxmlformats.org/presentationml/2006/main">
  <p:tag name="KSO_WM_DIAGRAM_VIRTUALLY_FRAME" val="{&quot;height&quot;:182.7,&quot;left&quot;:60,&quot;top&quot;:174.8,&quot;width&quot;:840}"/>
</p:tagLst>
</file>

<file path=ppt/tags/tag20.xml><?xml version="1.0" encoding="utf-8"?>
<p:tagLst xmlns:p="http://schemas.openxmlformats.org/presentationml/2006/main">
  <p:tag name="KSO_WM_DIAGRAM_VIRTUALLY_FRAME" val="{&quot;height&quot;:182.7,&quot;left&quot;:60,&quot;top&quot;:174.8,&quot;width&quot;:840}"/>
</p:tagLst>
</file>

<file path=ppt/tags/tag21.xml><?xml version="1.0" encoding="utf-8"?>
<p:tagLst xmlns:p="http://schemas.openxmlformats.org/presentationml/2006/main">
  <p:tag name="KSO_WM_DIAGRAM_VIRTUALLY_FRAME" val="{&quot;height&quot;:180.17787401574805,&quot;left&quot;:60,&quot;top&quot;:174.82496062992124,&quot;width&quot;:840}"/>
</p:tagLst>
</file>

<file path=ppt/tags/tag22.xml><?xml version="1.0" encoding="utf-8"?>
<p:tagLst xmlns:p="http://schemas.openxmlformats.org/presentationml/2006/main">
  <p:tag name="KSO_WM_DIAGRAM_VIRTUALLY_FRAME" val="{&quot;height&quot;:182.7,&quot;left&quot;:60,&quot;top&quot;:174.8,&quot;width&quot;:840}"/>
</p:tagLst>
</file>

<file path=ppt/tags/tag23.xml><?xml version="1.0" encoding="utf-8"?>
<p:tagLst xmlns:p="http://schemas.openxmlformats.org/presentationml/2006/main">
  <p:tag name="KSO_WM_DIAGRAM_VIRTUALLY_FRAME" val="{&quot;height&quot;:182.7,&quot;left&quot;:60,&quot;top&quot;:174.8,&quot;width&quot;:840}"/>
</p:tagLst>
</file>

<file path=ppt/tags/tag24.xml><?xml version="1.0" encoding="utf-8"?>
<p:tagLst xmlns:p="http://schemas.openxmlformats.org/presentationml/2006/main">
  <p:tag name="KSO_WM_DIAGRAM_VIRTUALLY_FRAME" val="{&quot;height&quot;:182.7,&quot;left&quot;:60,&quot;top&quot;:174.8,&quot;width&quot;:840}"/>
</p:tagLst>
</file>

<file path=ppt/tags/tag25.xml><?xml version="1.0" encoding="utf-8"?>
<p:tagLst xmlns:p="http://schemas.openxmlformats.org/presentationml/2006/main">
  <p:tag name="KSO_WM_DIAGRAM_VIRTUALLY_FRAME" val="{&quot;height&quot;:180.17787401574805,&quot;left&quot;:60,&quot;top&quot;:174.82496062992124,&quot;width&quot;:840}"/>
</p:tagLst>
</file>

<file path=ppt/tags/tag26.xml><?xml version="1.0" encoding="utf-8"?>
<p:tagLst xmlns:p="http://schemas.openxmlformats.org/presentationml/2006/main">
  <p:tag name="KSO_WM_DIAGRAM_VIRTUALLY_FRAME" val="{&quot;height&quot;:182.7,&quot;left&quot;:60,&quot;top&quot;:174.8,&quot;width&quot;:840}"/>
</p:tagLst>
</file>

<file path=ppt/tags/tag27.xml><?xml version="1.0" encoding="utf-8"?>
<p:tagLst xmlns:p="http://schemas.openxmlformats.org/presentationml/2006/main">
  <p:tag name="KSO_WM_DIAGRAM_VIRTUALLY_FRAME" val="{&quot;height&quot;:182.7,&quot;left&quot;:60,&quot;top&quot;:174.8,&quot;width&quot;:840}"/>
</p:tagLst>
</file>

<file path=ppt/tags/tag28.xml><?xml version="1.0" encoding="utf-8"?>
<p:tagLst xmlns:p="http://schemas.openxmlformats.org/presentationml/2006/main">
  <p:tag name="KSO_WM_DIAGRAM_VIRTUALLY_FRAME" val="{&quot;height&quot;:182.7,&quot;left&quot;:60,&quot;top&quot;:174.8,&quot;width&quot;:840}"/>
</p:tagLst>
</file>

<file path=ppt/tags/tag29.xml><?xml version="1.0" encoding="utf-8"?>
<p:tagLst xmlns:p="http://schemas.openxmlformats.org/presentationml/2006/main">
  <p:tag name="KSO_WM_DIAGRAM_VIRTUALLY_FRAME" val="{&quot;height&quot;:182.7,&quot;left&quot;:60,&quot;top&quot;:174.8,&quot;width&quot;:840}"/>
</p:tagLst>
</file>

<file path=ppt/tags/tag30.xml><?xml version="1.0" encoding="utf-8"?>
<p:tagLst xmlns:p="http://schemas.openxmlformats.org/presentationml/2006/main">
  <p:tag name="KSO_WM_DIAGRAM_VIRTUALLY_FRAME" val="{&quot;height&quot;:182.7,&quot;left&quot;:60,&quot;top&quot;:174.8,&quot;width&quot;:840}"/>
</p:tagLst>
</file>

<file path=ppt/tags/tag31.xml><?xml version="1.0" encoding="utf-8"?>
<p:tagLst xmlns:p="http://schemas.openxmlformats.org/presentationml/2006/main">
  <p:tag name="KSO_WM_DIAGRAM_VIRTUALLY_FRAME" val="{&quot;height&quot;:182.7,&quot;left&quot;:60,&quot;top&quot;:174.8,&quot;width&quot;:840}"/>
</p:tagLst>
</file>

<file path=ppt/tags/tag32.xml><?xml version="1.0" encoding="utf-8"?>
<p:tagLst xmlns:p="http://schemas.openxmlformats.org/presentationml/2006/main">
  <p:tag name="KSO_WM_DIAGRAM_VIRTUALLY_FRAME" val="{&quot;height&quot;:182.7,&quot;left&quot;:60,&quot;top&quot;:174.8,&quot;width&quot;:840}"/>
</p:tagLst>
</file>

<file path=ppt/tags/tag33.xml><?xml version="1.0" encoding="utf-8"?>
<p:tagLst xmlns:p="http://schemas.openxmlformats.org/presentationml/2006/main">
  <p:tag name="KSO_WM_DIAGRAM_VIRTUALLY_FRAME" val="{&quot;height&quot;:182.7,&quot;left&quot;:60,&quot;top&quot;:174.8,&quot;width&quot;:840}"/>
</p:tagLst>
</file>

<file path=ppt/tags/tag34.xml><?xml version="1.0" encoding="utf-8"?>
<p:tagLst xmlns:p="http://schemas.openxmlformats.org/presentationml/2006/main">
  <p:tag name="KSO_WM_DIAGRAM_VIRTUALLY_FRAME" val="{&quot;height&quot;:180.17787401574805,&quot;left&quot;:60,&quot;top&quot;:174.82496062992124,&quot;width&quot;:840}"/>
</p:tagLst>
</file>

<file path=ppt/tags/tag35.xml><?xml version="1.0" encoding="utf-8"?>
<p:tagLst xmlns:p="http://schemas.openxmlformats.org/presentationml/2006/main">
  <p:tag name="KSO_WM_DIAGRAM_VIRTUALLY_FRAME" val="{&quot;height&quot;:182.7,&quot;left&quot;:60,&quot;top&quot;:174.8,&quot;width&quot;:840}"/>
</p:tagLst>
</file>

<file path=ppt/tags/tag36.xml><?xml version="1.0" encoding="utf-8"?>
<p:tagLst xmlns:p="http://schemas.openxmlformats.org/presentationml/2006/main">
  <p:tag name="KSO_WM_DIAGRAM_VIRTUALLY_FRAME" val="{&quot;height&quot;:182.7,&quot;left&quot;:60,&quot;top&quot;:174.8,&quot;width&quot;:840}"/>
</p:tagLst>
</file>

<file path=ppt/tags/tag37.xml><?xml version="1.0" encoding="utf-8"?>
<p:tagLst xmlns:p="http://schemas.openxmlformats.org/presentationml/2006/main">
  <p:tag name="KSO_WM_DIAGRAM_VIRTUALLY_FRAME" val="{&quot;height&quot;:182.7,&quot;left&quot;:60,&quot;top&quot;:174.8,&quot;width&quot;:840}"/>
</p:tagLst>
</file>

<file path=ppt/tags/tag38.xml><?xml version="1.0" encoding="utf-8"?>
<p:tagLst xmlns:p="http://schemas.openxmlformats.org/presentationml/2006/main">
  <p:tag name="KSO_WM_DIAGRAM_VIRTUALLY_FRAME" val="{&quot;height&quot;:182.7,&quot;left&quot;:60,&quot;top&quot;:174.8,&quot;width&quot;:840}"/>
</p:tagLst>
</file>

<file path=ppt/tags/tag39.xml><?xml version="1.0" encoding="utf-8"?>
<p:tagLst xmlns:p="http://schemas.openxmlformats.org/presentationml/2006/main">
  <p:tag name="KSO_WM_DIAGRAM_VIRTUALLY_FRAME" val="{&quot;height&quot;:180.17787401574805,&quot;left&quot;:60,&quot;top&quot;:174.82496062992124,&quot;width&quot;:840}"/>
</p:tagLst>
</file>

<file path=ppt/tags/tag40.xml><?xml version="1.0" encoding="utf-8"?>
<p:tagLst xmlns:p="http://schemas.openxmlformats.org/presentationml/2006/main">
  <p:tag name="KSO_WM_DIAGRAM_VIRTUALLY_FRAME" val="{&quot;height&quot;:182.7,&quot;left&quot;:60,&quot;top&quot;:174.8,&quot;width&quot;:840}"/>
</p:tagLst>
</file>

<file path=ppt/tags/tag41.xml><?xml version="1.0" encoding="utf-8"?>
<p:tagLst xmlns:p="http://schemas.openxmlformats.org/presentationml/2006/main">
  <p:tag name="KSO_WM_DIAGRAM_VIRTUALLY_FRAME" val="{&quot;height&quot;:182.7,&quot;left&quot;:60,&quot;top&quot;:174.8,&quot;width&quot;:840}"/>
</p:tagLst>
</file>

<file path=ppt/tags/tag42.xml><?xml version="1.0" encoding="utf-8"?>
<p:tagLst xmlns:p="http://schemas.openxmlformats.org/presentationml/2006/main">
  <p:tag name="KSO_WM_DIAGRAM_VIRTUALLY_FRAME" val="{&quot;height&quot;:182.7,&quot;left&quot;:60,&quot;top&quot;:174.8,&quot;width&quot;:840}"/>
</p:tagLst>
</file>

<file path=ppt/tags/tag43.xml><?xml version="1.0" encoding="utf-8"?>
<p:tagLst xmlns:p="http://schemas.openxmlformats.org/presentationml/2006/main">
  <p:tag name="KSO_WM_DIAGRAM_VIRTUALLY_FRAME" val="{&quot;height&quot;:182.7,&quot;left&quot;:60,&quot;top&quot;:174.8,&quot;width&quot;:840}"/>
</p:tagLst>
</file>

<file path=ppt/tags/tag44.xml><?xml version="1.0" encoding="utf-8"?>
<p:tagLst xmlns:p="http://schemas.openxmlformats.org/presentationml/2006/main">
  <p:tag name="KSO_WM_DIAGRAM_VIRTUALLY_FRAME" val="{&quot;height&quot;:182.7,&quot;left&quot;:60,&quot;top&quot;:174.8,&quot;width&quot;:840}"/>
</p:tagLst>
</file>

<file path=ppt/tags/tag45.xml><?xml version="1.0" encoding="utf-8"?>
<p:tagLst xmlns:p="http://schemas.openxmlformats.org/presentationml/2006/main">
  <p:tag name="KSO_WM_DIAGRAM_VIRTUALLY_FRAME" val="{&quot;height&quot;:182.7,&quot;left&quot;:60,&quot;top&quot;:174.8,&quot;width&quot;:840}"/>
</p:tagLst>
</file>

<file path=ppt/tags/tag46.xml><?xml version="1.0" encoding="utf-8"?>
<p:tagLst xmlns:p="http://schemas.openxmlformats.org/presentationml/2006/main">
  <p:tag name="KSO_WM_DIAGRAM_VIRTUALLY_FRAME" val="{&quot;height&quot;:182.7,&quot;left&quot;:60,&quot;top&quot;:174.8,&quot;width&quot;:840}"/>
</p:tagLst>
</file>

<file path=ppt/tags/tag47.xml><?xml version="1.0" encoding="utf-8"?>
<p:tagLst xmlns:p="http://schemas.openxmlformats.org/presentationml/2006/main">
  <p:tag name="KSO_WM_DIAGRAM_VIRTUALLY_FRAME" val="{&quot;height&quot;:182.7,&quot;left&quot;:60,&quot;top&quot;:174.8,&quot;width&quot;:840}"/>
</p:tagLst>
</file>

<file path=ppt/tags/tag48.xml><?xml version="1.0" encoding="utf-8"?>
<p:tagLst xmlns:p="http://schemas.openxmlformats.org/presentationml/2006/main">
  <p:tag name="KSO_WM_DIAGRAM_VIRTUALLY_FRAME" val="{&quot;height&quot;:182.7,&quot;left&quot;:60,&quot;top&quot;:174.8,&quot;width&quot;:840}"/>
</p:tagLst>
</file>

<file path=ppt/tags/tag49.xml><?xml version="1.0" encoding="utf-8"?>
<p:tagLst xmlns:p="http://schemas.openxmlformats.org/presentationml/2006/main">
  <p:tag name="KSO_WM_DIAGRAM_VIRTUALLY_FRAME" val="{&quot;height&quot;:180.17787401574805,&quot;left&quot;:60,&quot;top&quot;:174.82496062992124,&quot;width&quot;:840}"/>
</p:tagLst>
</file>

<file path=ppt/tags/tag50.xml><?xml version="1.0" encoding="utf-8"?>
<p:tagLst xmlns:p="http://schemas.openxmlformats.org/presentationml/2006/main">
  <p:tag name="KSO_WM_DIAGRAM_VIRTUALLY_FRAME" val="{&quot;height&quot;:182.7,&quot;left&quot;:60,&quot;top&quot;:174.8,&quot;width&quot;:840}"/>
</p:tagLst>
</file>

<file path=ppt/tags/tag51.xml><?xml version="1.0" encoding="utf-8"?>
<p:tagLst xmlns:p="http://schemas.openxmlformats.org/presentationml/2006/main">
  <p:tag name="KSO_WM_DIAGRAM_VIRTUALLY_FRAME" val="{&quot;height&quot;:182.7,&quot;left&quot;:60,&quot;top&quot;:174.8,&quot;width&quot;:840}"/>
</p:tagLst>
</file>

<file path=ppt/tags/tag52.xml><?xml version="1.0" encoding="utf-8"?>
<p:tagLst xmlns:p="http://schemas.openxmlformats.org/presentationml/2006/main">
  <p:tag name="KSO_WM_DIAGRAM_VIRTUALLY_FRAME" val="{&quot;height&quot;:182.7,&quot;left&quot;:60,&quot;top&quot;:174.8,&quot;width&quot;:840}"/>
</p:tagLst>
</file>

<file path=ppt/tags/tag53.xml><?xml version="1.0" encoding="utf-8"?>
<p:tagLst xmlns:p="http://schemas.openxmlformats.org/presentationml/2006/main">
  <p:tag name="KSO_WM_DIAGRAM_VIRTUALLY_FRAME" val="{&quot;height&quot;:180.17787401574805,&quot;left&quot;:60,&quot;top&quot;:174.82496062992124,&quot;width&quot;:840}"/>
</p:tagLst>
</file>

<file path=ppt/tags/tag54.xml><?xml version="1.0" encoding="utf-8"?>
<p:tagLst xmlns:p="http://schemas.openxmlformats.org/presentationml/2006/main">
  <p:tag name="KSO_WM_DIAGRAM_VIRTUALLY_FRAME" val="{&quot;height&quot;:182.7,&quot;left&quot;:60,&quot;top&quot;:174.8,&quot;width&quot;:840}"/>
</p:tagLst>
</file>

<file path=ppt/tags/tag55.xml><?xml version="1.0" encoding="utf-8"?>
<p:tagLst xmlns:p="http://schemas.openxmlformats.org/presentationml/2006/main">
  <p:tag name="KSO_WM_DIAGRAM_VIRTUALLY_FRAME" val="{&quot;height&quot;:182.7,&quot;left&quot;:60,&quot;top&quot;:174.8,&quot;width&quot;:840}"/>
</p:tagLst>
</file>

<file path=ppt/tags/tag56.xml><?xml version="1.0" encoding="utf-8"?>
<p:tagLst xmlns:p="http://schemas.openxmlformats.org/presentationml/2006/main">
  <p:tag name="KSO_WM_DIAGRAM_VIRTUALLY_FRAME" val="{&quot;height&quot;:182.7,&quot;left&quot;:60,&quot;top&quot;:174.8,&quot;width&quot;:840}"/>
</p:tagLst>
</file>

<file path=ppt/tags/tag57.xml><?xml version="1.0" encoding="utf-8"?>
<p:tagLst xmlns:p="http://schemas.openxmlformats.org/presentationml/2006/main">
  <p:tag name="KSO_WM_DIAGRAM_VIRTUALLY_FRAME" val="{&quot;height&quot;:182.7,&quot;left&quot;:60,&quot;top&quot;:174.8,&quot;width&quot;:840}"/>
</p:tagLst>
</file>

<file path=ppt/tags/tag58.xml><?xml version="1.0" encoding="utf-8"?>
<p:tagLst xmlns:p="http://schemas.openxmlformats.org/presentationml/2006/main">
  <p:tag name="KSO_WM_DIAGRAM_VIRTUALLY_FRAME" val="{&quot;height&quot;:182.7,&quot;left&quot;:60,&quot;top&quot;:174.8,&quot;width&quot;:840}"/>
</p:tagLst>
</file>

<file path=ppt/tags/tag59.xml><?xml version="1.0" encoding="utf-8"?>
<p:tagLst xmlns:p="http://schemas.openxmlformats.org/presentationml/2006/main">
  <p:tag name="KSO_WM_DIAGRAM_VIRTUALLY_FRAME" val="{&quot;height&quot;:182.7,&quot;left&quot;:60,&quot;top&quot;:174.8,&quot;width&quot;:840}"/>
</p:tagLst>
</file>

<file path=ppt/tags/tag60.xml><?xml version="1.0" encoding="utf-8"?>
<p:tagLst xmlns:p="http://schemas.openxmlformats.org/presentationml/2006/main">
  <p:tag name="KSO_WM_DIAGRAM_VIRTUALLY_FRAME" val="{&quot;height&quot;:182.7,&quot;left&quot;:60,&quot;top&quot;:174.8,&quot;width&quot;:840}"/>
</p:tagLst>
</file>

<file path=ppt/tags/tag61.xml><?xml version="1.0" encoding="utf-8"?>
<p:tagLst xmlns:p="http://schemas.openxmlformats.org/presentationml/2006/main">
  <p:tag name="KSO_WM_DIAGRAM_VIRTUALLY_FRAME" val="{&quot;height&quot;:182.7,&quot;left&quot;:60,&quot;top&quot;:174.8,&quot;width&quot;:840}"/>
</p:tagLst>
</file>

<file path=ppt/tags/tag62.xml><?xml version="1.0" encoding="utf-8"?>
<p:tagLst xmlns:p="http://schemas.openxmlformats.org/presentationml/2006/main">
  <p:tag name="KSO_WM_DIAGRAM_VIRTUALLY_FRAME" val="{&quot;height&quot;:182.7,&quot;left&quot;:60,&quot;top&quot;:174.8,&quot;width&quot;:840}"/>
</p:tagLst>
</file>

<file path=ppt/tags/tag63.xml><?xml version="1.0" encoding="utf-8"?>
<p:tagLst xmlns:p="http://schemas.openxmlformats.org/presentationml/2006/main">
  <p:tag name="KSO_WM_DIAGRAM_VIRTUALLY_FRAME" val="{&quot;height&quot;:182.7,&quot;left&quot;:60,&quot;top&quot;:174.8,&quot;width&quot;:840}"/>
</p:tagLst>
</file>

<file path=ppt/tags/tag64.xml><?xml version="1.0" encoding="utf-8"?>
<p:tagLst xmlns:p="http://schemas.openxmlformats.org/presentationml/2006/main">
  <p:tag name="KSO_WM_DIAGRAM_VIRTUALLY_FRAME" val="{&quot;height&quot;:180.17787401574805,&quot;left&quot;:60,&quot;top&quot;:174.82496062992124,&quot;width&quot;:840}"/>
</p:tagLst>
</file>

<file path=ppt/tags/tag65.xml><?xml version="1.0" encoding="utf-8"?>
<p:tagLst xmlns:p="http://schemas.openxmlformats.org/presentationml/2006/main">
  <p:tag name="KSO_WM_DIAGRAM_VIRTUALLY_FRAME" val="{&quot;height&quot;:182.7,&quot;left&quot;:60,&quot;top&quot;:174.8,&quot;width&quot;:840}"/>
</p:tagLst>
</file>

<file path=ppt/tags/tag66.xml><?xml version="1.0" encoding="utf-8"?>
<p:tagLst xmlns:p="http://schemas.openxmlformats.org/presentationml/2006/main">
  <p:tag name="KSO_WM_DIAGRAM_VIRTUALLY_FRAME" val="{&quot;height&quot;:182.7,&quot;left&quot;:60,&quot;top&quot;:174.8,&quot;width&quot;:840}"/>
</p:tagLst>
</file>

<file path=ppt/tags/tag67.xml><?xml version="1.0" encoding="utf-8"?>
<p:tagLst xmlns:p="http://schemas.openxmlformats.org/presentationml/2006/main">
  <p:tag name="KSO_WM_DIAGRAM_VIRTUALLY_FRAME" val="{&quot;height&quot;:182.7,&quot;left&quot;:60,&quot;top&quot;:174.8,&quot;width&quot;:840}"/>
</p:tagLst>
</file>

<file path=ppt/tags/tag68.xml><?xml version="1.0" encoding="utf-8"?>
<p:tagLst xmlns:p="http://schemas.openxmlformats.org/presentationml/2006/main">
  <p:tag name="KSO_WM_DIAGRAM_VIRTUALLY_FRAME" val="{&quot;height&quot;:182.7,&quot;left&quot;:60,&quot;top&quot;:174.8,&quot;width&quot;:840}"/>
</p:tagLst>
</file>

<file path=ppt/tags/tag69.xml><?xml version="1.0" encoding="utf-8"?>
<p:tagLst xmlns:p="http://schemas.openxmlformats.org/presentationml/2006/main">
  <p:tag name="KSO_WM_DIAGRAM_VIRTUALLY_FRAME" val="{&quot;height&quot;:180.17787401574805,&quot;left&quot;:60,&quot;top&quot;:174.82496062992124,&quot;width&quot;:840}"/>
</p:tagLst>
</file>

<file path=ppt/tags/tag70.xml><?xml version="1.0" encoding="utf-8"?>
<p:tagLst xmlns:p="http://schemas.openxmlformats.org/presentationml/2006/main">
  <p:tag name="KSO_WM_DIAGRAM_VIRTUALLY_FRAME" val="{&quot;height&quot;:182.7,&quot;left&quot;:60,&quot;top&quot;:174.8,&quot;width&quot;:840}"/>
</p:tagLst>
</file>

<file path=ppt/tags/tag71.xml><?xml version="1.0" encoding="utf-8"?>
<p:tagLst xmlns:p="http://schemas.openxmlformats.org/presentationml/2006/main">
  <p:tag name="KSO_WM_DIAGRAM_VIRTUALLY_FRAME" val="{&quot;height&quot;:182.7,&quot;left&quot;:60,&quot;top&quot;:174.8,&quot;width&quot;:840}"/>
</p:tagLst>
</file>

<file path=ppt/tags/tag72.xml><?xml version="1.0" encoding="utf-8"?>
<p:tagLst xmlns:p="http://schemas.openxmlformats.org/presentationml/2006/main">
  <p:tag name="KSO_WM_DIAGRAM_VIRTUALLY_FRAME" val="{&quot;height&quot;:182.7,&quot;left&quot;:60,&quot;top&quot;:174.8,&quot;width&quot;:840}"/>
</p:tagLst>
</file>

<file path=ppt/tags/tag73.xml><?xml version="1.0" encoding="utf-8"?>
<p:tagLst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790515616804_1_1"/>
  <p:tag name="KSO_WM_DIAGRAM_VIRTUALLY_FRAME" val="{&quot;height&quot;:58.00007874015746,&quot;left&quot;:600,&quot;top&quot;:181,&quot;width&quot;:280}"/>
</p:tagLst>
</file>

<file path=ppt/tags/tag74.xml><?xml version="1.0" encoding="utf-8"?>
<p:tagLst xmlns:p="http://schemas.openxmlformats.org/presentationml/2006/main">
  <p:tag name="KSO_WM_DIAGRAM_VIRTUALLY_FRAME" val="{&quot;height&quot;:182.7,&quot;left&quot;:60,&quot;top&quot;:174.8,&quot;width&quot;:840}"/>
</p:tagLst>
</file>

<file path=ppt/tags/tag75.xml><?xml version="1.0" encoding="utf-8"?>
<p:tagLst xmlns:p="http://schemas.openxmlformats.org/presentationml/2006/main">
  <p:tag name="KSO_WM_DIAGRAM_VIRTUALLY_FRAME" val="{&quot;height&quot;:182.7,&quot;left&quot;:60,&quot;top&quot;:174.8,&quot;width&quot;:840}"/>
</p:tagLst>
</file>

<file path=ppt/tags/tag76.xml><?xml version="1.0" encoding="utf-8"?>
<p:tagLst xmlns:p="http://schemas.openxmlformats.org/presentationml/2006/main">
  <p:tag name="KSO_WM_DIAGRAM_VIRTUALLY_FRAME" val="{&quot;height&quot;:182.7,&quot;left&quot;:60,&quot;top&quot;:174.8,&quot;width&quot;:840}"/>
</p:tagLst>
</file>

<file path=ppt/tags/tag77.xml><?xml version="1.0" encoding="utf-8"?>
<p:tagLst xmlns:p="http://schemas.openxmlformats.org/presentationml/2006/main">
  <p:tag name="KSO_WM_DIAGRAM_VIRTUALLY_FRAME" val="{&quot;height&quot;:182.7,&quot;left&quot;:60,&quot;top&quot;:174.8,&quot;width&quot;:840}"/>
</p:tagLst>
</file>

<file path=ppt/tags/tag78.xml><?xml version="1.0" encoding="utf-8"?>
<p:tagLst xmlns:p="http://schemas.openxmlformats.org/presentationml/2006/main">
  <p:tag name="KSO_WM_DIAGRAM_VIRTUALLY_FRAME" val="{&quot;height&quot;:182.7,&quot;left&quot;:60,&quot;top&quot;:174.8,&quot;width&quot;:840}"/>
</p:tagLst>
</file>

<file path=ppt/tags/tag79.xml><?xml version="1.0" encoding="utf-8"?>
<p:tagLst xmlns:p="http://schemas.openxmlformats.org/presentationml/2006/main">
  <p:tag name="KSO_WM_DIAGRAM_VIRTUALLY_FRAME" val="{&quot;height&quot;:182.7,&quot;left&quot;:60,&quot;top&quot;:174.8,&quot;width&quot;:840}"/>
</p:tagLst>
</file>

<file path=ppt/tags/tag80.xml><?xml version="1.0" encoding="utf-8"?>
<p:tagLst xmlns:p="http://schemas.openxmlformats.org/presentationml/2006/main">
  <p:tag name="KSO_WM_DIAGRAM_VIRTUALLY_FRAME" val="{&quot;height&quot;:180.17787401574805,&quot;left&quot;:60,&quot;top&quot;:174.82496062992124,&quot;width&quot;:840}"/>
</p:tagLst>
</file>

<file path=ppt/tags/tag81.xml><?xml version="1.0" encoding="utf-8"?>
<p:tagLst xmlns:p="http://schemas.openxmlformats.org/presentationml/2006/main">
  <p:tag name="KSO_WM_DIAGRAM_VIRTUALLY_FRAME" val="{&quot;height&quot;:182.7,&quot;left&quot;:60,&quot;top&quot;:174.8,&quot;width&quot;:840}"/>
</p:tagLst>
</file>

<file path=ppt/tags/tag82.xml><?xml version="1.0" encoding="utf-8"?>
<p:tagLst xmlns:p="http://schemas.openxmlformats.org/presentationml/2006/main">
  <p:tag name="KSO_WM_DIAGRAM_VIRTUALLY_FRAME" val="{&quot;height&quot;:182.7,&quot;left&quot;:60,&quot;top&quot;:174.8,&quot;width&quot;:840}"/>
</p:tagLst>
</file>

<file path=ppt/tags/tag83.xml><?xml version="1.0" encoding="utf-8"?>
<p:tagLst xmlns:p="http://schemas.openxmlformats.org/presentationml/2006/main">
  <p:tag name="KSO_WM_DIAGRAM_VIRTUALLY_FRAME" val="{&quot;height&quot;:182.7,&quot;left&quot;:60,&quot;top&quot;:174.8,&quot;width&quot;:840}"/>
</p:tagLst>
</file>

<file path=ppt/tags/tag84.xml><?xml version="1.0" encoding="utf-8"?>
<p:tagLst xmlns:p="http://schemas.openxmlformats.org/presentationml/2006/main">
  <p:tag name="KSO_WM_DIAGRAM_VIRTUALLY_FRAME" val="{&quot;height&quot;:180.17787401574805,&quot;left&quot;:60,&quot;top&quot;:174.82496062992124,&quot;width&quot;:840}"/>
</p:tagLst>
</file>

<file path=ppt/tags/tag85.xml><?xml version="1.0" encoding="utf-8"?>
<p:tagLst xmlns:p="http://schemas.openxmlformats.org/presentationml/2006/main">
  <p:tag name="KSO_WM_DIAGRAM_VIRTUALLY_FRAME" val="{&quot;height&quot;:182.7,&quot;left&quot;:60,&quot;top&quot;:174.8,&quot;width&quot;:840}"/>
</p:tagLst>
</file>

<file path=ppt/tags/tag86.xml><?xml version="1.0" encoding="utf-8"?>
<p:tagLst xmlns:p="http://schemas.openxmlformats.org/presentationml/2006/main">
  <p:tag name="KSO_WM_DIAGRAM_VIRTUALLY_FRAME" val="{&quot;height&quot;:182.7,&quot;left&quot;:60,&quot;top&quot;:174.8,&quot;width&quot;:840}"/>
</p:tagLst>
</file>

<file path=ppt/tags/tag87.xml><?xml version="1.0" encoding="utf-8"?>
<p:tagLst xmlns:p="http://schemas.openxmlformats.org/presentationml/2006/main">
  <p:tag name="KSO_WM_DIAGRAM_VIRTUALLY_FRAME" val="{&quot;height&quot;:182.7,&quot;left&quot;:60,&quot;top&quot;:174.8,&quot;width&quot;:840}"/>
</p:tagLst>
</file>

<file path=ppt/tags/tag88.xml><?xml version="1.0" encoding="utf-8"?>
<p:tagLst xmlns:p="http://schemas.openxmlformats.org/presentationml/2006/main">
  <p:tag name="KSO_WM_UNIT_DIAGRAM_MODELTYPE" val="dynamicNum"/>
  <p:tag name="KSO_WM_BEAUTIFY_FLAG" val="#wm#"/>
  <p:tag name="KSO_WM_UNIT_TYPE" val="ζ_h_f"/>
  <p:tag name="KSO_WM_UNIT_DYNMNUM_TYPE" val="1"/>
  <p:tag name="KSO_WM_DYNAMICNUM_SPEED" val="3"/>
  <p:tag name="KSO_WM_UNIT_DYNMNUM_DGM_ANIMTYPE" val="5"/>
  <p:tag name="KSO_WM_UNIT_INDEX" val="1790515697278_1_1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主题​​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 主题​​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主题​​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10957</Words>
  <Application>WPS 演示</Application>
  <PresentationFormat/>
  <Paragraphs>1184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46" baseType="lpstr">
      <vt:lpstr>Arial</vt:lpstr>
      <vt:lpstr>宋体</vt:lpstr>
      <vt:lpstr>Wingdings</vt:lpstr>
      <vt:lpstr>Arial</vt:lpstr>
      <vt:lpstr>Noto Serif SC</vt:lpstr>
      <vt:lpstr>Songti SC Regular</vt:lpstr>
      <vt:lpstr>Segoe Print</vt:lpstr>
      <vt:lpstr>Helvetica</vt:lpstr>
      <vt:lpstr>Kaiti SC Regular</vt:lpstr>
      <vt:lpstr>Noto Sans SC</vt:lpstr>
      <vt:lpstr>微软雅黑</vt:lpstr>
      <vt:lpstr>Arial Unicode MS</vt:lpstr>
      <vt:lpstr>Kaiti SC Bold</vt:lpstr>
      <vt:lpstr>Calibri</vt:lpstr>
      <vt:lpstr>Helvetica</vt:lpstr>
      <vt:lpstr>Kaiti SC Bold</vt:lpstr>
      <vt:lpstr>Kaiti SC Regular</vt:lpstr>
      <vt:lpstr>Songti SC Regular</vt:lpstr>
      <vt:lpstr>Oxford Regular</vt:lpstr>
      <vt:lpstr>Helvetica LT Pro</vt:lpstr>
      <vt:lpstr>Kata Bold</vt:lpstr>
      <vt:lpstr>仿宋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WyX</cp:lastModifiedBy>
  <cp:revision>2</cp:revision>
  <dcterms:created xsi:type="dcterms:W3CDTF">2026-09-27T13:55:00Z</dcterms:created>
  <dcterms:modified xsi:type="dcterms:W3CDTF">2026-09-27T13:55:33Z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2ECFD23471EF48D38512CE03051B34AA_13</vt:lpwstr>
  </property>
  <property fmtid="{D5CDD505-2E9C-101B-9397-08002B2CF9AE}" pid="3" name="KSOProductBuildVer">
    <vt:lpwstr>2052-12.1.0.24657</vt:lpwstr>
  </property>
</Properties>
</file>